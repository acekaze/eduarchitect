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8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C60"/>
          </a:solidFill>
          <a:ln w="12700">
            <a:solidFill>
              <a:srgbClr val="D97C6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5B77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E5E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과장 승진자 과정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8E5E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5E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77824" y="950976"/>
            <a:ext cx="137160" cy="4846320"/>
          </a:xfrm>
          <a:prstGeom prst="rect">
            <a:avLst/>
          </a:prstGeom>
          <a:solidFill>
            <a:srgbClr val="D97C60"/>
          </a:solidFill>
          <a:ln w="12700">
            <a:solidFill>
              <a:srgbClr val="D97C6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11155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기획력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280160" y="2048256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CE8EF"/>
                </a:solidFill>
              </a:rPr>
              <a:t>신임 과장이 조직의 기대를 읽고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CE8EF"/>
                </a:solidFill>
              </a:rPr>
              <a:t>사람과 일을 연결해 결과를 만드는 사고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92240" y="1143000"/>
            <a:ext cx="4681728" cy="4434840"/>
          </a:xfrm>
          <a:prstGeom prst="roundRect">
            <a:avLst>
              <a:gd name="adj" fmla="val 1649"/>
            </a:avLst>
          </a:prstGeom>
          <a:solidFill>
            <a:srgbClr val="21495F"/>
          </a:solidFill>
          <a:ln w="12700">
            <a:solidFill>
              <a:srgbClr val="557B8E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11696" y="1307592"/>
            <a:ext cx="4242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3D7E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오늘의 약속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11696" y="1508760"/>
            <a:ext cx="4242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문서를 예쁘게 만드는 법보다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과장의 역할 전환을 먼저 다룬다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11696" y="2130552"/>
            <a:ext cx="4242816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10" dirty="0">
                <a:solidFill>
                  <a:srgbClr val="E4EEF4"/>
                </a:solidFill>
              </a:rPr>
              <a:t>기획력은 포맷을 많이 아는 힘이 아니다.</a:t>
            </a:r>
            <a:endParaRPr lang="en-US" sz="131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E4EEF4"/>
                </a:solidFill>
              </a:rPr>
              <a:t>조직이 나에게 무엇을 기대하는지 이해하고,</a:t>
            </a:r>
            <a:endParaRPr lang="en-US" sz="131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E4EEF4"/>
                </a:solidFill>
              </a:rPr>
              <a:t>상사의 요구를 팀이 움직일 수 있는 언어로 바꾸며,</a:t>
            </a:r>
            <a:endParaRPr lang="en-US" sz="131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E4EEF4"/>
                </a:solidFill>
              </a:rPr>
              <a:t>제한된 자원 안에서 결과를 만드는 힘이다.</a:t>
            </a:r>
            <a:endParaRPr lang="en-US" sz="1310" dirty="0"/>
          </a:p>
          <a:p>
            <a:pPr algn="l" indent="0" marL="0">
              <a:buNone/>
            </a:pPr>
            <a:endParaRPr lang="en-US" sz="131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E4EEF4"/>
                </a:solidFill>
              </a:rPr>
              <a:t>오늘은 그 사고와 구조를 현업 장면까지 연결한다.</a:t>
            </a:r>
            <a:endParaRPr lang="en-US" sz="13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오프닝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7863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330"/>
                </a:solidFill>
              </a:rPr>
              <a:t>오늘의 질문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지금부터 볼 기획력은 문서 스킬보다 역할 해석에 가깝다.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2103120"/>
            <a:ext cx="3319272" cy="2423160"/>
          </a:xfrm>
          <a:prstGeom prst="roundRect">
            <a:avLst>
              <a:gd name="adj" fmla="val 3019"/>
            </a:avLst>
          </a:prstGeom>
          <a:solidFill>
            <a:srgbClr val="FBF8F2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8992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Question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" y="2468880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과장이 된다는 것은 무슨 의미인가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3090672"/>
            <a:ext cx="28803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일만 늘어난 자리가 아니라,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상사와 팀원 사이를 번역하는 자리가 되었다는 뜻이다.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34840" y="2103120"/>
            <a:ext cx="3319272" cy="2423160"/>
          </a:xfrm>
          <a:prstGeom prst="roundRect">
            <a:avLst>
              <a:gd name="adj" fmla="val 3019"/>
            </a:avLst>
          </a:prstGeom>
          <a:solidFill>
            <a:srgbClr val="E3EEF4"/>
          </a:solidFill>
          <a:ln w="12700">
            <a:solidFill>
              <a:srgbClr val="CBDCE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54296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Question 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54296" y="2468880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조직은 지금 과장에게 무엇을 기대하는가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54296" y="3090672"/>
            <a:ext cx="28803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단순 실행이 아니라 판단, 정리, 협업, 방향 제시를 기대한다.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10144" y="2103120"/>
            <a:ext cx="3319272" cy="2423160"/>
          </a:xfrm>
          <a:prstGeom prst="roundRect">
            <a:avLst>
              <a:gd name="adj" fmla="val 3019"/>
            </a:avLst>
          </a:prstGeom>
          <a:solidFill>
            <a:srgbClr val="F4E6DF"/>
          </a:solidFill>
          <a:ln w="12700">
            <a:solidFill>
              <a:srgbClr val="E6C9BC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0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C6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Question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0" y="2468880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나는 팀에 어떤 경험을 남기고 있는가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0" y="3090672"/>
            <a:ext cx="28803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내 말과 지시는 팀을 선명하게 하는가, 더 막막하게 하는가.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7824" y="5138928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오늘의 핵심은 더 많이 일하는 법이 아니라, 더 정확히 해석하고 연결하는 법이다.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Visual Explorer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7863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330"/>
                </a:solidFill>
              </a:rPr>
              <a:t>Visual Explorer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이미지 질문으로 현재 상태와 기대 역할을 먼저 열고, 디브리핑으로 역할 인식을 분명히 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2057400"/>
            <a:ext cx="3319272" cy="2651760"/>
          </a:xfrm>
          <a:prstGeom prst="roundRect">
            <a:avLst>
              <a:gd name="adj" fmla="val 2759"/>
            </a:avLst>
          </a:prstGeom>
          <a:solidFill>
            <a:srgbClr val="FBF8F2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8992" y="222199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질문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" y="2423160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FST의 이상적인 과장을 가장 잘 나타내는 이미지는 무엇인가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3044952"/>
            <a:ext cx="28803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왜 그 이미지를 골랐는가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그 이미지 안의 힘은 무엇인가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34840" y="2057400"/>
            <a:ext cx="3319272" cy="2651760"/>
          </a:xfrm>
          <a:prstGeom prst="roundRect">
            <a:avLst>
              <a:gd name="adj" fmla="val 2759"/>
            </a:avLst>
          </a:prstGeom>
          <a:solidFill>
            <a:srgbClr val="E3EEF4"/>
          </a:solidFill>
          <a:ln w="12700">
            <a:solidFill>
              <a:srgbClr val="CBDCE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54296" y="222199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질문 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54296" y="2423160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지금 우리 조직을 가장 잘 보여주는 이미지는 무엇인가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54296" y="3044952"/>
            <a:ext cx="28803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그 안에서 나는 어떤 모습으로 보이고 있는가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10144" y="2057400"/>
            <a:ext cx="3319272" cy="2651760"/>
          </a:xfrm>
          <a:prstGeom prst="roundRect">
            <a:avLst>
              <a:gd name="adj" fmla="val 2759"/>
            </a:avLst>
          </a:prstGeom>
          <a:solidFill>
            <a:srgbClr val="E7EFE8"/>
          </a:solidFill>
          <a:ln w="12700">
            <a:solidFill>
              <a:srgbClr val="C7D7CB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0" y="222199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8C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질문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0" y="2423160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내가 앞으로 팀에 제공하고 싶은 경험은 무엇인가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0" y="3044952"/>
            <a:ext cx="28803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신뢰, 선명함, 속도, 연결 중 무엇을 더 주고 싶은가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7824" y="510235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4707A"/>
                </a:solidFill>
              </a:rPr>
              <a:t>디브리핑 질문: 왜 그 이미지를 골랐는가 / 그 안에서 지금 나는 어디에 있는가 / 앞으로 어떤 모습으로 이동해야 하는가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하루 흐름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7863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330"/>
                </a:solidFill>
              </a:rPr>
              <a:t>09:00-17:00 운영 흐름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질문, 자기 인식, 구조, 실습, 현업 적용의 순서로 간다.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7824" y="1993392"/>
            <a:ext cx="2514600" cy="3429000"/>
          </a:xfrm>
          <a:prstGeom prst="roundRect">
            <a:avLst>
              <a:gd name="adj" fmla="val 2909"/>
            </a:avLst>
          </a:prstGeom>
          <a:solidFill>
            <a:srgbClr val="FBF8F2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2157984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09:00-09:40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97280" y="2359152"/>
            <a:ext cx="2075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오프닝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980944"/>
            <a:ext cx="2075688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1B2530"/>
                </a:solidFill>
              </a:rPr>
              <a:t>과장이 된다는 것의 의미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3639312" y="1993392"/>
            <a:ext cx="2514600" cy="3429000"/>
          </a:xfrm>
          <a:prstGeom prst="roundRect">
            <a:avLst>
              <a:gd name="adj" fmla="val 2909"/>
            </a:avLst>
          </a:prstGeom>
          <a:solidFill>
            <a:srgbClr val="E3EEF4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58768" y="2157984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09:40-12:25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58768" y="2359152"/>
            <a:ext cx="2075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오전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58768" y="2980944"/>
            <a:ext cx="2075688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1B2530"/>
                </a:solidFill>
              </a:rPr>
              <a:t>왜 기획력인가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1B2530"/>
                </a:solidFill>
              </a:rPr>
              <a:t>현재 수준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1B2530"/>
                </a:solidFill>
              </a:rPr>
              <a:t>사람과 맥락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6400800" y="1993392"/>
            <a:ext cx="2514600" cy="3429000"/>
          </a:xfrm>
          <a:prstGeom prst="roundRect">
            <a:avLst>
              <a:gd name="adj" fmla="val 2909"/>
            </a:avLst>
          </a:prstGeom>
          <a:solidFill>
            <a:srgbClr val="E7EFE8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0256" y="2157984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13:25-15:25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20256" y="2359152"/>
            <a:ext cx="2075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오후 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20256" y="2980944"/>
            <a:ext cx="2075688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1B2530"/>
                </a:solidFill>
              </a:rPr>
              <a:t>기획의 구조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1B2530"/>
                </a:solidFill>
              </a:rPr>
              <a:t>듣기와 전달</a:t>
            </a:r>
            <a:endParaRPr lang="en-US" sz="1260" dirty="0"/>
          </a:p>
        </p:txBody>
      </p:sp>
      <p:sp>
        <p:nvSpPr>
          <p:cNvPr id="21" name="Shape 19"/>
          <p:cNvSpPr/>
          <p:nvPr/>
        </p:nvSpPr>
        <p:spPr>
          <a:xfrm>
            <a:off x="9162288" y="1993392"/>
            <a:ext cx="2514600" cy="3429000"/>
          </a:xfrm>
          <a:prstGeom prst="roundRect">
            <a:avLst>
              <a:gd name="adj" fmla="val 2909"/>
            </a:avLst>
          </a:prstGeom>
          <a:solidFill>
            <a:srgbClr val="F4E6DF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81744" y="2157984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15:40-17:00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381744" y="2359152"/>
            <a:ext cx="2075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오후 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81744" y="2980944"/>
            <a:ext cx="2075688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1B2530"/>
                </a:solidFill>
              </a:rPr>
              <a:t>팀 미션 실습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1B2530"/>
                </a:solidFill>
              </a:rPr>
              <a:t>AI 연결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1B2530"/>
                </a:solidFill>
              </a:rPr>
              <a:t>마무리</a:t>
            </a:r>
            <a:endParaRPr lang="en-US" sz="12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역할 전환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7863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330"/>
                </a:solidFill>
              </a:rPr>
              <a:t>플레이어에서 번역자로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과장이 되면 잘하는 사람이 아니라 연결하는 사람이 되어야 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7824" y="1920240"/>
            <a:ext cx="3063240" cy="3383280"/>
          </a:xfrm>
          <a:prstGeom prst="roundRect">
            <a:avLst>
              <a:gd name="adj" fmla="val 2388"/>
            </a:avLst>
          </a:prstGeom>
          <a:solidFill>
            <a:srgbClr val="FBF8F2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2084832"/>
            <a:ext cx="2624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Player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97280" y="2286000"/>
            <a:ext cx="2624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플레이어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907792"/>
            <a:ext cx="2624328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530"/>
                </a:solidFill>
              </a:rPr>
              <a:t>내가 맡은 일을 잘 끝낸다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B2530"/>
                </a:solidFill>
              </a:rPr>
              <a:t>내 성과와 속도에 집중한다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B2530"/>
                </a:solidFill>
              </a:rPr>
              <a:t>내 전문성으로 인정받는다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6280" y="1920240"/>
            <a:ext cx="3154680" cy="3383280"/>
          </a:xfrm>
          <a:prstGeom prst="roundRect">
            <a:avLst>
              <a:gd name="adj" fmla="val 2319"/>
            </a:avLst>
          </a:prstGeom>
          <a:solidFill>
            <a:srgbClr val="E3EEF4"/>
          </a:solidFill>
          <a:ln w="12700">
            <a:solidFill>
              <a:srgbClr val="CBDCE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45736" y="2084832"/>
            <a:ext cx="271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Manager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45736" y="2286000"/>
            <a:ext cx="2715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과장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45736" y="2907792"/>
            <a:ext cx="2715768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530"/>
                </a:solidFill>
              </a:rPr>
              <a:t>상사의 기대를 이해한다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B2530"/>
                </a:solidFill>
              </a:rPr>
              <a:t>팀원이 움직일 수 있게 풀어 준다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B2530"/>
                </a:solidFill>
              </a:rPr>
              <a:t>협업의 언어를 정리한다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47888" y="1920240"/>
            <a:ext cx="3035808" cy="3383280"/>
          </a:xfrm>
          <a:prstGeom prst="roundRect">
            <a:avLst>
              <a:gd name="adj" fmla="val 2410"/>
            </a:avLst>
          </a:prstGeom>
          <a:solidFill>
            <a:srgbClr val="F4E6DF"/>
          </a:solidFill>
          <a:ln w="12700">
            <a:solidFill>
              <a:srgbClr val="E6C9BC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67344" y="208483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C6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Translator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467344" y="2286000"/>
            <a:ext cx="2596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번역자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67344" y="2907792"/>
            <a:ext cx="2596896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530"/>
                </a:solidFill>
              </a:rPr>
              <a:t>위의 요구를 아래의 실행으로 바꾼다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B2530"/>
                </a:solidFill>
              </a:rPr>
              <a:t>현장의 문제를 조직의 언어로 바꾼다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B2530"/>
                </a:solidFill>
              </a:rPr>
              <a:t>의미를 구조로 바꾼다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왜 기획력인가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7863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330"/>
                </a:solidFill>
              </a:rPr>
              <a:t>왜 지금 과장에게 기획력이 필요한가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조직은 과장에게 단순 실행이 아니라 판단과 연결을 기대한다.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965960"/>
            <a:ext cx="5303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과장은 상사의 기대를 해석해야 한다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과장은 팀원이 움직일 수 있는 구조를 만들어야 한다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과장은 협업부서가 납득할 수 있는 언어를 준비해야 한다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과장은 제한된 자원 안에서 우선순위를 정해야 한다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19088" y="1920240"/>
            <a:ext cx="4791456" cy="3566160"/>
          </a:xfrm>
          <a:prstGeom prst="roundRect">
            <a:avLst>
              <a:gd name="adj" fmla="val 2051"/>
            </a:avLst>
          </a:prstGeom>
          <a:solidFill>
            <a:srgbClr val="E7EFE8"/>
          </a:solidFill>
          <a:ln w="12700">
            <a:solidFill>
              <a:srgbClr val="C7D7CB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38544" y="2084832"/>
            <a:ext cx="4352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8C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Definition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38544" y="2286000"/>
            <a:ext cx="43525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과장의 기획력은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문서를 예쁘게 만드는 힘이 아니다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38544" y="2907792"/>
            <a:ext cx="435254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1B2530"/>
                </a:solidFill>
              </a:rPr>
              <a:t>조직이 나에게 무엇을 기대하는지 이해하고,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1B2530"/>
                </a:solidFill>
              </a:rPr>
              <a:t>이를 이루기 위한 전략적 사고를 거쳐,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1B2530"/>
                </a:solidFill>
              </a:rPr>
              <a:t>말과 글로 성과를 만들며 나의 가치를 높이는 힘이다.</a:t>
            </a:r>
            <a:endParaRPr lang="en-US" sz="1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Result Pyramid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7863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330"/>
                </a:solidFill>
              </a:rPr>
              <a:t>결과는 행동에서, 행동은 믿음에서, 믿음은 경험에서 나온다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그래서 과장은 팀과 협업부서에 어떤 경험을 주고 있는지 먼저 봐야 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7824" y="2331720"/>
            <a:ext cx="1810512" cy="1828800"/>
          </a:xfrm>
          <a:prstGeom prst="roundRect">
            <a:avLst>
              <a:gd name="adj" fmla="val 4040"/>
            </a:avLst>
          </a:prstGeom>
          <a:solidFill>
            <a:srgbClr val="FBF8F2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269748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2330"/>
                </a:solidFill>
              </a:rPr>
              <a:t>경험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31912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0" dirty="0">
                <a:solidFill>
                  <a:srgbClr val="1B2530"/>
                </a:solidFill>
              </a:rPr>
              <a:t>회의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B2530"/>
                </a:solidFill>
              </a:rPr>
              <a:t>지시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B2530"/>
                </a:solidFill>
              </a:rPr>
              <a:t>피드백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B2530"/>
                </a:solidFill>
              </a:rPr>
              <a:t>설명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2715768" y="2889504"/>
            <a:ext cx="164592" cy="493776"/>
          </a:xfrm>
          <a:prstGeom prst="chevron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2331720"/>
            <a:ext cx="1810512" cy="1828800"/>
          </a:xfrm>
          <a:prstGeom prst="roundRect">
            <a:avLst>
              <a:gd name="adj" fmla="val 4040"/>
            </a:avLst>
          </a:prstGeom>
          <a:solidFill>
            <a:srgbClr val="E3EEF4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91256" y="269748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2330"/>
                </a:solidFill>
              </a:rPr>
              <a:t>믿음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191256" y="31912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0" dirty="0">
                <a:solidFill>
                  <a:srgbClr val="1B2530"/>
                </a:solidFill>
              </a:rPr>
              <a:t>해볼 만하다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B2530"/>
                </a:solidFill>
              </a:rPr>
              <a:t>중요하게 다뤄진다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4809744" y="2889504"/>
            <a:ext cx="164592" cy="493776"/>
          </a:xfrm>
          <a:prstGeom prst="chevron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65776" y="2331720"/>
            <a:ext cx="1810512" cy="1828800"/>
          </a:xfrm>
          <a:prstGeom prst="roundRect">
            <a:avLst>
              <a:gd name="adj" fmla="val 4040"/>
            </a:avLst>
          </a:prstGeom>
          <a:solidFill>
            <a:srgbClr val="E7EFE8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85232" y="269748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2330"/>
                </a:solidFill>
              </a:rPr>
              <a:t>행동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85232" y="31912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0" dirty="0">
                <a:solidFill>
                  <a:srgbClr val="1B2530"/>
                </a:solidFill>
              </a:rPr>
              <a:t>움직인다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B2530"/>
                </a:solidFill>
              </a:rPr>
              <a:t>협력한다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6903720" y="2889504"/>
            <a:ext cx="164592" cy="493776"/>
          </a:xfrm>
          <a:prstGeom prst="chevron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59752" y="2331720"/>
            <a:ext cx="1810512" cy="1828800"/>
          </a:xfrm>
          <a:prstGeom prst="roundRect">
            <a:avLst>
              <a:gd name="adj" fmla="val 4040"/>
            </a:avLst>
          </a:prstGeom>
          <a:solidFill>
            <a:srgbClr val="F4E6DF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79208" y="269748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2330"/>
                </a:solidFill>
              </a:rPr>
              <a:t>결과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79208" y="31912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0" dirty="0">
                <a:solidFill>
                  <a:srgbClr val="1B2530"/>
                </a:solidFill>
              </a:rPr>
              <a:t>속도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B2530"/>
                </a:solidFill>
              </a:rPr>
              <a:t>실행력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B2530"/>
                </a:solidFill>
              </a:rPr>
              <a:t>성과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896112" y="489204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과장의 말은 정보 전달이 아니라 경험 제공이다.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관점 전환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7863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330"/>
                </a:solidFill>
              </a:rPr>
              <a:t>Victim에서 Owner로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억울함을 느끼는 것은 이해되지만, 거기서 멈추면 과장의 기획은 시작되지 않는다.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7824" y="1901952"/>
            <a:ext cx="4919472" cy="3611880"/>
          </a:xfrm>
          <a:prstGeom prst="roundRect">
            <a:avLst>
              <a:gd name="adj" fmla="val 2025"/>
            </a:avLst>
          </a:prstGeom>
          <a:solidFill>
            <a:srgbClr val="F4E6DF"/>
          </a:solidFill>
          <a:ln w="12700">
            <a:solidFill>
              <a:srgbClr val="E6C9BC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2066544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C6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Victim Mode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97280" y="2267712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왜 우리만 힘든가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왜 위에서는 이것을 모르나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889504"/>
            <a:ext cx="4480560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530"/>
                </a:solidFill>
              </a:rPr>
              <a:t>일이 늘어난다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B2530"/>
                </a:solidFill>
              </a:rPr>
              <a:t>애매한 책임이 많다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B2530"/>
                </a:solidFill>
              </a:rPr>
              <a:t>바뀌는 것은 없고 고생만 한다는 느낌이 든다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44768" y="1901952"/>
            <a:ext cx="5065776" cy="3611880"/>
          </a:xfrm>
          <a:prstGeom prst="roundRect">
            <a:avLst>
              <a:gd name="adj" fmla="val 2025"/>
            </a:avLst>
          </a:prstGeom>
          <a:solidFill>
            <a:srgbClr val="E3EEF4"/>
          </a:solidFill>
          <a:ln w="12700">
            <a:solidFill>
              <a:srgbClr val="CBDCE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64224" y="2066544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Owner Question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64224" y="2267712"/>
            <a:ext cx="4626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그럼 여기서 내가 바꿀 수 있는 것은 무엇인가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64224" y="2889504"/>
            <a:ext cx="462686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1B2530"/>
                </a:solidFill>
              </a:rPr>
              <a:t>무엇이 중요한지 정리할 수 있는가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1B2530"/>
                </a:solidFill>
              </a:rPr>
              <a:t>누구의 질문부터 풀어야 하는가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1B2530"/>
                </a:solidFill>
              </a:rPr>
              <a:t>팀이 움직일 수 있게 무엇을 번역해야 하는가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기획의 언어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7863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330"/>
                </a:solidFill>
              </a:rPr>
              <a:t>보고, 제안, 설득은 어떻게 다른가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과장은 세 가지 언어를 모두 다룰 줄 알아야 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2121408"/>
            <a:ext cx="3319272" cy="2697480"/>
          </a:xfrm>
          <a:prstGeom prst="roundRect">
            <a:avLst>
              <a:gd name="adj" fmla="val 2712"/>
            </a:avLst>
          </a:prstGeom>
          <a:solidFill>
            <a:srgbClr val="FBF8F2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8992" y="228600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보고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" y="2487168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이해시키는 언어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3108960"/>
            <a:ext cx="28803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상황을 정확하게 알린다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객관성과 정확성이 중요하다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34840" y="2121408"/>
            <a:ext cx="3319272" cy="2697480"/>
          </a:xfrm>
          <a:prstGeom prst="roundRect">
            <a:avLst>
              <a:gd name="adj" fmla="val 2712"/>
            </a:avLst>
          </a:prstGeom>
          <a:solidFill>
            <a:srgbClr val="E3EEF4"/>
          </a:solidFill>
          <a:ln w="12700">
            <a:solidFill>
              <a:srgbClr val="CBDCE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54296" y="228600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제안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54296" y="2487168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가능성을 여는 언어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54296" y="3108960"/>
            <a:ext cx="28803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이렇게 해보면 어떨까요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문제 해결과 방향 제시가 핵심이다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10144" y="2121408"/>
            <a:ext cx="3319272" cy="2697480"/>
          </a:xfrm>
          <a:prstGeom prst="roundRect">
            <a:avLst>
              <a:gd name="adj" fmla="val 2712"/>
            </a:avLst>
          </a:prstGeom>
          <a:solidFill>
            <a:srgbClr val="E7EFE8"/>
          </a:solidFill>
          <a:ln w="12700">
            <a:solidFill>
              <a:srgbClr val="C7D7CB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0" y="228600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8C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설득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0" y="2487168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행동을 만드는 언어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0" y="3108960"/>
            <a:ext cx="28803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상대가 왜 움직여야 하는지 납득하게 만든다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수준 자각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7863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330"/>
                </a:solidFill>
              </a:rPr>
              <a:t>나는 어느 정도의 수준을 가지고 있는가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점수가 낮은 것이 문제가 아니라, 현재 위치를 모르는 것이 더 큰 문제다.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847088"/>
            <a:ext cx="6675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5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Step 1 이제 시작, 배울 준비가 되어 있다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5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Step 2 시간이 걸리고 수정이 많다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5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Step 3 초안을 빠르게 만들 수 있다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5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Step 4 자료 축적과 상황별 대응이 가능하다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5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Step 5 구조화가 가능하고 조직이 원하는 것을 안다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5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Step 6 요약, 정리, 코칭까지 가능하다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82128" y="1901952"/>
            <a:ext cx="3346704" cy="3611880"/>
          </a:xfrm>
          <a:prstGeom prst="roundRect">
            <a:avLst>
              <a:gd name="adj" fmla="val 2186"/>
            </a:avLst>
          </a:prstGeom>
          <a:solidFill>
            <a:srgbClr val="F4E6DF"/>
          </a:solidFill>
          <a:ln w="12700">
            <a:solidFill>
              <a:srgbClr val="E6C9BC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01584" y="2066544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C6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과장에게 필요한 기준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101584" y="2267712"/>
            <a:ext cx="2907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빠른 초안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구조화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상대 기대 이해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실행 정리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01584" y="2889504"/>
            <a:ext cx="290779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530"/>
                </a:solidFill>
              </a:rPr>
              <a:t>이제는 ‘열심히 했다’보다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B2530"/>
                </a:solidFill>
              </a:rPr>
              <a:t>‘상대가 이해하고 움직였는가’가 더 중요해진다.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사람과 맥락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7863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330"/>
                </a:solidFill>
              </a:rPr>
              <a:t>좋은 기획은 결국 사람 이해에서 시작된다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WHO와 WHY를 놓치면 내 방식만 선명한 기획이 되기 쉽다.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2103120"/>
            <a:ext cx="3319272" cy="2697480"/>
          </a:xfrm>
          <a:prstGeom prst="roundRect">
            <a:avLst>
              <a:gd name="adj" fmla="val 2712"/>
            </a:avLst>
          </a:prstGeom>
          <a:solidFill>
            <a:srgbClr val="FBF8F2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8992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" y="2468880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나는 누구와 일할 때 기획이 자주 꼬이는가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3090672"/>
            <a:ext cx="28803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상사, 협업부서, 팀원 중 누구와 일할 때 가장 많이 막히는가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34840" y="2103120"/>
            <a:ext cx="3319272" cy="2697480"/>
          </a:xfrm>
          <a:prstGeom prst="roundRect">
            <a:avLst>
              <a:gd name="adj" fmla="val 2712"/>
            </a:avLst>
          </a:prstGeom>
          <a:solidFill>
            <a:srgbClr val="E3EEF4"/>
          </a:solidFill>
          <a:ln w="12700">
            <a:solidFill>
              <a:srgbClr val="CBDCE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54296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54296" y="2468880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나는 그 사람의 어떤 질문을 자주 놓치는가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54296" y="3090672"/>
            <a:ext cx="28803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왜, 무엇, 어떻게, 그리고 나면 무엇이 달라지는가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10144" y="2103120"/>
            <a:ext cx="3319272" cy="2697480"/>
          </a:xfrm>
          <a:prstGeom prst="roundRect">
            <a:avLst>
              <a:gd name="adj" fmla="val 2712"/>
            </a:avLst>
          </a:prstGeom>
          <a:solidFill>
            <a:srgbClr val="E7EFE8"/>
          </a:solidFill>
          <a:ln w="12700">
            <a:solidFill>
              <a:srgbClr val="C7D7CB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0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8C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관계 해석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0" y="2468880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함께 일하기 편한 사람과 불편한 사람은 누구인가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0" y="3090672"/>
            <a:ext cx="28803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왜 그렇게 느끼는가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그 답답함 속에 내 기획 언어의 한계는 없는가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4MAT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7863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330"/>
                </a:solidFill>
              </a:rPr>
              <a:t>나는 어떤 질문에 치우쳐 있는가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정식 진단보다, 내가 먼저 보는 관점과 자주 놓치는 관점을 확인하는 데 쓴다.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2157984"/>
            <a:ext cx="2425446" cy="2651760"/>
          </a:xfrm>
          <a:prstGeom prst="roundRect">
            <a:avLst>
              <a:gd name="adj" fmla="val 3016"/>
            </a:avLst>
          </a:prstGeom>
          <a:solidFill>
            <a:srgbClr val="E3EEF4"/>
          </a:solidFill>
          <a:ln w="12700">
            <a:solidFill>
              <a:srgbClr val="CBDCE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8992" y="2322576"/>
            <a:ext cx="19865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" y="2523744"/>
            <a:ext cx="19865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왜 이 일을 해야 하지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3145536"/>
            <a:ext cx="198653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의미, 맥락, 필요성에 민감하다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541014" y="2157984"/>
            <a:ext cx="2425446" cy="2651760"/>
          </a:xfrm>
          <a:prstGeom prst="roundRect">
            <a:avLst>
              <a:gd name="adj" fmla="val 3016"/>
            </a:avLst>
          </a:prstGeom>
          <a:solidFill>
            <a:srgbClr val="FBF8F2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60470" y="2322576"/>
            <a:ext cx="19865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WHAT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60470" y="2523744"/>
            <a:ext cx="19865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그래서 무엇을 해야 하지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60470" y="3145536"/>
            <a:ext cx="198653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핵심 내용, 구조, 정리에 민감하다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2492" y="2157984"/>
            <a:ext cx="2425446" cy="2651760"/>
          </a:xfrm>
          <a:prstGeom prst="roundRect">
            <a:avLst>
              <a:gd name="adj" fmla="val 3016"/>
            </a:avLst>
          </a:prstGeom>
          <a:solidFill>
            <a:srgbClr val="E7EFE8"/>
          </a:solidFill>
          <a:ln w="12700">
            <a:solidFill>
              <a:srgbClr val="C7D7CB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1948" y="2322576"/>
            <a:ext cx="19865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8C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HOW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41948" y="2523744"/>
            <a:ext cx="19865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어떻게 실행하지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1948" y="3145536"/>
            <a:ext cx="198653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일정, 자원, 역할, 운영에 민감하다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03970" y="2157984"/>
            <a:ext cx="2425446" cy="2651760"/>
          </a:xfrm>
          <a:prstGeom prst="roundRect">
            <a:avLst>
              <a:gd name="adj" fmla="val 3016"/>
            </a:avLst>
          </a:prstGeom>
          <a:solidFill>
            <a:srgbClr val="F4E6DF"/>
          </a:solidFill>
          <a:ln w="12700">
            <a:solidFill>
              <a:srgbClr val="E6C9BC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23426" y="2322576"/>
            <a:ext cx="19865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C6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IF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23426" y="2523744"/>
            <a:ext cx="19865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하고 나면 무엇이 달라지지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23426" y="3145536"/>
            <a:ext cx="198653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효과, 개선, 다음 가능성에 민감하다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38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C60"/>
          </a:solidFill>
          <a:ln w="12700">
            <a:solidFill>
              <a:srgbClr val="D97C6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5B77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E5E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오후 시작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8E5E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5E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77824" y="1078992"/>
            <a:ext cx="128016" cy="4343400"/>
          </a:xfrm>
          <a:prstGeom prst="rect">
            <a:avLst/>
          </a:prstGeom>
          <a:solidFill>
            <a:srgbClr val="D97C60"/>
          </a:solidFill>
          <a:ln w="12700">
            <a:solidFill>
              <a:srgbClr val="D97C6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1234440"/>
            <a:ext cx="5760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기획의 구조를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현업 언어로 번역한다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280160" y="246888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8E5EC"/>
                </a:solidFill>
              </a:rPr>
              <a:t>왜 해야 하는지, 무엇을 해야 하는지,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8E5EC"/>
                </a:solidFill>
              </a:rPr>
              <a:t>어떻게 실행하는지, 하고 나면 무엇이 달라지는지를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8E5EC"/>
                </a:solidFill>
              </a:rPr>
              <a:t>과장의 언어로 다시 세운다.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516368" y="1353312"/>
            <a:ext cx="3794760" cy="3566160"/>
          </a:xfrm>
          <a:prstGeom prst="roundRect">
            <a:avLst>
              <a:gd name="adj" fmla="val 2051"/>
            </a:avLst>
          </a:prstGeom>
          <a:solidFill>
            <a:srgbClr val="21495F"/>
          </a:solidFill>
          <a:ln w="12700">
            <a:solidFill>
              <a:srgbClr val="557B8E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35824" y="1517904"/>
            <a:ext cx="3355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D5E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오후의 중심 질문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35824" y="1719072"/>
            <a:ext cx="3355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과장은 실행자가 아니라 해석자이자 구조 설계자다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35824" y="2340864"/>
            <a:ext cx="335584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4EEF4"/>
                </a:solidFill>
              </a:rPr>
              <a:t>상사에게 받은 지시를 팀원이 움직일 수 있는 말과 계획으로 바꾸는 힘이 과장의 기획력이다.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구조 전체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7863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330"/>
                </a:solidFill>
              </a:rPr>
              <a:t>기획의 구조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생각이 없어서가 아니라 순서가 없어서 기획이 막힐 때가 많다.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7824" y="2249424"/>
            <a:ext cx="2523744" cy="2651760"/>
          </a:xfrm>
          <a:prstGeom prst="roundRect">
            <a:avLst>
              <a:gd name="adj" fmla="val 2899"/>
            </a:avLst>
          </a:prstGeom>
          <a:solidFill>
            <a:srgbClr val="E3EEF4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2615184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2330"/>
                </a:solidFill>
              </a:rPr>
              <a:t>Why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3218688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1B2530"/>
                </a:solidFill>
              </a:rPr>
              <a:t>왜 해야 하나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3639312" y="2249424"/>
            <a:ext cx="2523744" cy="2651760"/>
          </a:xfrm>
          <a:prstGeom prst="roundRect">
            <a:avLst>
              <a:gd name="adj" fmla="val 2899"/>
            </a:avLst>
          </a:prstGeom>
          <a:solidFill>
            <a:srgbClr val="FBF8F2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58768" y="2615184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2330"/>
                </a:solidFill>
              </a:rPr>
              <a:t>What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58768" y="3218688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1B2530"/>
                </a:solidFill>
              </a:rPr>
              <a:t>무엇을 해야 하나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400800" y="2249424"/>
            <a:ext cx="2523744" cy="2651760"/>
          </a:xfrm>
          <a:prstGeom prst="roundRect">
            <a:avLst>
              <a:gd name="adj" fmla="val 2899"/>
            </a:avLst>
          </a:prstGeom>
          <a:solidFill>
            <a:srgbClr val="E7EFE8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20256" y="2615184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2330"/>
                </a:solidFill>
              </a:rPr>
              <a:t>How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20256" y="3218688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1B2530"/>
                </a:solidFill>
              </a:rPr>
              <a:t>어떻게 실행하나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9162288" y="2249424"/>
            <a:ext cx="2523744" cy="2651760"/>
          </a:xfrm>
          <a:prstGeom prst="roundRect">
            <a:avLst>
              <a:gd name="adj" fmla="val 2899"/>
            </a:avLst>
          </a:prstGeom>
          <a:solidFill>
            <a:srgbClr val="F4E6DF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81744" y="2615184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2330"/>
                </a:solidFill>
              </a:rPr>
              <a:t>If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381744" y="3218688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1B2530"/>
                </a:solidFill>
              </a:rPr>
              <a:t>하고 나면 무엇이 달라지나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96112" y="52120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07A"/>
                </a:solidFill>
              </a:rPr>
              <a:t>특히 과장은 How부터 말하는 실수를 가장 자주 한다.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96112" y="551383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4707A"/>
                </a:solidFill>
              </a:rPr>
              <a:t>대표 오류: Why 없이 지시한다 / What 없이 자료만 던진다 / If 없이 결론만 말하고 끝낸다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7863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330"/>
                </a:solidFill>
              </a:rPr>
              <a:t>Why | 왜 지금 이 일을 해야 하는가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맥락과 의미가 없으면 시키는 일처럼 들린다.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2084832"/>
            <a:ext cx="3319272" cy="2743200"/>
          </a:xfrm>
          <a:prstGeom prst="roundRect">
            <a:avLst>
              <a:gd name="adj" fmla="val 2667"/>
            </a:avLst>
          </a:prstGeom>
          <a:solidFill>
            <a:srgbClr val="FBF8F2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8992" y="224942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Question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" y="245059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이 일은 왜 필요한가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3072384"/>
            <a:ext cx="28803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무슨 문제를 해결하려는가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왜 지금 해야 하는가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34840" y="2084832"/>
            <a:ext cx="3319272" cy="2743200"/>
          </a:xfrm>
          <a:prstGeom prst="roundRect">
            <a:avLst>
              <a:gd name="adj" fmla="val 2667"/>
            </a:avLst>
          </a:prstGeom>
          <a:solidFill>
            <a:srgbClr val="E3EEF4"/>
          </a:solidFill>
          <a:ln w="12700">
            <a:solidFill>
              <a:srgbClr val="CBDCE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54296" y="224942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Target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54296" y="245059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누구에게 어떤 의미가 있는가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54296" y="3072384"/>
            <a:ext cx="28803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상사, 팀원, 협업부서, 고객 중 누구의 질문을 먼저 풀어야 하는가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10144" y="2084832"/>
            <a:ext cx="3319272" cy="2743200"/>
          </a:xfrm>
          <a:prstGeom prst="roundRect">
            <a:avLst>
              <a:gd name="adj" fmla="val 2667"/>
            </a:avLst>
          </a:prstGeom>
          <a:solidFill>
            <a:srgbClr val="F4E6DF"/>
          </a:solidFill>
          <a:ln w="12700">
            <a:solidFill>
              <a:srgbClr val="E6C9BC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0" y="224942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C6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Tip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0" y="245059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내 입장보다 상대 입장에서 연다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0" y="3072384"/>
            <a:ext cx="28803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청중 입장에서 ‘이건 들어볼 이유가 있다’가 먼저 생겨야 한다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What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7863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330"/>
                </a:solidFill>
              </a:rPr>
              <a:t>What | 그래서 무엇을 하려는가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메시지가 흩어지지 않도록, 한 문장으로 먼저 잡는다.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96112" y="1901952"/>
            <a:ext cx="4736592" cy="3566160"/>
          </a:xfrm>
          <a:prstGeom prst="roundRect">
            <a:avLst>
              <a:gd name="adj" fmla="val 2051"/>
            </a:avLst>
          </a:prstGeom>
          <a:solidFill>
            <a:srgbClr val="FBF8F2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15568" y="206654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질문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15568" y="2267712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결국 내가 남기고 싶은 한 문장은 무엇인가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15568" y="2889504"/>
            <a:ext cx="429768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1B2530"/>
                </a:solidFill>
              </a:rPr>
              <a:t>핵심이 한 문장으로 안 잡히면,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1B2530"/>
                </a:solidFill>
              </a:rPr>
              <a:t>자료는 많아도 기획은 약해진다.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1B2530"/>
                </a:solidFill>
              </a:rPr>
              <a:t>내가 끝까지 지켜야 할 문장을 먼저 세워라.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5980176" y="1901952"/>
            <a:ext cx="5230368" cy="3566160"/>
          </a:xfrm>
          <a:prstGeom prst="roundRect">
            <a:avLst>
              <a:gd name="adj" fmla="val 2051"/>
            </a:avLst>
          </a:prstGeom>
          <a:solidFill>
            <a:srgbClr val="E3EEF4"/>
          </a:solidFill>
          <a:ln w="12700">
            <a:solidFill>
              <a:srgbClr val="CBDCE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99632" y="2066544"/>
            <a:ext cx="4791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예시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99632" y="2267712"/>
            <a:ext cx="4791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이번 변화의 목적은 통제를 늘리기보다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판단의 기준을 하나로 맞추는 데 있다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99632" y="2889504"/>
            <a:ext cx="479145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530"/>
                </a:solidFill>
              </a:rPr>
              <a:t>우리가 회복해야 하는 것은 속도가 아니라 협업의 신뢰다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B2530"/>
                </a:solidFill>
              </a:rPr>
              <a:t>이번 프로젝트의 핵심은 일의 양이 아니라 우선순위의 선명함이다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How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7863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330"/>
                </a:solidFill>
              </a:rPr>
              <a:t>How | 실행은 설명이 아니라 설계다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누가, 언제, 무엇으로, 어떻게를 말해야 팀이 움직일 수 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2139696"/>
            <a:ext cx="2425446" cy="2697480"/>
          </a:xfrm>
          <a:prstGeom prst="roundRect">
            <a:avLst>
              <a:gd name="adj" fmla="val 3016"/>
            </a:avLst>
          </a:prstGeom>
          <a:solidFill>
            <a:srgbClr val="FBF8F2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8992" y="2304288"/>
            <a:ext cx="19865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사람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" y="2505456"/>
            <a:ext cx="19865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누가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3127248"/>
            <a:ext cx="198653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역할과 책임이 분명한가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541014" y="2139696"/>
            <a:ext cx="2425446" cy="2697480"/>
          </a:xfrm>
          <a:prstGeom prst="roundRect">
            <a:avLst>
              <a:gd name="adj" fmla="val 3016"/>
            </a:avLst>
          </a:prstGeom>
          <a:solidFill>
            <a:srgbClr val="E7EFE8"/>
          </a:solidFill>
          <a:ln w="12700">
            <a:solidFill>
              <a:srgbClr val="C7D7CB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60470" y="2304288"/>
            <a:ext cx="19865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8C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시간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60470" y="2505456"/>
            <a:ext cx="19865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언제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60470" y="3127248"/>
            <a:ext cx="198653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일정과 체크포인트가 보이는가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2492" y="2139696"/>
            <a:ext cx="2425446" cy="2697480"/>
          </a:xfrm>
          <a:prstGeom prst="roundRect">
            <a:avLst>
              <a:gd name="adj" fmla="val 3016"/>
            </a:avLst>
          </a:prstGeom>
          <a:solidFill>
            <a:srgbClr val="E3EEF4"/>
          </a:solidFill>
          <a:ln w="12700">
            <a:solidFill>
              <a:srgbClr val="CBDCE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1948" y="2304288"/>
            <a:ext cx="19865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자원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41948" y="2505456"/>
            <a:ext cx="19865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무엇으로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1948" y="3127248"/>
            <a:ext cx="198653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필요 인력, 예산, 자료, 협조가 정리되었는가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03970" y="2139696"/>
            <a:ext cx="2425446" cy="2697480"/>
          </a:xfrm>
          <a:prstGeom prst="roundRect">
            <a:avLst>
              <a:gd name="adj" fmla="val 3016"/>
            </a:avLst>
          </a:prstGeom>
          <a:solidFill>
            <a:srgbClr val="F4E6DF"/>
          </a:solidFill>
          <a:ln w="12700">
            <a:solidFill>
              <a:srgbClr val="E6C9BC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23426" y="2304288"/>
            <a:ext cx="19865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C6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방법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23426" y="2505456"/>
            <a:ext cx="19865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어떻게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23426" y="3127248"/>
            <a:ext cx="198653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실행 순서와 운영 방식이 보이는가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If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7863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330"/>
                </a:solidFill>
              </a:rPr>
              <a:t>If | 하고 나면 무엇이 달라지는가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기대효과와 다음 가능성이 보이면 설득은 훨씬 쉬워진다.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96112" y="1956816"/>
            <a:ext cx="10314432" cy="3493008"/>
          </a:xfrm>
          <a:prstGeom prst="roundRect">
            <a:avLst>
              <a:gd name="adj" fmla="val 2094"/>
            </a:avLst>
          </a:prstGeom>
          <a:solidFill>
            <a:srgbClr val="E7EFE8"/>
          </a:solidFill>
          <a:ln w="12700">
            <a:solidFill>
              <a:srgbClr val="C7D7CB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15568" y="212140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8C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질문 예시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15568" y="2322576"/>
            <a:ext cx="9875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2330"/>
                </a:solidFill>
              </a:rPr>
              <a:t>성공하면 무엇이 달라지는가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52330"/>
                </a:solidFill>
              </a:rPr>
              <a:t>만약 잘 안 되면 무엇을 다시 봐야 하는가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15568" y="2944368"/>
            <a:ext cx="9875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530"/>
                </a:solidFill>
              </a:rPr>
              <a:t>우리 팀에는 어떤 긍정적 변화가 생기는가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530"/>
                </a:solidFill>
              </a:rPr>
              <a:t>이해관계자에게는 어떤 의미가 생기는가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530"/>
                </a:solidFill>
              </a:rPr>
              <a:t>개선한다면 무엇을 더 보완할 것인가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530"/>
                </a:solidFill>
              </a:rPr>
              <a:t>새롭게 연결될 가능성은 무엇인가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듣기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7863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330"/>
                </a:solidFill>
              </a:rPr>
              <a:t>상사의 지시를 기획적으로 듣는 법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받아 적는 수준이 아니라, 맥락을 읽고 자기화해야 한다.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901952"/>
            <a:ext cx="5852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맥락 읽기: 왜 나에게 이런 지시가 왔는가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문장 읽기: 그래서 지금 정확히 무엇을 말하는가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정리: 핵심적으로 정리하면 무엇인가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피드백: 제가 이해한 것이 맞는가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자기화: 나는 이 과제를 어떻게 수행할 것인가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040880" y="1956816"/>
            <a:ext cx="4169664" cy="3520440"/>
          </a:xfrm>
          <a:prstGeom prst="roundRect">
            <a:avLst>
              <a:gd name="adj" fmla="val 2078"/>
            </a:avLst>
          </a:prstGeom>
          <a:solidFill>
            <a:srgbClr val="F4E6DF"/>
          </a:solidFill>
          <a:ln w="12700">
            <a:solidFill>
              <a:srgbClr val="E6C9BC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0336" y="2121408"/>
            <a:ext cx="3730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C6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실수 포인트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260336" y="2322576"/>
            <a:ext cx="3730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말은 들었는데 맥락은 놓치는 경우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60336" y="2944368"/>
            <a:ext cx="3730752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530"/>
                </a:solidFill>
              </a:rPr>
              <a:t>일의 배경을 모르고 받는다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B2530"/>
                </a:solidFill>
              </a:rPr>
              <a:t>기대 결과를 확인하지 않는다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B2530"/>
                </a:solidFill>
              </a:rPr>
              <a:t>내가 이해한 내용을 되돌려 말하지 않는다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전달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7863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330"/>
                </a:solidFill>
              </a:rPr>
              <a:t>팀원에게는 어떻게 번역해 전달할 것인가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좋은 과장은 지시를 복사하지 않고, 실행 가능한 구조로 바꾼다.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901952"/>
            <a:ext cx="58064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맥락 설명: 왜 이런 프로젝트를 하는가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기대 결과: 무엇이 나오면 되는가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업무 스케줄: 언제까지 무엇을 맞추면 되는가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특이사항: 무엇은 빼고 무엇에 집중해야 하는가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노하우와 자료: 어디를 보면 되는가, 누구에게 물어보면 되는가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059168" y="1938528"/>
            <a:ext cx="4151376" cy="3566160"/>
          </a:xfrm>
          <a:prstGeom prst="roundRect">
            <a:avLst>
              <a:gd name="adj" fmla="val 2051"/>
            </a:avLst>
          </a:prstGeom>
          <a:solidFill>
            <a:srgbClr val="E3EEF4"/>
          </a:solidFill>
          <a:ln w="12700">
            <a:solidFill>
              <a:srgbClr val="CBDCE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78624" y="2103120"/>
            <a:ext cx="3712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278624" y="2304288"/>
            <a:ext cx="3712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같은 지시도 과장을 거치면 더 선명해져야 한다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78624" y="2926080"/>
            <a:ext cx="371246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1B2530"/>
                </a:solidFill>
              </a:rPr>
              <a:t>상사의 말을 그대로 전달하는 것은 중계다.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1B2530"/>
                </a:solidFill>
              </a:rPr>
              <a:t>맥락과 기대를 정리해 팀이 움직일 수 있게 만드는 것이 과장의 전달이다.</a:t>
            </a:r>
            <a:endParaRPr lang="en-US" sz="13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팀 미션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7863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330"/>
                </a:solidFill>
              </a:rPr>
              <a:t>Team Mission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상사-과장-팀원 역할로 브리핑과 기획 재구성을 실습한다.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96112" y="1883664"/>
            <a:ext cx="5650992" cy="3611880"/>
          </a:xfrm>
          <a:prstGeom prst="roundRect">
            <a:avLst>
              <a:gd name="adj" fmla="val 2025"/>
            </a:avLst>
          </a:prstGeom>
          <a:solidFill>
            <a:srgbClr val="FBF8F2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15568" y="2048256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상사 브리프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15568" y="2249424"/>
            <a:ext cx="5212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우리 조직 팀 빌딩 프로그램을 하자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15568" y="2871216"/>
            <a:ext cx="5212080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조직원들끼리 갈등이 있어 보인다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각자 일은 잘 하지만 소통이 안 되고 분위기도 좋지 않다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완전히 바뀌진 않아도 갈등이 풀리는 시작이 되길 바란다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술자리 중심 회식은 제외하고 싶다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외부 이미지로도 괜찮아 보이는 프로그램이면 좋겠다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76288" y="1883664"/>
            <a:ext cx="4315968" cy="3611880"/>
          </a:xfrm>
          <a:prstGeom prst="roundRect">
            <a:avLst>
              <a:gd name="adj" fmla="val 2025"/>
            </a:avLst>
          </a:prstGeom>
          <a:solidFill>
            <a:srgbClr val="E7EFE8"/>
          </a:solidFill>
          <a:ln w="12700">
            <a:solidFill>
              <a:srgbClr val="C7D7CB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95744" y="2048256"/>
            <a:ext cx="3877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8C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과장 역할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95744" y="2249424"/>
            <a:ext cx="3877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해야 할 일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95744" y="2871216"/>
            <a:ext cx="3877056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1B2530"/>
                </a:solidFill>
              </a:rPr>
              <a:t>맥락을 다시 묻는다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1B2530"/>
                </a:solidFill>
              </a:rPr>
              <a:t>기대 결과를 정리한다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1B2530"/>
                </a:solidFill>
              </a:rPr>
              <a:t>제외 조건을 확인한다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1B2530"/>
                </a:solidFill>
              </a:rPr>
              <a:t>팀원에게 실행 구조로 번역한다</a:t>
            </a:r>
            <a:endParaRPr lang="en-US" sz="13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산출물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7863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330"/>
                </a:solidFill>
              </a:rPr>
              <a:t>실습 산출물은 한 장으로 끝낸다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많이 쓰는 것보다 구조가 선명한 초안이 더 중요하고, 피드백도 구조 중심으로 준다.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2084832"/>
            <a:ext cx="3319272" cy="2651760"/>
          </a:xfrm>
          <a:prstGeom prst="roundRect">
            <a:avLst>
              <a:gd name="adj" fmla="val 2759"/>
            </a:avLst>
          </a:prstGeom>
          <a:solidFill>
            <a:srgbClr val="FBF8F2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8992" y="224942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" y="245059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안건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3072384"/>
            <a:ext cx="28803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이번에 우리가 다룰 주제는 무엇인가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34840" y="2084832"/>
            <a:ext cx="3319272" cy="2651760"/>
          </a:xfrm>
          <a:prstGeom prst="roundRect">
            <a:avLst>
              <a:gd name="adj" fmla="val 2759"/>
            </a:avLst>
          </a:prstGeom>
          <a:solidFill>
            <a:srgbClr val="E3EEF4"/>
          </a:solidFill>
          <a:ln w="12700">
            <a:solidFill>
              <a:srgbClr val="CBDCE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54296" y="224942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54296" y="245059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Why / What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54296" y="3072384"/>
            <a:ext cx="28803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왜 필요한가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무엇을 할 것인가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10144" y="2084832"/>
            <a:ext cx="3319272" cy="2651760"/>
          </a:xfrm>
          <a:prstGeom prst="roundRect">
            <a:avLst>
              <a:gd name="adj" fmla="val 2759"/>
            </a:avLst>
          </a:prstGeom>
          <a:solidFill>
            <a:srgbClr val="E7EFE8"/>
          </a:solidFill>
          <a:ln w="12700">
            <a:solidFill>
              <a:srgbClr val="C7D7CB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0" y="224942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8C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0" y="245059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How / If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0" y="3072384"/>
            <a:ext cx="28803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어떻게 실행할 것인가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무엇이 달라질 것인가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96112" y="51480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07A"/>
                </a:solidFill>
              </a:rPr>
              <a:t>발표는 2분, 피드백은 구조 중심으로 3분.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" y="544068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07A"/>
                </a:solidFill>
              </a:rPr>
              <a:t>피드백 기준: Why가 상대 문제를 건드리는가 / What이 한 문장으로 남는가 / How가 실행 가능하게 들리는가 / If가 자기화를 만드는가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문서 기본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7863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330"/>
                </a:solidFill>
              </a:rPr>
              <a:t>좋은 보고서와 기획안의 기본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길게 쓰는 것보다 읽는 사람이 빠르게 이해하게 하는 것이 더 중요하다.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2084832"/>
            <a:ext cx="3319272" cy="2724912"/>
          </a:xfrm>
          <a:prstGeom prst="roundRect">
            <a:avLst>
              <a:gd name="adj" fmla="val 2685"/>
            </a:avLst>
          </a:prstGeom>
          <a:solidFill>
            <a:srgbClr val="FBF8F2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8992" y="224942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보고서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" y="245059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상황을 정확하게 알린다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3072384"/>
            <a:ext cx="28803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추측을 줄이고 사실과 의견을 구분한다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긴 문장보다 구조화가 효과적이다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34840" y="2084832"/>
            <a:ext cx="3319272" cy="2724912"/>
          </a:xfrm>
          <a:prstGeom prst="roundRect">
            <a:avLst>
              <a:gd name="adj" fmla="val 2685"/>
            </a:avLst>
          </a:prstGeom>
          <a:solidFill>
            <a:srgbClr val="E3EEF4"/>
          </a:solidFill>
          <a:ln w="12700">
            <a:solidFill>
              <a:srgbClr val="CBDCE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54296" y="224942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기획안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54296" y="245059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당위성과 실행방안을 함께 보여준다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54296" y="3072384"/>
            <a:ext cx="28803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왜 필요한가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무엇을 할 것인가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어떻게 할 것인가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무엇이 달라질 것인가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10144" y="2084832"/>
            <a:ext cx="3319272" cy="2724912"/>
          </a:xfrm>
          <a:prstGeom prst="roundRect">
            <a:avLst>
              <a:gd name="adj" fmla="val 2685"/>
            </a:avLst>
          </a:prstGeom>
          <a:solidFill>
            <a:srgbClr val="F4E6DF"/>
          </a:solidFill>
          <a:ln w="12700">
            <a:solidFill>
              <a:srgbClr val="E6C9BC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0" y="224942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C6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공통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0" y="245059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결론부터, 쉬운 말로, 구조적으로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0" y="3072384"/>
            <a:ext cx="28803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읽는 사람을 생각하며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불필요한 문장은 빼고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출처와 근거를 남긴다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7863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330"/>
                </a:solidFill>
              </a:rPr>
              <a:t>AI는 기획을 대신하는 도구가 아니다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질문, 정리, 대안 비교, 허점 점검을 돕는 보조자 정도로 연결한다.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2084832"/>
            <a:ext cx="3319272" cy="2651760"/>
          </a:xfrm>
          <a:prstGeom prst="roundRect">
            <a:avLst>
              <a:gd name="adj" fmla="val 2759"/>
            </a:avLst>
          </a:prstGeom>
          <a:solidFill>
            <a:srgbClr val="FBF8F2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8992" y="224942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Before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" y="245059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회의 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3072384"/>
            <a:ext cx="28803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내가 놓친 질문이 없는지 점검한다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34840" y="2084832"/>
            <a:ext cx="3319272" cy="2651760"/>
          </a:xfrm>
          <a:prstGeom prst="roundRect">
            <a:avLst>
              <a:gd name="adj" fmla="val 2759"/>
            </a:avLst>
          </a:prstGeom>
          <a:solidFill>
            <a:srgbClr val="E3EEF4"/>
          </a:solidFill>
          <a:ln w="12700">
            <a:solidFill>
              <a:srgbClr val="CBDCE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54296" y="224942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During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54296" y="245059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초안 작성 중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54296" y="3072384"/>
            <a:ext cx="28803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Why-What-How-If 구조가 비어 있지 않은지 본다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10144" y="2084832"/>
            <a:ext cx="3319272" cy="2651760"/>
          </a:xfrm>
          <a:prstGeom prst="roundRect">
            <a:avLst>
              <a:gd name="adj" fmla="val 2759"/>
            </a:avLst>
          </a:prstGeom>
          <a:solidFill>
            <a:srgbClr val="E7EFE8"/>
          </a:solidFill>
          <a:ln w="12700">
            <a:solidFill>
              <a:srgbClr val="C7D7CB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0" y="224942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8C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After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0" y="245059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330"/>
                </a:solidFill>
              </a:rPr>
              <a:t>작성 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0" y="3072384"/>
            <a:ext cx="28803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530"/>
                </a:solidFill>
              </a:rPr>
              <a:t>대안 비교, 허점 점검, 표현 정리를 돕게 한다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96112" y="51206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330"/>
                </a:solidFill>
              </a:rPr>
              <a:t>결국 중요한 것은 답을 빨리 뽑는 능력이 아니라 무슨 질문을 던질 줄 아는가이다.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현업 적용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" y="7863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330"/>
                </a:solidFill>
              </a:rPr>
              <a:t>내일 바로 바꿀 것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학습은 다음 대화 장면을 구체적으로 떠올릴 때 실행으로 바뀐다.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96112" y="1920240"/>
            <a:ext cx="10314432" cy="3547872"/>
          </a:xfrm>
          <a:prstGeom prst="roundRect">
            <a:avLst>
              <a:gd name="adj" fmla="val 2062"/>
            </a:avLst>
          </a:prstGeom>
          <a:solidFill>
            <a:srgbClr val="FBF8F2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15568" y="208483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B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Action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15568" y="2286000"/>
            <a:ext cx="9875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2330"/>
                </a:solidFill>
              </a:rPr>
              <a:t>세 가지만 적는다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15568" y="2907792"/>
            <a:ext cx="987552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530"/>
                </a:solidFill>
              </a:rPr>
              <a:t>내가 내일 바로 사용할 장면 1개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530"/>
                </a:solidFill>
              </a:rPr>
              <a:t>그 장면에서 먼저 점검할 질문 1개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530"/>
                </a:solidFill>
              </a:rPr>
              <a:t>내가 남길 한 문장 1개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530"/>
                </a:solidFill>
              </a:rPr>
              <a:t>과장의 기획은 생각이 아니라 다음 대화에서 증명된다.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738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C60"/>
          </a:solidFill>
          <a:ln w="12700">
            <a:solidFill>
              <a:srgbClr val="D97C6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2700">
            <a:solidFill>
              <a:srgbClr val="5B77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E5E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클로징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8E5E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5E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Planning Mindset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4128" y="1298448"/>
            <a:ext cx="5212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과장의 기획력은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문서를 예쁘게 만드는 힘이 아니다.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060704" y="2944368"/>
            <a:ext cx="5669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CE8EF"/>
                </a:solidFill>
              </a:rPr>
              <a:t>사람과 조직의 기대를 더 정확히 이해하고,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CE8EF"/>
                </a:solidFill>
              </a:rPr>
              <a:t>그 기대를 일과 말로 연결해 결국 결과를 만드는 힘이다.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0" y="1353312"/>
            <a:ext cx="3858768" cy="3584448"/>
          </a:xfrm>
          <a:prstGeom prst="roundRect">
            <a:avLst>
              <a:gd name="adj" fmla="val 2041"/>
            </a:avLst>
          </a:prstGeom>
          <a:solidFill>
            <a:srgbClr val="21495F"/>
          </a:solidFill>
          <a:ln w="12700">
            <a:solidFill>
              <a:srgbClr val="557B8E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34656" y="1517904"/>
            <a:ext cx="3419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D5E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마지막 질문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534656" y="1719072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나는 내일부터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무엇을 더 잘 해석할 것인가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34656" y="2340864"/>
            <a:ext cx="34198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10" dirty="0">
                <a:solidFill>
                  <a:srgbClr val="E4EEF4"/>
                </a:solidFill>
              </a:rPr>
              <a:t>왜 이 일을 해야 하는가</a:t>
            </a:r>
            <a:endParaRPr lang="en-US" sz="131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E4EEF4"/>
                </a:solidFill>
              </a:rPr>
              <a:t>누구에게 어떤 의미가 있는가</a:t>
            </a:r>
            <a:endParaRPr lang="en-US" sz="131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E4EEF4"/>
                </a:solidFill>
              </a:rPr>
              <a:t>무엇을 선명하게 남겨야 하는가</a:t>
            </a:r>
            <a:endParaRPr lang="en-US" sz="1310" dirty="0"/>
          </a:p>
          <a:p>
            <a:pPr algn="l" indent="0" marL="0">
              <a:buNone/>
            </a:pPr>
            <a:endParaRPr lang="en-US" sz="131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E4EEF4"/>
                </a:solidFill>
              </a:rPr>
              <a:t>그 질문이 바뀌면 과장의 기획도 바뀐다.</a:t>
            </a:r>
            <a:endParaRPr lang="en-US" sz="13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전종목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FST 과장 승진자 기획력</dc:title>
  <dc:subject>FST 과장 승진자 기획력 실전 강의 슬라이드</dc:subject>
  <dc:creator>OpenAI Codex</dc:creator>
  <cp:lastModifiedBy>OpenAI Codex</cp:lastModifiedBy>
  <cp:revision>1</cp:revision>
  <dcterms:created xsi:type="dcterms:W3CDTF">2026-03-19T11:10:42Z</dcterms:created>
  <dcterms:modified xsi:type="dcterms:W3CDTF">2026-03-19T11:10:42Z</dcterms:modified>
</cp:coreProperties>
</file>