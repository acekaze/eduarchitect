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75a7ac1e494a2e" /><Relationship Type="http://schemas.openxmlformats.org/officeDocument/2006/relationships/extended-properties" Target="/docProps/app.xml" Id="R86f86427241b41e6" /><Relationship Type="http://schemas.openxmlformats.org/officeDocument/2006/relationships/officeDocument" Target="/ppt/presentation.xml" Id="R176a40e3bdd34e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d0d9e35f3249e5"/>
  </p:sldMasterIdLst>
  <p:notesMasterIdLst>
    <p:notesMasterId xmlns:r="http://schemas.openxmlformats.org/officeDocument/2006/relationships" r:id="R520e2ff9511d4922"/>
  </p:notesMasterIdLst>
  <p:sldIdLst>
    <p:sldId xmlns:r="http://schemas.openxmlformats.org/officeDocument/2006/relationships" id="256" r:id="R9c9fb4e6497c4204"/>
    <p:sldId xmlns:r="http://schemas.openxmlformats.org/officeDocument/2006/relationships" id="257" r:id="R440af44dd3c947e8"/>
    <p:sldId xmlns:r="http://schemas.openxmlformats.org/officeDocument/2006/relationships" id="258" r:id="R7aa76cdc50254248"/>
    <p:sldId xmlns:r="http://schemas.openxmlformats.org/officeDocument/2006/relationships" id="259" r:id="Re65ac3d991924eeb"/>
    <p:sldId xmlns:r="http://schemas.openxmlformats.org/officeDocument/2006/relationships" id="260" r:id="R8b36883f15ef40cb"/>
    <p:sldId xmlns:r="http://schemas.openxmlformats.org/officeDocument/2006/relationships" id="261" r:id="R96305cd9aead4c1d"/>
    <p:sldId xmlns:r="http://schemas.openxmlformats.org/officeDocument/2006/relationships" id="262" r:id="R803d4a6958ea4fa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0d9e35f3249e5" /><Relationship Type="http://schemas.openxmlformats.org/officeDocument/2006/relationships/theme" Target="/ppt/theme/theme1.xml" Id="R47d1f0e00d7b4fc6" /><Relationship Type="http://schemas.openxmlformats.org/officeDocument/2006/relationships/notesMaster" Target="/ppt/notesMasters/notesMaster1.xml" Id="R520e2ff9511d4922" /><Relationship Type="http://schemas.openxmlformats.org/officeDocument/2006/relationships/presProps" Target="/ppt/presProps.xml" Id="R7b635f9b462f470a" /><Relationship Type="http://schemas.openxmlformats.org/officeDocument/2006/relationships/viewProps" Target="/ppt/viewProps.xml" Id="Rde7a63768550424a" /><Relationship Type="http://schemas.openxmlformats.org/officeDocument/2006/relationships/tableStyles" Target="/ppt/tableStyles.xml" Id="R091e370aed48489e" /><Relationship Type="http://schemas.openxmlformats.org/officeDocument/2006/relationships/slide" Target="/ppt/slides/slide1.xml" Id="R9c9fb4e6497c4204" /><Relationship Type="http://schemas.openxmlformats.org/officeDocument/2006/relationships/slide" Target="/ppt/slides/slide2.xml" Id="R440af44dd3c947e8" /><Relationship Type="http://schemas.openxmlformats.org/officeDocument/2006/relationships/slide" Target="/ppt/slides/slide3.xml" Id="R7aa76cdc50254248" /><Relationship Type="http://schemas.openxmlformats.org/officeDocument/2006/relationships/slide" Target="/ppt/slides/slide4.xml" Id="Re65ac3d991924eeb" /><Relationship Type="http://schemas.openxmlformats.org/officeDocument/2006/relationships/slide" Target="/ppt/slides/slide5.xml" Id="R8b36883f15ef40cb" /><Relationship Type="http://schemas.openxmlformats.org/officeDocument/2006/relationships/slide" Target="/ppt/slides/slide6.xml" Id="R96305cd9aead4c1d" /><Relationship Type="http://schemas.openxmlformats.org/officeDocument/2006/relationships/slide" Target="/ppt/slides/slide7.xml" Id="R803d4a6958ea4f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75a608013c342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e093be0a264d6a" /><Relationship Type="http://schemas.openxmlformats.org/officeDocument/2006/relationships/notesMaster" Target="/ppt/notesMasters/notesMaster1.xml" Id="R45e71bcef06047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409647110640da" /><Relationship Type="http://schemas.openxmlformats.org/officeDocument/2006/relationships/notesMaster" Target="/ppt/notesMasters/notesMaster1.xml" Id="R3db4569ad7524e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1bc6c4d49e4bd3" /><Relationship Type="http://schemas.openxmlformats.org/officeDocument/2006/relationships/notesMaster" Target="/ppt/notesMasters/notesMaster1.xml" Id="R38d33eb0fd4e4f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982fce92bb4da5" /><Relationship Type="http://schemas.openxmlformats.org/officeDocument/2006/relationships/notesMaster" Target="/ppt/notesMasters/notesMaster1.xml" Id="R7fc68f18cd7f44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2f40cad028414c" /><Relationship Type="http://schemas.openxmlformats.org/officeDocument/2006/relationships/notesMaster" Target="/ppt/notesMasters/notesMaster1.xml" Id="Rd08f5d6d082949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f025904e8be4fae" /><Relationship Type="http://schemas.openxmlformats.org/officeDocument/2006/relationships/notesMaster" Target="/ppt/notesMasters/notesMaster1.xml" Id="R9ec29c56c5da42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d52444370f4a29" /><Relationship Type="http://schemas.openxmlformats.org/officeDocument/2006/relationships/notesMaster" Target="/ppt/notesMasters/notesMaster1.xml" Id="R1b05f28b99b94c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90abd5dd014a0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2bade3bd4964e99" /><Relationship Type="http://schemas.openxmlformats.org/officeDocument/2006/relationships/slideLayout" Target="/ppt/slideLayouts/slideLayout2.xml" Id="R242a442d4a7b40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a442d4a7b40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8c45f7b5054563" /><Relationship Type="http://schemas.openxmlformats.org/officeDocument/2006/relationships/image" Target="/ppt/media/image.png" Id="R986234428f834633" /><Relationship Type="http://schemas.openxmlformats.org/officeDocument/2006/relationships/image" Target="/ppt/media/image2.png" Id="R0caa9d28e9864d69" /><Relationship Type="http://schemas.openxmlformats.org/officeDocument/2006/relationships/notesSlide" Target="/ppt/notesSlides/notesSlide1.xml" Id="R8c57bc3974364f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36f8bc15fb4320" /><Relationship Type="http://schemas.openxmlformats.org/officeDocument/2006/relationships/image" Target="/ppt/media/image3.png" Id="R968af654516b4053" /><Relationship Type="http://schemas.openxmlformats.org/officeDocument/2006/relationships/image" Target="/ppt/media/image4.png" Id="R0f173a8a09454cd9" /><Relationship Type="http://schemas.openxmlformats.org/officeDocument/2006/relationships/image" Target="/ppt/media/image5.png" Id="R7cc2d233b1234640" /><Relationship Type="http://schemas.openxmlformats.org/officeDocument/2006/relationships/image" Target="/ppt/media/image6.png" Id="Rdfffbd2b691c4056" /><Relationship Type="http://schemas.openxmlformats.org/officeDocument/2006/relationships/image" Target="/ppt/media/image7.png" Id="R17f05193ccdd4877" /><Relationship Type="http://schemas.openxmlformats.org/officeDocument/2006/relationships/image" Target="/ppt/media/image8.png" Id="R260457831255435a" /><Relationship Type="http://schemas.openxmlformats.org/officeDocument/2006/relationships/notesSlide" Target="/ppt/notesSlides/notesSlide2.xml" Id="Rf07e49ed9e5b46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0178b9559e4e3c" /><Relationship Type="http://schemas.openxmlformats.org/officeDocument/2006/relationships/image" Target="/ppt/media/image9.png" Id="Rbe686223d4dc47e7" /><Relationship Type="http://schemas.openxmlformats.org/officeDocument/2006/relationships/notesSlide" Target="/ppt/notesSlides/notesSlide3.xml" Id="Re8a5e725a95243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a5fa3861e74247" /><Relationship Type="http://schemas.openxmlformats.org/officeDocument/2006/relationships/image" Target="/ppt/media/image10.png" Id="R91657b32c6f9461b" /><Relationship Type="http://schemas.openxmlformats.org/officeDocument/2006/relationships/notesSlide" Target="/ppt/notesSlides/notesSlide4.xml" Id="R31fb5bb9263c46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3a9f2e7bb743af" /><Relationship Type="http://schemas.openxmlformats.org/officeDocument/2006/relationships/image" Target="/ppt/media/image11.png" Id="R45c02c5af19c4d6b" /><Relationship Type="http://schemas.openxmlformats.org/officeDocument/2006/relationships/notesSlide" Target="/ppt/notesSlides/notesSlide5.xml" Id="R560bc5cae8ea4c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5068f10b3440bc" /><Relationship Type="http://schemas.openxmlformats.org/officeDocument/2006/relationships/image" Target="/ppt/media/image12.png" Id="R3b64eb3f5c714d36" /><Relationship Type="http://schemas.openxmlformats.org/officeDocument/2006/relationships/notesSlide" Target="/ppt/notesSlides/notesSlide6.xml" Id="R71b7950519c646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0bf9af079642e7" /><Relationship Type="http://schemas.openxmlformats.org/officeDocument/2006/relationships/notesSlide" Target="/ppt/notesSlides/notesSlide7.xml" Id="R9741e47f86664a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48DC4792-523E-4254-84E5-4E12BB66F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2C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FFB786BE-51BD-4FDC-8276-7EB7A430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C36D1-EE51-4414-B360-B3137D00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3700"/>
            <a:ext cx="7791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B84B"/>
                </a:solidFill>
              </a:defRPr>
            </a:pPr>
            <a:r>
              <a:rPr sz="3450" b="1">
                <a:solidFill>
                  <a:srgbClr val="F5B84B"/>
                </a:solidFill>
              </a:rPr>
              <a:t>특별한 점수 시스템 소개</a:t>
            </a:r>
          </a:p>
        </p:txBody>
      </p:sp>
      <p:pic>
        <p:nvPicPr>
          <p:cNvPr id="4" name="cover-headli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234428f834633"/>
          <a:stretch xmlns:a="http://schemas.openxmlformats.org/drawingml/2006/main"/>
        </p:blipFill>
        <p:spPr>
          <a:xfrm xmlns:a="http://schemas.openxmlformats.org/drawingml/2006/main">
            <a:off x="723900" y="3660458"/>
            <a:ext cx="7772400" cy="2914650"/>
          </a:xfrm>
          <a:prstGeom xmlns:a="http://schemas.openxmlformats.org/drawingml/2006/main" prst="rect">
            <a:avLst/>
          </a:prstGeom>
        </p:spPr>
      </p:pic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F2D8368B-8BEE-4D47-B897-F04571DF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7818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  <a:ln xmlns:a="http://schemas.openxmlformats.org/drawingml/2006/main" w="0">
            <a:solidFill>
              <a:srgbClr val="F5B84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77710F-C7B5-4185-9E1C-9B68A70F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048500"/>
            <a:ext cx="714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D8E2DD"/>
                </a:solidFill>
              </a:defRPr>
            </a:pPr>
            <a:r>
              <a:rPr sz="2100" b="0">
                <a:solidFill>
                  <a:srgbClr val="D8E2DD"/>
                </a:solidFill>
              </a:rPr>
              <a:t>매 라운드마다 카드 점수를 누적한 뒤 마지막에 비교하는 방식</a:t>
            </a:r>
          </a:p>
        </p:txBody>
      </p:sp>
      <p:sp>
        <p:nvSpPr>
          <p:cNvPr id="7" name="cover-card-panel">
            <a:extLst xmlns:a="http://schemas.openxmlformats.org/drawingml/2006/main">
              <a:ext uri="{FF2B5EF4-FFF2-40B4-BE49-F238E27FC236}">
                <a16:creationId xmlns:a16="http://schemas.microsoft.com/office/drawing/2014/main" id="{A335DBDB-5AE3-49E5-B3A4-075AA7EC4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552450"/>
            <a:ext cx="8601075" cy="9182100"/>
          </a:xfrm>
          <a:prstGeom xmlns:a="http://schemas.openxmlformats.org/drawingml/2006/main" prst="roundRect">
            <a:avLst>
              <a:gd name="adj" fmla="val 2436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245867"/>
            </a:solidFill>
            <a:prstDash val="solid"/>
          </a:ln>
        </p:spPr>
      </p:sp>
      <p:pic>
        <p:nvPicPr>
          <p:cNvPr id="8" name="cover-card-row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a9d28e9864d69"/>
          <a:stretch xmlns:a="http://schemas.openxmlformats.org/drawingml/2006/main"/>
        </p:blipFill>
        <p:spPr>
          <a:xfrm xmlns:a="http://schemas.openxmlformats.org/drawingml/2006/main">
            <a:off x="9305925" y="3827575"/>
            <a:ext cx="7953375" cy="164887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C29B5-AD79-4115-B1C5-A1B857E8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496050"/>
            <a:ext cx="796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점수판은 쓰지 않고 팀 봉투에 카드를 모읍니다.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E365D-4380-4939-872C-D2CF533B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6991350"/>
            <a:ext cx="7962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B84B"/>
                </a:solidFill>
              </a:defRPr>
            </a:pPr>
            <a:r>
              <a:rPr sz="2100" b="1">
                <a:solidFill>
                  <a:srgbClr val="F5B84B"/>
                </a:solidFill>
              </a:rPr>
              <a:t>결과는 마지막 정산 때 한 번에 공개합니다.</a:t>
            </a:r>
          </a:p>
        </p:txBody>
      </p:sp>
    </p:spTree>
    <p:extLst>
      <p:ext uri="{BB962C8B-B14F-4D97-AF65-F5344CB8AC3E}">
        <p14:creationId xmlns:p14="http://schemas.microsoft.com/office/powerpoint/2010/main" val="79774663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78B0965-BFD7-4266-AD9F-9EF67285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2C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0E8877B9-4AD1-4E8E-B5F2-65FA4640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D449C2-F9BB-4761-B990-AD616805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5B84B"/>
                </a:solidFill>
              </a:defRPr>
            </a:pPr>
            <a:r>
              <a:rPr sz="4050" b="1">
                <a:solidFill>
                  <a:srgbClr val="F5B84B"/>
                </a:solidFill>
              </a:rPr>
              <a:t>탐험 카드 점수 시스템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EA68D35-214D-4A20-882D-176F3E43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684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E2DD"/>
                </a:solidFill>
              </a:defRPr>
            </a:pPr>
            <a:r>
              <a:rPr sz="1800" b="0">
                <a:solidFill>
                  <a:srgbClr val="D8E2DD"/>
                </a:solidFill>
              </a:rPr>
              <a:t>높은 점수일수록 낮은 확률로 설계된 탐험 카드 점수 시스템</a:t>
            </a:r>
          </a:p>
        </p:txBody>
      </p:sp>
      <p:sp>
        <p:nvSpPr>
          <p:cNvPr id="5" name="card-식량">
            <a:extLst xmlns:a="http://schemas.openxmlformats.org/drawingml/2006/main">
              <a:ext uri="{FF2B5EF4-FFF2-40B4-BE49-F238E27FC236}">
                <a16:creationId xmlns:a16="http://schemas.microsoft.com/office/drawing/2014/main" id="{BAF14CF4-E66C-4FFC-A16E-6E8521C3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6890"/>
            <a:ext cx="2663825" cy="7501890"/>
          </a:xfrm>
          <a:prstGeom xmlns:a="http://schemas.openxmlformats.org/drawingml/2006/main" prst="roundRect">
            <a:avLst>
              <a:gd name="adj" fmla="val 6436"/>
            </a:avLst>
          </a:prstGeom>
          <a:solidFill xmlns:a="http://schemas.openxmlformats.org/drawingml/2006/main">
            <a:srgbClr val="0E2B38"/>
          </a:solidFill>
          <a:ln xmlns:a="http://schemas.openxmlformats.org/drawingml/2006/main" w="9525">
            <a:solidFill>
              <a:srgbClr val="245867"/>
            </a:solidFill>
            <a:prstDash val="solid"/>
          </a:ln>
        </p:spPr>
      </p:sp>
      <p:pic>
        <p:nvPicPr>
          <p:cNvPr id="6" name="식량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af654516b4053"/>
          <a:stretch xmlns:a="http://schemas.openxmlformats.org/drawingml/2006/main"/>
        </p:blipFill>
        <p:spPr>
          <a:xfrm xmlns:a="http://schemas.openxmlformats.org/drawingml/2006/main">
            <a:off x="957263" y="1958340"/>
            <a:ext cx="2200275" cy="3143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642F1-BEF0-476B-9310-81B26668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40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식량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086236-9668-4E00-A40F-3DF15E03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240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B84B"/>
                </a:solidFill>
              </a:defRPr>
            </a:pPr>
            <a:r>
              <a:rPr sz="3150" b="1">
                <a:solidFill>
                  <a:srgbClr val="F5B84B"/>
                </a:solidFill>
              </a:rPr>
              <a:t>1점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07B30C-A2AE-41D0-99D9-1D0C6487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484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2A747"/>
                </a:solidFill>
              </a:defRPr>
            </a:pPr>
            <a:r>
              <a:rPr sz="1800" b="1">
                <a:solidFill>
                  <a:srgbClr val="E2A747"/>
                </a:solidFill>
              </a:rPr>
              <a:t>28%</a:t>
            </a:r>
          </a:p>
        </p:txBody>
      </p:sp>
      <p:sp>
        <p:nvSpPr>
          <p:cNvPr id="10" name="card-로프">
            <a:extLst xmlns:a="http://schemas.openxmlformats.org/drawingml/2006/main">
              <a:ext uri="{FF2B5EF4-FFF2-40B4-BE49-F238E27FC236}">
                <a16:creationId xmlns:a16="http://schemas.microsoft.com/office/drawing/2014/main" id="{398EFE10-760D-4D7A-B15E-B06C206E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175" y="1786890"/>
            <a:ext cx="2663825" cy="7501890"/>
          </a:xfrm>
          <a:prstGeom xmlns:a="http://schemas.openxmlformats.org/drawingml/2006/main" prst="roundRect">
            <a:avLst>
              <a:gd name="adj" fmla="val 6436"/>
            </a:avLst>
          </a:prstGeom>
          <a:solidFill xmlns:a="http://schemas.openxmlformats.org/drawingml/2006/main">
            <a:srgbClr val="0E2B38"/>
          </a:solidFill>
          <a:ln xmlns:a="http://schemas.openxmlformats.org/drawingml/2006/main" w="9525">
            <a:solidFill>
              <a:srgbClr val="245867"/>
            </a:solidFill>
            <a:prstDash val="solid"/>
          </a:ln>
        </p:spPr>
      </p:sp>
      <p:pic>
        <p:nvPicPr>
          <p:cNvPr id="11" name="로프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73a8a09454cd9"/>
          <a:stretch xmlns:a="http://schemas.openxmlformats.org/drawingml/2006/main"/>
        </p:blipFill>
        <p:spPr>
          <a:xfrm xmlns:a="http://schemas.openxmlformats.org/drawingml/2006/main">
            <a:off x="3795713" y="1958340"/>
            <a:ext cx="2200275" cy="3143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A2186-5FFB-4C52-B093-3C9D2000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219700"/>
            <a:ext cx="240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로프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E3CBC-B73C-4185-9F24-B1ECCFB9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57850"/>
            <a:ext cx="240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B84B"/>
                </a:solidFill>
              </a:defRPr>
            </a:pPr>
            <a:r>
              <a:rPr sz="3150" b="1">
                <a:solidFill>
                  <a:srgbClr val="F5B84B"/>
                </a:solidFill>
              </a:rPr>
              <a:t>2점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EFB8D-457D-4EC6-8ECA-27BED18F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2484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753D"/>
                </a:solidFill>
              </a:defRPr>
            </a:pPr>
            <a:r>
              <a:rPr sz="1800" b="1">
                <a:solidFill>
                  <a:srgbClr val="B8753D"/>
                </a:solidFill>
              </a:rPr>
              <a:t>24%</a:t>
            </a:r>
          </a:p>
        </p:txBody>
      </p:sp>
      <p:sp>
        <p:nvSpPr>
          <p:cNvPr id="15" name="card-랜턴">
            <a:extLst xmlns:a="http://schemas.openxmlformats.org/drawingml/2006/main">
              <a:ext uri="{FF2B5EF4-FFF2-40B4-BE49-F238E27FC236}">
                <a16:creationId xmlns:a16="http://schemas.microsoft.com/office/drawing/2014/main" id="{1D1004E9-E213-4948-BDB3-36F03FC2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450" y="1786890"/>
            <a:ext cx="2663825" cy="7501890"/>
          </a:xfrm>
          <a:prstGeom xmlns:a="http://schemas.openxmlformats.org/drawingml/2006/main" prst="roundRect">
            <a:avLst>
              <a:gd name="adj" fmla="val 6436"/>
            </a:avLst>
          </a:prstGeom>
          <a:solidFill xmlns:a="http://schemas.openxmlformats.org/drawingml/2006/main">
            <a:srgbClr val="0E2B38"/>
          </a:solidFill>
          <a:ln xmlns:a="http://schemas.openxmlformats.org/drawingml/2006/main" w="9525">
            <a:solidFill>
              <a:srgbClr val="245867"/>
            </a:solidFill>
            <a:prstDash val="solid"/>
          </a:ln>
        </p:spPr>
      </p:sp>
      <p:pic>
        <p:nvPicPr>
          <p:cNvPr id="16" name="랜턴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2d233b1234640"/>
          <a:stretch xmlns:a="http://schemas.openxmlformats.org/drawingml/2006/main"/>
        </p:blipFill>
        <p:spPr>
          <a:xfrm xmlns:a="http://schemas.openxmlformats.org/drawingml/2006/main">
            <a:off x="6634163" y="1958340"/>
            <a:ext cx="2200275" cy="31432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6EE29-8E2F-4006-B62A-7F3A8F8F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19700"/>
            <a:ext cx="240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랜턴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59340E-CE7C-4982-B784-0A44B1A2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657850"/>
            <a:ext cx="240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B84B"/>
                </a:solidFill>
              </a:defRPr>
            </a:pPr>
            <a:r>
              <a:rPr sz="3150" b="1">
                <a:solidFill>
                  <a:srgbClr val="F5B84B"/>
                </a:solidFill>
              </a:rPr>
              <a:t>3점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CA3470-EBB8-4AB1-A673-7F1874A0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62484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1B53A"/>
                </a:solidFill>
              </a:defRPr>
            </a:pPr>
            <a:r>
              <a:rPr sz="1800" b="1">
                <a:solidFill>
                  <a:srgbClr val="E1B53A"/>
                </a:solidFill>
              </a:rPr>
              <a:t>18%</a:t>
            </a:r>
          </a:p>
        </p:txBody>
      </p:sp>
      <p:sp>
        <p:nvSpPr>
          <p:cNvPr id="20" name="card-지도">
            <a:extLst xmlns:a="http://schemas.openxmlformats.org/drawingml/2006/main">
              <a:ext uri="{FF2B5EF4-FFF2-40B4-BE49-F238E27FC236}">
                <a16:creationId xmlns:a16="http://schemas.microsoft.com/office/drawing/2014/main" id="{0C94EA30-CB89-4A7A-BC6A-C4518F82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1786890"/>
            <a:ext cx="2663825" cy="7501890"/>
          </a:xfrm>
          <a:prstGeom xmlns:a="http://schemas.openxmlformats.org/drawingml/2006/main" prst="roundRect">
            <a:avLst>
              <a:gd name="adj" fmla="val 6436"/>
            </a:avLst>
          </a:prstGeom>
          <a:solidFill xmlns:a="http://schemas.openxmlformats.org/drawingml/2006/main">
            <a:srgbClr val="0E2B38"/>
          </a:solidFill>
          <a:ln xmlns:a="http://schemas.openxmlformats.org/drawingml/2006/main" w="9525">
            <a:solidFill>
              <a:srgbClr val="245867"/>
            </a:solidFill>
            <a:prstDash val="solid"/>
          </a:ln>
        </p:spPr>
      </p:sp>
      <p:pic>
        <p:nvPicPr>
          <p:cNvPr id="21" name="지도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fbd2b691c4056"/>
          <a:stretch xmlns:a="http://schemas.openxmlformats.org/drawingml/2006/main"/>
        </p:blipFill>
        <p:spPr>
          <a:xfrm xmlns:a="http://schemas.openxmlformats.org/drawingml/2006/main">
            <a:off x="9453563" y="1958340"/>
            <a:ext cx="2200275" cy="31432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5D0F0-BBEE-4EA2-945D-17DB04F3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19700"/>
            <a:ext cx="240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지도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3FAABB-71D7-4897-90FB-C445B896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657850"/>
            <a:ext cx="240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B84B"/>
                </a:solidFill>
              </a:defRPr>
            </a:pPr>
            <a:r>
              <a:rPr sz="3150" b="1">
                <a:solidFill>
                  <a:srgbClr val="F5B84B"/>
                </a:solidFill>
              </a:rPr>
              <a:t>4점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8EF4C-FB6B-47CD-ACD1-6FD5CD42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62484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65E48"/>
                </a:solidFill>
              </a:defRPr>
            </a:pPr>
            <a:r>
              <a:rPr sz="1800" b="1">
                <a:solidFill>
                  <a:srgbClr val="D65E48"/>
                </a:solidFill>
              </a:rPr>
              <a:t>12%</a:t>
            </a:r>
          </a:p>
        </p:txBody>
      </p:sp>
      <p:sp>
        <p:nvSpPr>
          <p:cNvPr id="25" name="card-나침반">
            <a:extLst xmlns:a="http://schemas.openxmlformats.org/drawingml/2006/main">
              <a:ext uri="{FF2B5EF4-FFF2-40B4-BE49-F238E27FC236}">
                <a16:creationId xmlns:a16="http://schemas.microsoft.com/office/drawing/2014/main" id="{41FA6A90-350B-4E61-A122-C6A01A7B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1786890"/>
            <a:ext cx="2663825" cy="7501890"/>
          </a:xfrm>
          <a:prstGeom xmlns:a="http://schemas.openxmlformats.org/drawingml/2006/main" prst="roundRect">
            <a:avLst>
              <a:gd name="adj" fmla="val 6436"/>
            </a:avLst>
          </a:prstGeom>
          <a:solidFill xmlns:a="http://schemas.openxmlformats.org/drawingml/2006/main">
            <a:srgbClr val="0E2B38"/>
          </a:solidFill>
          <a:ln xmlns:a="http://schemas.openxmlformats.org/drawingml/2006/main" w="9525">
            <a:solidFill>
              <a:srgbClr val="245867"/>
            </a:solidFill>
            <a:prstDash val="solid"/>
          </a:ln>
        </p:spPr>
      </p:sp>
      <p:pic>
        <p:nvPicPr>
          <p:cNvPr id="26" name="나침반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05193ccdd4877"/>
          <a:stretch xmlns:a="http://schemas.openxmlformats.org/drawingml/2006/main"/>
        </p:blipFill>
        <p:spPr>
          <a:xfrm xmlns:a="http://schemas.openxmlformats.org/drawingml/2006/main">
            <a:off x="12292013" y="1958340"/>
            <a:ext cx="2200275" cy="31432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639B47-7796-4816-8C7C-C2218C72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219700"/>
            <a:ext cx="240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나침반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D737A8-7F30-46B3-AEEA-361A28EC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657850"/>
            <a:ext cx="240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B84B"/>
                </a:solidFill>
              </a:defRPr>
            </a:pPr>
            <a:r>
              <a:rPr sz="3150" b="1">
                <a:solidFill>
                  <a:srgbClr val="F5B84B"/>
                </a:solidFill>
              </a:rPr>
              <a:t>5점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5FBD02-7F0D-4E47-87F2-D29006FC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2484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4898D"/>
                </a:solidFill>
              </a:defRPr>
            </a:pPr>
            <a:r>
              <a:rPr sz="1800" b="1">
                <a:solidFill>
                  <a:srgbClr val="34898D"/>
                </a:solidFill>
              </a:rPr>
              <a:t>10%</a:t>
            </a:r>
          </a:p>
        </p:txBody>
      </p:sp>
      <p:sp>
        <p:nvSpPr>
          <p:cNvPr id="30" name="card-깃발">
            <a:extLst xmlns:a="http://schemas.openxmlformats.org/drawingml/2006/main">
              <a:ext uri="{FF2B5EF4-FFF2-40B4-BE49-F238E27FC236}">
                <a16:creationId xmlns:a16="http://schemas.microsoft.com/office/drawing/2014/main" id="{81691CED-1C36-48E3-A967-D731D181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0275" y="1786890"/>
            <a:ext cx="2663825" cy="7501890"/>
          </a:xfrm>
          <a:prstGeom xmlns:a="http://schemas.openxmlformats.org/drawingml/2006/main" prst="roundRect">
            <a:avLst>
              <a:gd name="adj" fmla="val 6436"/>
            </a:avLst>
          </a:prstGeom>
          <a:solidFill xmlns:a="http://schemas.openxmlformats.org/drawingml/2006/main">
            <a:srgbClr val="0E2B38"/>
          </a:solidFill>
          <a:ln xmlns:a="http://schemas.openxmlformats.org/drawingml/2006/main" w="9525">
            <a:solidFill>
              <a:srgbClr val="245867"/>
            </a:solidFill>
            <a:prstDash val="solid"/>
          </a:ln>
        </p:spPr>
      </p:sp>
      <p:pic>
        <p:nvPicPr>
          <p:cNvPr id="31" name="깃발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457831255435a"/>
          <a:stretch xmlns:a="http://schemas.openxmlformats.org/drawingml/2006/main"/>
        </p:blipFill>
        <p:spPr>
          <a:xfrm xmlns:a="http://schemas.openxmlformats.org/drawingml/2006/main">
            <a:off x="15130463" y="1958340"/>
            <a:ext cx="2200275" cy="314325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DEE512-D587-4153-B9DD-861D3C9A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219700"/>
            <a:ext cx="2400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깃발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5C03E6-F5C2-4864-AE59-D3D4EE8F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657850"/>
            <a:ext cx="2400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B84B"/>
                </a:solidFill>
              </a:defRPr>
            </a:pPr>
            <a:r>
              <a:rPr sz="3150" b="1">
                <a:solidFill>
                  <a:srgbClr val="F5B84B"/>
                </a:solidFill>
              </a:rPr>
              <a:t>6점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7DFB9C-5242-48C6-8AC6-32228C91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6248400"/>
            <a:ext cx="24003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D8A43F"/>
                </a:solidFill>
              </a:defRPr>
            </a:pPr>
            <a:r>
              <a:rPr sz="1800" b="1">
                <a:solidFill>
                  <a:srgbClr val="D8A43F"/>
                </a:solidFill>
              </a:rPr>
              <a:t>8%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9A84C2-193D-48BA-8D0F-B35A802D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94869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E2DD"/>
                </a:solidFill>
              </a:defRPr>
            </a:pPr>
            <a:r>
              <a:rPr sz="1800" b="0">
                <a:solidFill>
                  <a:srgbClr val="D8E2DD"/>
                </a:solidFill>
              </a:rPr>
              <a:t>식량 28%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FC99A4-B445-47F7-9059-C6805CE5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94869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B84B"/>
                </a:solidFill>
              </a:defRPr>
            </a:pPr>
            <a:r>
              <a:rPr sz="1800" b="0">
                <a:solidFill>
                  <a:srgbClr val="F5B84B"/>
                </a:solidFill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94FB54-DA9E-4CC8-B33F-F3FB6441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94869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E2DD"/>
                </a:solidFill>
              </a:defRPr>
            </a:pPr>
            <a:r>
              <a:rPr sz="1800" b="0">
                <a:solidFill>
                  <a:srgbClr val="D8E2DD"/>
                </a:solidFill>
              </a:rPr>
              <a:t>로프 24%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C97A84-99D7-4424-951B-9E122888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94869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B84B"/>
                </a:solidFill>
              </a:defRPr>
            </a:pPr>
            <a:r>
              <a:rPr sz="1800" b="0">
                <a:solidFill>
                  <a:srgbClr val="F5B84B"/>
                </a:solidFill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8868F2-9159-4B30-B3CF-BFE6F7EA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94869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E2DD"/>
                </a:solidFill>
              </a:defRPr>
            </a:pPr>
            <a:r>
              <a:rPr sz="1800" b="0">
                <a:solidFill>
                  <a:srgbClr val="D8E2DD"/>
                </a:solidFill>
              </a:rPr>
              <a:t>랜턴 18%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E7B075-3F9B-43C0-B47D-8A344667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94869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B84B"/>
                </a:solidFill>
              </a:defRPr>
            </a:pPr>
            <a:r>
              <a:rPr sz="1800" b="0">
                <a:solidFill>
                  <a:srgbClr val="F5B84B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ABA0F0-56CD-44B0-B764-A6273E7F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9486900"/>
            <a:ext cx="895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E2DD"/>
                </a:solidFill>
              </a:defRPr>
            </a:pPr>
            <a:r>
              <a:rPr sz="1800" b="0">
                <a:solidFill>
                  <a:srgbClr val="D8E2DD"/>
                </a:solidFill>
              </a:rPr>
              <a:t>지도 12%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9816E1-AE7C-4C74-8D3C-A4EE2393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94869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B84B"/>
                </a:solidFill>
              </a:defRPr>
            </a:pPr>
            <a:r>
              <a:rPr sz="1800" b="0">
                <a:solidFill>
                  <a:srgbClr val="F5B84B"/>
                </a:solidFill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3F5B8A-54AE-4D39-B052-A13ADB12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9486900"/>
            <a:ext cx="1123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E2DD"/>
                </a:solidFill>
              </a:defRPr>
            </a:pPr>
            <a:r>
              <a:rPr sz="1800" b="0">
                <a:solidFill>
                  <a:srgbClr val="D8E2DD"/>
                </a:solidFill>
              </a:rPr>
              <a:t>나침반 10%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90800F-7875-424F-A63C-B649F130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9486900"/>
            <a:ext cx="209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5B84B"/>
                </a:solidFill>
              </a:defRPr>
            </a:pPr>
            <a:r>
              <a:rPr sz="1800" b="0">
                <a:solidFill>
                  <a:srgbClr val="F5B84B"/>
                </a:solidFill>
              </a:rPr>
              <a:t>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04C963-77F5-4EF7-A829-C3A8569B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9486900"/>
            <a:ext cx="781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E2DD"/>
                </a:solidFill>
              </a:defRPr>
            </a:pPr>
            <a:r>
              <a:rPr sz="1800" b="0">
                <a:solidFill>
                  <a:srgbClr val="D8E2DD"/>
                </a:solidFill>
              </a:rPr>
              <a:t>깃발 8%</a:t>
            </a:r>
          </a:p>
        </p:txBody>
      </p:sp>
    </p:spTree>
    <p:extLst>
      <p:ext uri="{BB962C8B-B14F-4D97-AF65-F5344CB8AC3E}">
        <p14:creationId xmlns:p14="http://schemas.microsoft.com/office/powerpoint/2010/main" val="7981805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DB0BA3E8-3FC7-4D29-B39E-98FDAE91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8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CAE1BC05-20F0-4764-8E35-4319A5E0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140"/>
          </a:solidFill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8F7306-7AD1-4839-8A87-1F484509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D3140"/>
                </a:solidFill>
              </a:defRPr>
            </a:pPr>
            <a:r>
              <a:rPr sz="4050" b="1">
                <a:solidFill>
                  <a:srgbClr val="0D3140"/>
                </a:solidFill>
              </a:rPr>
              <a:t>탐험 완주 보너스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579308A-3117-4CBC-80AE-EFDCD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684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06C"/>
                </a:solidFill>
              </a:defRPr>
            </a:pPr>
            <a:r>
              <a:rPr sz="1800" b="0">
                <a:solidFill>
                  <a:srgbClr val="64706C"/>
                </a:solidFill>
              </a:rPr>
              <a:t>서로 다른 탐험 카드 6종을 한 세트로 모으면 추가 점수를 줍니다.</a:t>
            </a:r>
          </a:p>
        </p:txBody>
      </p:sp>
      <p:pic>
        <p:nvPicPr>
          <p:cNvPr id="5" name="all-car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686223d4dc47e7"/>
          <a:stretch xmlns:a="http://schemas.openxmlformats.org/drawingml/2006/main"/>
        </p:blipFill>
        <p:spPr>
          <a:xfrm xmlns:a="http://schemas.openxmlformats.org/drawingml/2006/main">
            <a:off x="2022662" y="3028950"/>
            <a:ext cx="14242676" cy="2952750"/>
          </a:xfrm>
          <a:prstGeom xmlns:a="http://schemas.openxmlformats.org/drawingml/2006/main" prst="rect">
            <a:avLst/>
          </a:prstGeom>
        </p:spPr>
      </p:pic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5AA1DFAB-8561-4DA4-BEDC-2B61C707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29350"/>
            <a:ext cx="16840200" cy="96012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8F1DD"/>
          </a:solidFill>
          <a:ln xmlns:a="http://schemas.openxmlformats.org/drawingml/2006/main" w="9525">
            <a:solidFill>
              <a:srgbClr val="E6D6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4494B-FDC9-4304-8C14-DBA9A000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49605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1점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1606F-882B-47A3-9377-14D8440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49605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76508-E167-4959-A7B1-95CD008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9605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2점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D97C13-441D-429A-84D8-606BC8AA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49605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F0D9A4-EAEF-4AFC-9C9D-AC3D0A69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49605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3점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55385-16CE-4BC4-9F63-8A89BAEA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49605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79AFB4-21D9-47CE-9AFF-EF4FEF0C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49605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4점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A05AB-C2CD-4465-8AD3-EC253472D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49605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ED57F6-0E76-4C8C-9A2C-8F6937AC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49605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5점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40739-622D-4E19-915E-881FCD77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49605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08BC35-5F7A-44A7-B1AA-52B73CB3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49605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6점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9495D-F49F-465A-BB74-E2CA176C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9605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+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94C80-9560-420B-BFAA-556DE556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2762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D3140"/>
                </a:solidFill>
              </a:defRPr>
            </a:pPr>
            <a:r>
              <a:rPr sz="2400" b="1">
                <a:solidFill>
                  <a:srgbClr val="0D3140"/>
                </a:solidFill>
              </a:rPr>
              <a:t>완주 보너스 9점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6D1387-C0DD-4F6B-B7DE-A60B51B6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49605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=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B28AD-FDAA-4827-91D9-DD01A9CD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457950"/>
            <a:ext cx="180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673E"/>
                </a:solidFill>
              </a:defRPr>
            </a:pPr>
            <a:r>
              <a:rPr sz="3300" b="1">
                <a:solidFill>
                  <a:srgbClr val="E1673E"/>
                </a:solidFill>
              </a:rPr>
              <a:t>총 30점</a:t>
            </a:r>
          </a:p>
        </p:txBody>
      </p:sp>
      <p:sp>
        <p:nvSpPr>
          <p:cNvPr id="22" name="badge-한 세트 구성">
            <a:extLst xmlns:a="http://schemas.openxmlformats.org/drawingml/2006/main">
              <a:ext uri="{FF2B5EF4-FFF2-40B4-BE49-F238E27FC236}">
                <a16:creationId xmlns:a16="http://schemas.microsoft.com/office/drawing/2014/main" id="{2E28758A-63F3-4295-9FED-830CF3C9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37120"/>
            <a:ext cx="5461000" cy="1074420"/>
          </a:xfrm>
          <a:prstGeom xmlns:a="http://schemas.openxmlformats.org/drawingml/2006/main" prst="roundRect">
            <a:avLst>
              <a:gd name="adj" fmla="val 15957"/>
            </a:avLst>
          </a:prstGeom>
          <a:solidFill xmlns:a="http://schemas.openxmlformats.org/drawingml/2006/main">
            <a:srgbClr val="0D314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986818-EB08-4114-8CD1-171A6A09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581900"/>
            <a:ext cx="5067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B84B"/>
                </a:solidFill>
              </a:defRPr>
            </a:pPr>
            <a:r>
              <a:rPr sz="3150" b="1">
                <a:solidFill>
                  <a:srgbClr val="F5B84B"/>
                </a:solidFill>
              </a:rPr>
              <a:t>6종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BB4D45-D4EE-4D57-9BE2-94145C0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1530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한 세트 구성</a:t>
            </a:r>
          </a:p>
        </p:txBody>
      </p:sp>
      <p:sp>
        <p:nvSpPr>
          <p:cNvPr id="25" name="badge-추가 점수">
            <a:extLst xmlns:a="http://schemas.openxmlformats.org/drawingml/2006/main">
              <a:ext uri="{FF2B5EF4-FFF2-40B4-BE49-F238E27FC236}">
                <a16:creationId xmlns:a16="http://schemas.microsoft.com/office/drawing/2014/main" id="{32E816D2-6F5A-48E3-85DF-F64D5A3FE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7437120"/>
            <a:ext cx="5461000" cy="1074420"/>
          </a:xfrm>
          <a:prstGeom xmlns:a="http://schemas.openxmlformats.org/drawingml/2006/main" prst="roundRect">
            <a:avLst>
              <a:gd name="adj" fmla="val 15957"/>
            </a:avLst>
          </a:prstGeom>
          <a:solidFill xmlns:a="http://schemas.openxmlformats.org/drawingml/2006/main">
            <a:srgbClr val="315746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7245B0-0B5C-48B9-9043-D06C23E5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7581900"/>
            <a:ext cx="5067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B84B"/>
                </a:solidFill>
              </a:defRPr>
            </a:pPr>
            <a:r>
              <a:rPr sz="3150" b="1">
                <a:solidFill>
                  <a:srgbClr val="F5B84B"/>
                </a:solidFill>
              </a:rPr>
              <a:t>+9점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66FB31-24E7-4A66-82E0-04DE41A9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811530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추가 점수</a:t>
            </a:r>
          </a:p>
        </p:txBody>
      </p:sp>
      <p:sp>
        <p:nvSpPr>
          <p:cNvPr id="28" name="badge-세트 총점">
            <a:extLst xmlns:a="http://schemas.openxmlformats.org/drawingml/2006/main">
              <a:ext uri="{FF2B5EF4-FFF2-40B4-BE49-F238E27FC236}">
                <a16:creationId xmlns:a16="http://schemas.microsoft.com/office/drawing/2014/main" id="{89C453E8-F62D-4949-ABDD-448BA2D4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7437120"/>
            <a:ext cx="5461000" cy="1074420"/>
          </a:xfrm>
          <a:prstGeom xmlns:a="http://schemas.openxmlformats.org/drawingml/2006/main" prst="roundRect">
            <a:avLst>
              <a:gd name="adj" fmla="val 15957"/>
            </a:avLst>
          </a:prstGeom>
          <a:solidFill xmlns:a="http://schemas.openxmlformats.org/drawingml/2006/main">
            <a:srgbClr val="E1673E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1C9218-09CB-437E-A475-91E4E396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581900"/>
            <a:ext cx="50673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5B84B"/>
                </a:solidFill>
              </a:defRPr>
            </a:pPr>
            <a:r>
              <a:rPr sz="3150" b="1">
                <a:solidFill>
                  <a:srgbClr val="F5B84B"/>
                </a:solidFill>
              </a:rPr>
              <a:t>30점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8C82EF-E516-4C2F-8B29-B8F53723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8115300"/>
            <a:ext cx="506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세트 총점</a:t>
            </a:r>
          </a:p>
        </p:txBody>
      </p:sp>
    </p:spTree>
    <p:extLst>
      <p:ext uri="{BB962C8B-B14F-4D97-AF65-F5344CB8AC3E}">
        <p14:creationId xmlns:p14="http://schemas.microsoft.com/office/powerpoint/2010/main" val="12547943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8C82671B-5D90-4238-BC3F-6608B205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F2C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320AE68E-C057-4E5B-9A5D-872FA2C9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B84B"/>
          </a:solidFill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BAF1CAF-A62B-42D5-8A5B-45BE82AA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5B84B"/>
                </a:solidFill>
              </a:defRPr>
            </a:pPr>
            <a:r>
              <a:rPr sz="4050" b="1">
                <a:solidFill>
                  <a:srgbClr val="F5B84B"/>
                </a:solidFill>
              </a:rPr>
              <a:t>승패 결과에 따른 카드 랜덤 뽑기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8BC2670-2FCD-402B-9C77-4AD16224C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684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8E2DD"/>
                </a:solidFill>
              </a:defRPr>
            </a:pPr>
            <a:r>
              <a:rPr sz="1800" b="0">
                <a:solidFill>
                  <a:srgbClr val="D8E2DD"/>
                </a:solidFill>
              </a:rPr>
              <a:t>승패가 곧 최종 점수가 되지 않습니다. 뽑기 횟수만 달라집니다.</a:t>
            </a:r>
          </a:p>
        </p:txBody>
      </p:sp>
      <p:sp>
        <p:nvSpPr>
          <p:cNvPr id="5" name="back-grid-panel">
            <a:extLst xmlns:a="http://schemas.openxmlformats.org/drawingml/2006/main">
              <a:ext uri="{FF2B5EF4-FFF2-40B4-BE49-F238E27FC236}">
                <a16:creationId xmlns:a16="http://schemas.microsoft.com/office/drawing/2014/main" id="{A5A3481B-7234-4974-BEAE-8D987E6C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6890"/>
            <a:ext cx="8959780" cy="7966710"/>
          </a:xfrm>
          <a:prstGeom xmlns:a="http://schemas.openxmlformats.org/drawingml/2006/main" prst="roundRect">
            <a:avLst>
              <a:gd name="adj" fmla="val 2630"/>
            </a:avLst>
          </a:prstGeom>
          <a:solidFill xmlns:a="http://schemas.openxmlformats.org/drawingml/2006/main">
            <a:srgbClr val="0E2B38"/>
          </a:solidFill>
          <a:ln xmlns:a="http://schemas.openxmlformats.org/drawingml/2006/main" w="9525">
            <a:solidFill>
              <a:srgbClr val="245867"/>
            </a:solidFill>
            <a:prstDash val="solid"/>
          </a:ln>
        </p:spPr>
      </p:sp>
      <p:pic>
        <p:nvPicPr>
          <p:cNvPr id="6" name="back-gri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57b32c6f9461b"/>
          <a:stretch xmlns:a="http://schemas.openxmlformats.org/drawingml/2006/main"/>
        </p:blipFill>
        <p:spPr>
          <a:xfrm xmlns:a="http://schemas.openxmlformats.org/drawingml/2006/main">
            <a:off x="1009650" y="3580952"/>
            <a:ext cx="8388280" cy="4378586"/>
          </a:xfrm>
          <a:prstGeom xmlns:a="http://schemas.openxmlformats.org/drawingml/2006/main" prst="rect">
            <a:avLst/>
          </a:prstGeom>
        </p:spPr>
      </p:pic>
      <p:sp>
        <p:nvSpPr>
          <p:cNvPr id="7" name="win-draw">
            <a:extLst xmlns:a="http://schemas.openxmlformats.org/drawingml/2006/main">
              <a:ext uri="{FF2B5EF4-FFF2-40B4-BE49-F238E27FC236}">
                <a16:creationId xmlns:a16="http://schemas.microsoft.com/office/drawing/2014/main" id="{9AD5CC9C-E02F-4856-BDC8-03A2BA40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080" y="3808095"/>
            <a:ext cx="7347020" cy="1379220"/>
          </a:xfrm>
          <a:prstGeom xmlns:a="http://schemas.openxmlformats.org/drawingml/2006/main" prst="roundRect">
            <a:avLst>
              <a:gd name="adj" fmla="val 15193"/>
            </a:avLst>
          </a:prstGeom>
          <a:solidFill xmlns:a="http://schemas.openxmlformats.org/drawingml/2006/main">
            <a:srgbClr val="183F37"/>
          </a:solidFill>
          <a:ln xmlns:a="http://schemas.openxmlformats.org/drawingml/2006/main" w="9525">
            <a:solidFill>
              <a:srgbClr val="3D776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3D79E-998F-4C81-9C93-DE2E30C0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229100"/>
            <a:ext cx="1619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승리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13B2F-1BB0-42D1-A08D-5714CC2E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133850"/>
            <a:ext cx="4800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5B84B"/>
                </a:solidFill>
              </a:defRPr>
            </a:pPr>
            <a:r>
              <a:rPr sz="4800" b="1">
                <a:solidFill>
                  <a:srgbClr val="F5B84B"/>
                </a:solidFill>
              </a:rPr>
              <a:t>뽑기 4회</a:t>
            </a:r>
          </a:p>
        </p:txBody>
      </p:sp>
      <p:sp>
        <p:nvSpPr>
          <p:cNvPr id="10" name="lose-draw">
            <a:extLst xmlns:a="http://schemas.openxmlformats.org/drawingml/2006/main">
              <a:ext uri="{FF2B5EF4-FFF2-40B4-BE49-F238E27FC236}">
                <a16:creationId xmlns:a16="http://schemas.microsoft.com/office/drawing/2014/main" id="{BD484CEA-7154-4B38-8868-24BBC7C2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7080" y="5473065"/>
            <a:ext cx="7347020" cy="1379220"/>
          </a:xfrm>
          <a:prstGeom xmlns:a="http://schemas.openxmlformats.org/drawingml/2006/main" prst="roundRect">
            <a:avLst>
              <a:gd name="adj" fmla="val 15193"/>
            </a:avLst>
          </a:prstGeom>
          <a:solidFill xmlns:a="http://schemas.openxmlformats.org/drawingml/2006/main">
            <a:srgbClr val="123746"/>
          </a:solidFill>
          <a:ln xmlns:a="http://schemas.openxmlformats.org/drawingml/2006/main" w="9525">
            <a:solidFill>
              <a:srgbClr val="24586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2E31F-CCFA-417A-AC8A-F39AED14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5886450"/>
            <a:ext cx="1619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패배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6B9C26-2330-4E6C-A163-5377B1D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5791200"/>
            <a:ext cx="48006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5B84B"/>
                </a:solidFill>
              </a:defRPr>
            </a:pPr>
            <a:r>
              <a:rPr sz="4800" b="1">
                <a:solidFill>
                  <a:srgbClr val="F5B84B"/>
                </a:solidFill>
              </a:rPr>
              <a:t>뽑기 2회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C2001B-A48C-4F01-AF7E-6D9420D7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143750"/>
            <a:ext cx="56578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8E2DD"/>
                </a:solidFill>
              </a:defRPr>
            </a:pPr>
            <a:r>
              <a:rPr sz="1950" b="0">
                <a:solidFill>
                  <a:srgbClr val="D8E2DD"/>
                </a:solidFill>
              </a:rPr>
              <a:t>카드는 팀 봉투에 넣고, 계산은 마지막에 진행합니다.</a:t>
            </a:r>
          </a:p>
        </p:txBody>
      </p:sp>
    </p:spTree>
    <p:extLst>
      <p:ext uri="{BB962C8B-B14F-4D97-AF65-F5344CB8AC3E}">
        <p14:creationId xmlns:p14="http://schemas.microsoft.com/office/powerpoint/2010/main" val="63581212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709313CE-AD81-4366-A599-DC69575C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8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AE5DA2D3-88C2-4876-95E6-A902C5A3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140"/>
          </a:solidFill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45135B-AF63-4B7A-B35E-437658C2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D3140"/>
                </a:solidFill>
              </a:defRPr>
            </a:pPr>
            <a:r>
              <a:rPr sz="4050" b="1">
                <a:solidFill>
                  <a:srgbClr val="0D3140"/>
                </a:solidFill>
              </a:rPr>
              <a:t>탐험 카드 랜덤뽑기 예시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C7A74E9-1271-43BC-9DD0-636AF74C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684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06C"/>
                </a:solidFill>
              </a:defRPr>
            </a:pPr>
            <a:r>
              <a:rPr sz="1800" b="0">
                <a:solidFill>
                  <a:srgbClr val="64706C"/>
                </a:solidFill>
              </a:rPr>
              <a:t>승리한 경우 뽑기 4회</a:t>
            </a:r>
          </a:p>
        </p:txBody>
      </p:sp>
      <p:pic>
        <p:nvPicPr>
          <p:cNvPr id="5" name="win-draw-car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c02c5af19c4d6b"/>
          <a:stretch xmlns:a="http://schemas.openxmlformats.org/drawingml/2006/main"/>
        </p:blipFill>
        <p:spPr>
          <a:xfrm xmlns:a="http://schemas.openxmlformats.org/drawingml/2006/main">
            <a:off x="3671047" y="3084195"/>
            <a:ext cx="10945906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C83C9DC5-E6CA-4E8D-8164-54760D3E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6095"/>
            <a:ext cx="16840200" cy="96012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8F1DD"/>
          </a:solidFill>
          <a:ln xmlns:a="http://schemas.openxmlformats.org/drawingml/2006/main" w="9525">
            <a:solidFill>
              <a:srgbClr val="E6D6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FBD7C-6B88-45C1-95E8-E103C34D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71247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1점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3AEF9-FD89-4996-8828-22F84E5D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12470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FECAB-2050-4C7D-B2E1-5CACF2BA7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1247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2점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68215-4790-47B4-BEE3-C7FD48ED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12470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B190E7-1F5E-4076-9C33-0ACA8752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1247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3점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B9A334-BB46-4041-B75B-A34FAA9F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12470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D0ECB9-3DB8-475F-8E6C-725274F0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1247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4점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703780-1AD2-484D-BF85-3C859843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712470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=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66B4A4-A627-440F-9E40-5796F760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086600"/>
            <a:ext cx="180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673E"/>
                </a:solidFill>
              </a:defRPr>
            </a:pPr>
            <a:r>
              <a:rPr sz="3300" b="1">
                <a:solidFill>
                  <a:srgbClr val="E1673E"/>
                </a:solidFill>
              </a:rPr>
              <a:t>총 10점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8AD57-A3EC-460A-A84F-7028062D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53400"/>
            <a:ext cx="16840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06C"/>
                </a:solidFill>
              </a:defRPr>
            </a:pPr>
            <a:r>
              <a:rPr sz="1950" b="0">
                <a:solidFill>
                  <a:srgbClr val="64706C"/>
                </a:solidFill>
              </a:rPr>
              <a:t>승리팀이라고 항상 높은 점수를 얻는 것은 아닙니다. 뽑기 결과가 마지막까지 긴장감을 만듭니다.</a:t>
            </a:r>
          </a:p>
        </p:txBody>
      </p:sp>
    </p:spTree>
    <p:extLst>
      <p:ext uri="{BB962C8B-B14F-4D97-AF65-F5344CB8AC3E}">
        <p14:creationId xmlns:p14="http://schemas.microsoft.com/office/powerpoint/2010/main" val="15492949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6E05910-B6D0-4326-B2C4-3BF961A31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8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3EDAA17A-CF8F-4C01-9744-05052E19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140"/>
          </a:solidFill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3FAEDBE-5D59-4037-A9B3-02FFEE8C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D3140"/>
                </a:solidFill>
              </a:defRPr>
            </a:pPr>
            <a:r>
              <a:rPr sz="4050" b="1">
                <a:solidFill>
                  <a:srgbClr val="0D3140"/>
                </a:solidFill>
              </a:rPr>
              <a:t>탐험 카드 랜덤뽑기 예시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C5E8C12-01C7-4383-88C3-B0EB8B93A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684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06C"/>
                </a:solidFill>
              </a:defRPr>
            </a:pPr>
            <a:r>
              <a:rPr sz="1800" b="0">
                <a:solidFill>
                  <a:srgbClr val="64706C"/>
                </a:solidFill>
              </a:rPr>
              <a:t>패배한 경우 뽑기 2회</a:t>
            </a:r>
          </a:p>
        </p:txBody>
      </p:sp>
      <p:pic>
        <p:nvPicPr>
          <p:cNvPr id="5" name="lose-draw-card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4eb3f5c714d36"/>
          <a:stretch xmlns:a="http://schemas.openxmlformats.org/drawingml/2006/main"/>
        </p:blipFill>
        <p:spPr>
          <a:xfrm xmlns:a="http://schemas.openxmlformats.org/drawingml/2006/main">
            <a:off x="6468035" y="3084195"/>
            <a:ext cx="5351929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formula">
            <a:extLst xmlns:a="http://schemas.openxmlformats.org/drawingml/2006/main">
              <a:ext uri="{FF2B5EF4-FFF2-40B4-BE49-F238E27FC236}">
                <a16:creationId xmlns:a16="http://schemas.microsoft.com/office/drawing/2014/main" id="{F26B1961-80DE-4977-8F25-CF6AC18D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6095"/>
            <a:ext cx="16840200" cy="96012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8F1DD"/>
          </a:solidFill>
          <a:ln xmlns:a="http://schemas.openxmlformats.org/drawingml/2006/main" w="9525">
            <a:solidFill>
              <a:srgbClr val="E6D6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A7DD7-D825-4C08-99E8-4CDF2542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1247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5점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E3A9C8-D26F-44BB-9121-0CE3FA34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712470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70ED6-681E-4FF5-9973-82DDEADC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7124700"/>
            <a:ext cx="742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D3140"/>
                </a:solidFill>
              </a:defRPr>
            </a:pPr>
            <a:r>
              <a:rPr sz="2700" b="1">
                <a:solidFill>
                  <a:srgbClr val="0D3140"/>
                </a:solidFill>
              </a:rPr>
              <a:t>6점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493C5-C231-4C96-AF0D-659CF985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7124700"/>
            <a:ext cx="28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D6922E"/>
                </a:solidFill>
              </a:defRPr>
            </a:pPr>
            <a:r>
              <a:rPr sz="2850" b="1">
                <a:solidFill>
                  <a:srgbClr val="D6922E"/>
                </a:solidFill>
              </a:rPr>
              <a:t>=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0B675B-D061-4D13-90AF-52ABB075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7086600"/>
            <a:ext cx="1809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673E"/>
                </a:solidFill>
              </a:defRPr>
            </a:pPr>
            <a:r>
              <a:rPr sz="3300" b="1">
                <a:solidFill>
                  <a:srgbClr val="E1673E"/>
                </a:solidFill>
              </a:rPr>
              <a:t>총 11점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433DC-B372-47C5-9B3E-6771E962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153400"/>
            <a:ext cx="16840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06C"/>
                </a:solidFill>
              </a:defRPr>
            </a:pPr>
            <a:r>
              <a:rPr sz="1950" b="0">
                <a:solidFill>
                  <a:srgbClr val="64706C"/>
                </a:solidFill>
              </a:rPr>
              <a:t>패배팀도 좋은 카드를 뽑을 수 있습니다. 그래서 참여를 중간에 포기하지 않게 됩니다.</a:t>
            </a:r>
          </a:p>
        </p:txBody>
      </p:sp>
    </p:spTree>
    <p:extLst>
      <p:ext uri="{BB962C8B-B14F-4D97-AF65-F5344CB8AC3E}">
        <p14:creationId xmlns:p14="http://schemas.microsoft.com/office/powerpoint/2010/main" val="1378896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E1C73B9A-F562-4131-8026-87A88B57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8"/>
          </a:solidFill>
        </p:spPr>
      </p:sp>
      <p:sp>
        <p:nvSpPr>
          <p:cNvPr id="2" name="top-band">
            <a:extLst xmlns:a="http://schemas.openxmlformats.org/drawingml/2006/main">
              <a:ext uri="{FF2B5EF4-FFF2-40B4-BE49-F238E27FC236}">
                <a16:creationId xmlns:a16="http://schemas.microsoft.com/office/drawing/2014/main" id="{B5ECCFB6-76D4-4C93-950D-BB975C65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140"/>
          </a:solidFill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A657B0-7241-417E-9825-5CD459A1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D3140"/>
                </a:solidFill>
              </a:defRPr>
            </a:pPr>
            <a:r>
              <a:rPr sz="4050" b="1">
                <a:solidFill>
                  <a:srgbClr val="0D3140"/>
                </a:solidFill>
              </a:rPr>
              <a:t>승패 결과에 따른 조별 랜덤뽑기 최종 예시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EC3B375-743E-468C-8F24-D75252E0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1684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06C"/>
                </a:solidFill>
              </a:defRPr>
            </a:pPr>
            <a:r>
              <a:rPr sz="1800" b="0">
                <a:solidFill>
                  <a:srgbClr val="64706C"/>
                </a:solidFill>
              </a:rPr>
              <a:t>기본 점수와 완주 보너스를 더해 마지막에 한 번에 공개합니다.</a:t>
            </a:r>
          </a:p>
        </p:txBody>
      </p:sp>
      <p:sp>
        <p:nvSpPr>
          <p:cNvPr id="5" name="team-1">
            <a:extLst xmlns:a="http://schemas.openxmlformats.org/drawingml/2006/main">
              <a:ext uri="{FF2B5EF4-FFF2-40B4-BE49-F238E27FC236}">
                <a16:creationId xmlns:a16="http://schemas.microsoft.com/office/drawing/2014/main" id="{1451D485-CC21-46C4-9433-0D917D8B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0945"/>
            <a:ext cx="10310813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0A9"/>
            </a:solidFill>
            <a:prstDash val="solid"/>
          </a:ln>
        </p:spPr>
      </p:sp>
      <p:sp>
        <p:nvSpPr>
          <p:cNvPr id="6" name="team-chip-1">
            <a:extLst xmlns:a="http://schemas.openxmlformats.org/drawingml/2006/main">
              <a:ext uri="{FF2B5EF4-FFF2-40B4-BE49-F238E27FC236}">
                <a16:creationId xmlns:a16="http://schemas.microsoft.com/office/drawing/2014/main" id="{5493FA5F-40C2-4258-B073-0B86543E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914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1673E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226D3-21DF-40B7-9857-BD180D46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24300"/>
            <a:ext cx="91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1조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1AC166-5592-4870-BE85-B3267850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3860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3140"/>
                </a:solidFill>
              </a:defRPr>
            </a:pPr>
            <a:r>
              <a:rPr sz="2100" b="1">
                <a:solidFill>
                  <a:srgbClr val="0D3140"/>
                </a:solidFill>
              </a:rPr>
              <a:t>뽑은 카드 14장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7C205-74DB-423F-BB1B-C882D674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025"/>
                </a:solidFill>
              </a:defRPr>
            </a:pPr>
            <a:r>
              <a:rPr sz="2100" b="1">
                <a:solidFill>
                  <a:srgbClr val="122025"/>
                </a:solidFill>
              </a:rPr>
              <a:t>기본 54점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16CE95-937A-47F7-98ED-6C46D939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576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5746"/>
                </a:solidFill>
              </a:defRPr>
            </a:pPr>
            <a:r>
              <a:rPr sz="1800" b="0">
                <a:solidFill>
                  <a:srgbClr val="315746"/>
                </a:solidFill>
              </a:rPr>
              <a:t>+ 완주 보너스(2회 × 9점)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6AEF7-F38A-4655-86B7-AD6FF630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00500"/>
            <a:ext cx="1238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1673E"/>
                </a:solidFill>
              </a:defRPr>
            </a:pPr>
            <a:r>
              <a:rPr sz="2550" b="1">
                <a:solidFill>
                  <a:srgbClr val="E1673E"/>
                </a:solidFill>
              </a:rPr>
              <a:t>= 72점</a:t>
            </a:r>
          </a:p>
        </p:txBody>
      </p:sp>
      <p:sp>
        <p:nvSpPr>
          <p:cNvPr id="12" name="team-2">
            <a:extLst xmlns:a="http://schemas.openxmlformats.org/drawingml/2006/main">
              <a:ext uri="{FF2B5EF4-FFF2-40B4-BE49-F238E27FC236}">
                <a16:creationId xmlns:a16="http://schemas.microsoft.com/office/drawing/2014/main" id="{9A74AF6B-6102-4F19-A8FE-533669DC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8695"/>
            <a:ext cx="10310813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0A9"/>
            </a:solidFill>
            <a:prstDash val="solid"/>
          </a:ln>
        </p:spPr>
      </p:sp>
      <p:sp>
        <p:nvSpPr>
          <p:cNvPr id="13" name="team-chip-2">
            <a:extLst xmlns:a="http://schemas.openxmlformats.org/drawingml/2006/main">
              <a:ext uri="{FF2B5EF4-FFF2-40B4-BE49-F238E27FC236}">
                <a16:creationId xmlns:a16="http://schemas.microsoft.com/office/drawing/2014/main" id="{BB574340-6DE6-4B97-9CCE-681850E9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914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D314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2D37EC-56B3-4B6D-9BF3-46652AE2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72050"/>
            <a:ext cx="91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2조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706F6B-0B39-4A2A-88EA-6ADE59C0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08635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3140"/>
                </a:solidFill>
              </a:defRPr>
            </a:pPr>
            <a:r>
              <a:rPr sz="2100" b="1">
                <a:solidFill>
                  <a:srgbClr val="0D3140"/>
                </a:solidFill>
              </a:rPr>
              <a:t>뽑은 카드 18장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C23D1E-1E52-4788-AC7A-D88CD6BE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863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025"/>
                </a:solidFill>
              </a:defRPr>
            </a:pPr>
            <a:r>
              <a:rPr sz="2100" b="1">
                <a:solidFill>
                  <a:srgbClr val="122025"/>
                </a:solidFill>
              </a:rPr>
              <a:t>기본 51점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67E4E-7F2A-40EF-95BF-794959E6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1054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15746"/>
                </a:solidFill>
              </a:defRPr>
            </a:pPr>
            <a:r>
              <a:rPr sz="1800" b="0">
                <a:solidFill>
                  <a:srgbClr val="315746"/>
                </a:solidFill>
              </a:rPr>
              <a:t>+ 완주 보너스(2회 × 9점)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897996-E247-4BAE-8D0A-FDDBFE66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48250"/>
            <a:ext cx="1238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1673E"/>
                </a:solidFill>
              </a:defRPr>
            </a:pPr>
            <a:r>
              <a:rPr sz="2550" b="1">
                <a:solidFill>
                  <a:srgbClr val="E1673E"/>
                </a:solidFill>
              </a:rPr>
              <a:t>= 69점</a:t>
            </a:r>
          </a:p>
        </p:txBody>
      </p:sp>
      <p:sp>
        <p:nvSpPr>
          <p:cNvPr id="19" name="team-3">
            <a:extLst xmlns:a="http://schemas.openxmlformats.org/drawingml/2006/main">
              <a:ext uri="{FF2B5EF4-FFF2-40B4-BE49-F238E27FC236}">
                <a16:creationId xmlns:a16="http://schemas.microsoft.com/office/drawing/2014/main" id="{230B3D29-04FF-4F74-94D6-44A48AE2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6445"/>
            <a:ext cx="10310813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0A9"/>
            </a:solidFill>
            <a:prstDash val="solid"/>
          </a:ln>
        </p:spPr>
      </p:sp>
      <p:sp>
        <p:nvSpPr>
          <p:cNvPr id="20" name="team-chip-3">
            <a:extLst xmlns:a="http://schemas.openxmlformats.org/drawingml/2006/main">
              <a:ext uri="{FF2B5EF4-FFF2-40B4-BE49-F238E27FC236}">
                <a16:creationId xmlns:a16="http://schemas.microsoft.com/office/drawing/2014/main" id="{FFEBDEB1-4C05-4E5D-90BB-EE45191D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19800"/>
            <a:ext cx="914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315746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29B3D-667C-48D9-BE88-232C9F97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19800"/>
            <a:ext cx="91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51FDCF-7D75-457F-9CE5-25899C24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3410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3140"/>
                </a:solidFill>
              </a:defRPr>
            </a:pPr>
            <a:r>
              <a:rPr sz="2100" b="1">
                <a:solidFill>
                  <a:srgbClr val="0D3140"/>
                </a:solidFill>
              </a:rPr>
              <a:t>뽑은 카드 12장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E19A7-A50E-423D-9612-76055467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13410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025"/>
                </a:solidFill>
              </a:defRPr>
            </a:pPr>
            <a:r>
              <a:rPr sz="2100" b="1">
                <a:solidFill>
                  <a:srgbClr val="122025"/>
                </a:solidFill>
              </a:rPr>
              <a:t>기본 32점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591E3D-7445-4911-814F-B8B34A0E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5315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06C"/>
                </a:solidFill>
              </a:defRPr>
            </a:pPr>
            <a:r>
              <a:rPr sz="1800" b="0">
                <a:solidFill>
                  <a:srgbClr val="64706C"/>
                </a:solidFill>
              </a:rPr>
              <a:t>완주 보너스 없음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4C8D1A-FE06-4189-8DC6-F0C3C0A8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096000"/>
            <a:ext cx="1238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1673E"/>
                </a:solidFill>
              </a:defRPr>
            </a:pPr>
            <a:r>
              <a:rPr sz="2550" b="1">
                <a:solidFill>
                  <a:srgbClr val="E1673E"/>
                </a:solidFill>
              </a:rPr>
              <a:t>= 32점</a:t>
            </a:r>
          </a:p>
        </p:txBody>
      </p:sp>
      <p:sp>
        <p:nvSpPr>
          <p:cNvPr id="26" name="team-4">
            <a:extLst xmlns:a="http://schemas.openxmlformats.org/drawingml/2006/main">
              <a:ext uri="{FF2B5EF4-FFF2-40B4-BE49-F238E27FC236}">
                <a16:creationId xmlns:a16="http://schemas.microsoft.com/office/drawing/2014/main" id="{A1DAAC90-357A-4D29-AF36-A5344EC9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94195"/>
            <a:ext cx="10310813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D0A9"/>
            </a:solidFill>
            <a:prstDash val="solid"/>
          </a:ln>
        </p:spPr>
      </p:sp>
      <p:sp>
        <p:nvSpPr>
          <p:cNvPr id="27" name="team-chip-4">
            <a:extLst xmlns:a="http://schemas.openxmlformats.org/drawingml/2006/main">
              <a:ext uri="{FF2B5EF4-FFF2-40B4-BE49-F238E27FC236}">
                <a16:creationId xmlns:a16="http://schemas.microsoft.com/office/drawing/2014/main" id="{C3108A02-1261-4ED1-B196-C4DBBC12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9144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D5A5E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8CA87-C5BC-4E2C-BD1F-24CB2640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067550"/>
            <a:ext cx="91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4조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51D3AC-260E-44B8-B2CF-D86D7296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18185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D3140"/>
                </a:solidFill>
              </a:defRPr>
            </a:pPr>
            <a:r>
              <a:rPr sz="2100" b="1">
                <a:solidFill>
                  <a:srgbClr val="0D3140"/>
                </a:solidFill>
              </a:rPr>
              <a:t>뽑은 카드 21장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E4D000-B01A-4DEC-8AAC-33F05AD0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181850"/>
            <a:ext cx="1428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22025"/>
                </a:solidFill>
              </a:defRPr>
            </a:pPr>
            <a:r>
              <a:rPr sz="2100" b="1">
                <a:solidFill>
                  <a:srgbClr val="122025"/>
                </a:solidFill>
              </a:rPr>
              <a:t>기본 40점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09E332-2625-479B-978D-D162B1C3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7200900"/>
            <a:ext cx="3048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4706C"/>
                </a:solidFill>
              </a:defRPr>
            </a:pPr>
            <a:r>
              <a:rPr sz="1800" b="0">
                <a:solidFill>
                  <a:srgbClr val="64706C"/>
                </a:solidFill>
              </a:rPr>
              <a:t>완주 보너스 없음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7EBDF4-6505-43D4-AFCE-4C1F04E1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7143750"/>
            <a:ext cx="1238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1673E"/>
                </a:solidFill>
              </a:defRPr>
            </a:pPr>
            <a:r>
              <a:rPr sz="2550" b="1">
                <a:solidFill>
                  <a:srgbClr val="E1673E"/>
                </a:solidFill>
              </a:rPr>
              <a:t>= 40점</a:t>
            </a:r>
          </a:p>
        </p:txBody>
      </p:sp>
      <p:sp>
        <p:nvSpPr>
          <p:cNvPr id="33" name="final-note">
            <a:extLst xmlns:a="http://schemas.openxmlformats.org/drawingml/2006/main">
              <a:ext uri="{FF2B5EF4-FFF2-40B4-BE49-F238E27FC236}">
                <a16:creationId xmlns:a16="http://schemas.microsoft.com/office/drawing/2014/main" id="{E57F9B47-0D12-4B2B-8148-27675F52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7613" y="1786890"/>
            <a:ext cx="6186488" cy="7966710"/>
          </a:xfrm>
          <a:prstGeom xmlns:a="http://schemas.openxmlformats.org/drawingml/2006/main" prst="roundRect">
            <a:avLst>
              <a:gd name="adj" fmla="val 3387"/>
            </a:avLst>
          </a:prstGeom>
          <a:solidFill xmlns:a="http://schemas.openxmlformats.org/drawingml/2006/main">
            <a:srgbClr val="0D3140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D96768-9F5C-44B1-BB03-3FB634D2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4629150"/>
            <a:ext cx="561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5B84B"/>
                </a:solidFill>
              </a:defRPr>
            </a:pPr>
            <a:r>
              <a:rPr sz="2550" b="1">
                <a:solidFill>
                  <a:srgbClr val="F5B84B"/>
                </a:solidFill>
              </a:rPr>
              <a:t>운영 포인트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1DA4B6-B1E3-4403-865B-93DCBEE0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219700"/>
            <a:ext cx="561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라운드 중에는 카드만 지급합니다.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C60726-2E6E-43B0-ADD6-1A2587435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753100"/>
            <a:ext cx="5619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마지막에 팀별 봉투를 열고 직접 합산합니다.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C67AB9-B24E-44D3-B426-1C3AF66B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286500"/>
            <a:ext cx="5619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점수 공개 후에는 참여 행동과 팀 협업을 연결해 마무리합니다.</a:t>
            </a:r>
          </a:p>
        </p:txBody>
      </p:sp>
    </p:spTree>
    <p:extLst>
      <p:ext uri="{BB962C8B-B14F-4D97-AF65-F5344CB8AC3E}">
        <p14:creationId xmlns:p14="http://schemas.microsoft.com/office/powerpoint/2010/main" val="15589467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2026-05-18T13:06:43.2910000Z</dcterms:created>
  <dcterms:modified xsi:type="dcterms:W3CDTF">2026-05-18T13:06:43.2910000Z</dcterms:modified>
</coreProperties>
</file>