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840480"/>
            <a:ext cx="731520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4800" b="1">
                <a:solidFill>
                  <a:srgbClr val="FFFFFF"/>
                </a:solidFill>
                <a:latin typeface="Pretendard Black"/>
              </a:rPr>
              <a:t>AI 기본 관점 및 활용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200" b="0">
                <a:solidFill>
                  <a:srgbClr val="FFFFFF"/>
                </a:solidFill>
                <a:latin typeface="Pretendard"/>
              </a:rPr>
              <a:t>Agentic AI 실습 운영 통합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004291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/>
            <a:r>
              <a:rPr sz="4200" b="1" dirty="0">
                <a:solidFill>
                  <a:srgbClr val="002060"/>
                </a:solidFill>
                <a:latin typeface="Pretendard Black"/>
              </a:rPr>
              <a:t>01. </a:t>
            </a:r>
            <a:r>
              <a:rPr sz="4200" b="1" dirty="0" err="1">
                <a:solidFill>
                  <a:srgbClr val="002060"/>
                </a:solidFill>
                <a:latin typeface="Pretendard Black"/>
              </a:rPr>
              <a:t>참가자</a:t>
            </a:r>
            <a:r>
              <a:rPr sz="4200" b="1" dirty="0">
                <a:solidFill>
                  <a:srgbClr val="002060"/>
                </a:solidFill>
                <a:latin typeface="Pretendard Black"/>
              </a:rPr>
              <a:t> </a:t>
            </a:r>
            <a:r>
              <a:rPr sz="4200" b="1" dirty="0" err="1">
                <a:solidFill>
                  <a:srgbClr val="002060"/>
                </a:solidFill>
                <a:latin typeface="Pretendard Black"/>
              </a:rPr>
              <a:t>안내문</a:t>
            </a:r>
            <a:endParaRPr sz="4200" b="1" dirty="0">
              <a:solidFill>
                <a:srgbClr val="002060"/>
              </a:solidFill>
              <a:latin typeface="Pretendard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2060"/>
                </a:solidFill>
                <a:latin typeface="Pretendard Black"/>
              </a:rPr>
              <a:t>교육의 목적: 도구가 아닌 '판단'의 전수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/>
            <a:r>
              <a:rPr sz="2200" b="1">
                <a:solidFill>
                  <a:srgbClr val="3B3838"/>
                </a:solidFill>
                <a:latin typeface="Pretendard"/>
              </a:rPr>
              <a:t>"기능의 학습은 유튜브로 가능하지만,</a:t>
            </a:r>
            <a:br/>
            <a:r>
              <a:rPr sz="2200" b="1">
                <a:solidFill>
                  <a:srgbClr val="3B3838"/>
                </a:solidFill>
                <a:latin typeface="Pretendard"/>
              </a:rPr>
              <a:t>일을 맡기는 판단의 기준은 오직 현장에서만 전수됩니다."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2060"/>
                </a:solidFill>
                <a:latin typeface="Pretendard Black"/>
              </a:rPr>
              <a:t>참가자 필수 실습 규칙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13561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보안 최우선: 회사 실제 데이터 사용 절대 금지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70761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승인 루프: AI의 액션은 반드시 사용자의 '확인' 후 진행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27961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목표 지점: 나만의 '업무 적용 문장' 1개 완성이 유일한 합격점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10837" y="2281382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/>
            <a:r>
              <a:rPr sz="4200" b="1" dirty="0">
                <a:solidFill>
                  <a:srgbClr val="002060"/>
                </a:solidFill>
                <a:latin typeface="Pretendard Black"/>
              </a:rPr>
              <a:t>02. </a:t>
            </a:r>
            <a:r>
              <a:rPr sz="4200" b="1" dirty="0" err="1">
                <a:solidFill>
                  <a:srgbClr val="002060"/>
                </a:solidFill>
                <a:latin typeface="Pretendard Black"/>
              </a:rPr>
              <a:t>운영</a:t>
            </a:r>
            <a:r>
              <a:rPr sz="4200" b="1" dirty="0">
                <a:solidFill>
                  <a:srgbClr val="002060"/>
                </a:solidFill>
                <a:latin typeface="Pretendard Black"/>
              </a:rPr>
              <a:t> </a:t>
            </a:r>
            <a:r>
              <a:rPr sz="4200" b="1" dirty="0" err="1">
                <a:solidFill>
                  <a:srgbClr val="002060"/>
                </a:solidFill>
                <a:latin typeface="Pretendard Black"/>
              </a:rPr>
              <a:t>체크리스트</a:t>
            </a:r>
            <a:endParaRPr sz="4200" b="1" dirty="0">
              <a:solidFill>
                <a:srgbClr val="002060"/>
              </a:solidFill>
              <a:latin typeface="Pretendard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2060"/>
                </a:solidFill>
                <a:latin typeface="Pretendard Black"/>
              </a:rPr>
              <a:t>점검 항목: 설치 전/중 (Pre-flight)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135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강의장 내 모든 좌석 전원 박스 및 어댑터 연결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8855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와이파이 접속 안정성 및 참가자 브라우저 최신화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4575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로그인 가능 계정 사전 로그인 완료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295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800" b="0" dirty="0" err="1">
                <a:solidFill>
                  <a:srgbClr val="3B3838"/>
                </a:solidFill>
                <a:latin typeface="Pretendard"/>
              </a:rPr>
              <a:t>샘플</a:t>
            </a:r>
            <a:r>
              <a:rPr sz="1800" b="0" dirty="0">
                <a:solidFill>
                  <a:srgbClr val="3B3838"/>
                </a:solidFill>
                <a:latin typeface="Pretendard"/>
              </a:rPr>
              <a:t> </a:t>
            </a:r>
            <a:r>
              <a:rPr sz="1800" b="0" dirty="0" err="1">
                <a:solidFill>
                  <a:srgbClr val="3B3838"/>
                </a:solidFill>
                <a:latin typeface="Pretendard"/>
              </a:rPr>
              <a:t>폴더</a:t>
            </a:r>
            <a:r>
              <a:rPr sz="1800" b="0" dirty="0">
                <a:solidFill>
                  <a:srgbClr val="3B3838"/>
                </a:solidFill>
                <a:latin typeface="Pretendard"/>
              </a:rPr>
              <a:t>(Input/Output) </a:t>
            </a:r>
            <a:r>
              <a:rPr sz="1800" b="0" dirty="0" err="1">
                <a:solidFill>
                  <a:srgbClr val="3B3838"/>
                </a:solidFill>
                <a:latin typeface="Pretendard"/>
              </a:rPr>
              <a:t>정상</a:t>
            </a:r>
            <a:r>
              <a:rPr sz="1800" b="0" dirty="0">
                <a:solidFill>
                  <a:srgbClr val="3B3838"/>
                </a:solidFill>
                <a:latin typeface="Pretendard"/>
              </a:rPr>
              <a:t> </a:t>
            </a:r>
            <a:r>
              <a:rPr sz="1800" b="0" dirty="0" err="1">
                <a:solidFill>
                  <a:srgbClr val="3B3838"/>
                </a:solidFill>
                <a:latin typeface="Pretendard"/>
              </a:rPr>
              <a:t>연동</a:t>
            </a:r>
            <a:r>
              <a:rPr sz="1800" b="0" dirty="0">
                <a:solidFill>
                  <a:srgbClr val="3B3838"/>
                </a:solidFill>
                <a:latin typeface="Pretendard"/>
              </a:rPr>
              <a:t> 및 </a:t>
            </a:r>
            <a:r>
              <a:rPr sz="1800" b="0" dirty="0" err="1">
                <a:solidFill>
                  <a:srgbClr val="3B3838"/>
                </a:solidFill>
                <a:latin typeface="Pretendard"/>
              </a:rPr>
              <a:t>권한</a:t>
            </a:r>
            <a:endParaRPr sz="1800" b="0" dirty="0">
              <a:solidFill>
                <a:srgbClr val="3B3838"/>
              </a:solidFill>
              <a:latin typeface="Pretendar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356015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운영체제별 설치 파일 배포 및 첫 실행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2060"/>
                </a:solidFill>
                <a:latin typeface="Pretendard Black"/>
              </a:rPr>
              <a:t>점검 항목: 안전 세팅 및 마무리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2211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실제 데이터 사용 금지 육성 공지 (최소 2회)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7931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Agentic AI '자동 실행' 해제 및 '승인 대기' 상태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3651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파일 생성 경로가 output 폴더로 고정되었는지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9371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개별 적용 문장 작성 및 강사 피드백 완료 여부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50917"/>
            <a:ext cx="182880" cy="182880"/>
          </a:xfrm>
          <a:prstGeom prst="rect">
            <a:avLst/>
          </a:prstGeom>
          <a:noFill/>
          <a:ln w="19050">
            <a:solidFill>
              <a:srgbClr val="3B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800" b="0">
                <a:solidFill>
                  <a:srgbClr val="3B3838"/>
                </a:solidFill>
                <a:latin typeface="Pretendard"/>
              </a:rPr>
              <a:t>실습 성공 판정 및 세션 클로징 진행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161309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/>
            <a:r>
              <a:rPr sz="4200" b="1" dirty="0">
                <a:solidFill>
                  <a:srgbClr val="002060"/>
                </a:solidFill>
                <a:latin typeface="Pretendard Black"/>
              </a:rPr>
              <a:t>03. </a:t>
            </a:r>
            <a:r>
              <a:rPr sz="4200" b="1" dirty="0" err="1">
                <a:solidFill>
                  <a:srgbClr val="002060"/>
                </a:solidFill>
                <a:latin typeface="Pretendard Black"/>
              </a:rPr>
              <a:t>리스크</a:t>
            </a:r>
            <a:r>
              <a:rPr sz="4200" b="1" dirty="0">
                <a:solidFill>
                  <a:srgbClr val="002060"/>
                </a:solidFill>
                <a:latin typeface="Pretendard Black"/>
              </a:rPr>
              <a:t> </a:t>
            </a:r>
            <a:r>
              <a:rPr sz="4200" b="1" dirty="0" err="1">
                <a:solidFill>
                  <a:srgbClr val="002060"/>
                </a:solidFill>
                <a:latin typeface="Pretendard Black"/>
              </a:rPr>
              <a:t>대응표</a:t>
            </a:r>
            <a:endParaRPr sz="4200" b="1" dirty="0">
              <a:solidFill>
                <a:srgbClr val="002060"/>
              </a:solidFill>
              <a:latin typeface="Pretendard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2060"/>
                </a:solidFill>
                <a:latin typeface="Pretendard Black"/>
              </a:rPr>
              <a:t>현장 장애 대응 시나리오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Pretendard Black"/>
                        </a:rPr>
                        <a:t>상황 및 전략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Pretendard Black"/>
                        </a:rPr>
                        <a:t>참가자 대응 메시지 (말처방)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설치/실행 불가</a:t>
                      </a:r>
                    </a:p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(페어 실습 전환)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"실행 자체보다 구조를 짜는 '검토자'의 역할이 학습의 80%입니다."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인터넷 장애</a:t>
                      </a:r>
                    </a:p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(아날로그 설계)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"기술이 멈춰도 생각은 멈추지 않습니다. 종이에 승인 절차를 먼저 그려보세요."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보안 위반 우려</a:t>
                      </a:r>
                    </a:p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(즉시 통제)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"우리를 지키는 것은 신뢰할 수 있는 도구가 아니라 우리의 판단 원칙입니다."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심화도구 난항</a:t>
                      </a:r>
                    </a:p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(시연 대체)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"엔진을 직접 깎지 않아도 운용법을 아는 것만으로 여러분은 유능한 리더입니다."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설계 막막함</a:t>
                      </a:r>
                    </a:p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(관점 질문)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B3838"/>
                          </a:solidFill>
                          <a:latin typeface="Pretendard"/>
                        </a:rPr>
                        <a:t>"정답은 AI에게 묻지 마세요. 본인이 지켜야 할 '최소 기준'이 무엇인지 정의하세요."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59891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3200" b="1">
                <a:solidFill>
                  <a:srgbClr val="FFFFFF"/>
                </a:solidFill>
                <a:latin typeface="Pretendard Black"/>
              </a:rPr>
              <a:t>"AI의 기술력보다 당신의 질문력이 현장을 바꿉니다."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324</Words>
  <Application>Microsoft Office PowerPoint</Application>
  <PresentationFormat>화면 슬라이드 쇼(4:3)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Pretendard</vt:lpstr>
      <vt:lpstr>Pretendard Black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종목 전</cp:lastModifiedBy>
  <cp:revision>2</cp:revision>
  <dcterms:created xsi:type="dcterms:W3CDTF">2013-01-27T09:14:16Z</dcterms:created>
  <dcterms:modified xsi:type="dcterms:W3CDTF">2026-04-26T08:51:13Z</dcterms:modified>
  <cp:category/>
</cp:coreProperties>
</file>