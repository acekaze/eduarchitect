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파트는 개발 도구 소개가 아니라 AI 활용 방식의 다음 단계로 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중요한 것은 AI가 한 번 답하고 끝나는 것이 아니라 반복한다는 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에이전트가 반복할수록 사람의 판단 조건도 명료해야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550" dirty="0"/>
          </a:p>
        </p:txBody>
      </p:sp>
      <p:pic>
        <p:nvPicPr>
          <p:cNvPr id="4" name="Image 0" descr="C:/코딩/교육설계/agentic_ai_module/assets/cover_agen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4434840" cy="2953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176272"/>
            <a:ext cx="5440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87552" y="3456432"/>
            <a:ext cx="5257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답을 받는 AI에서, 일을 맡기는 AI로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914400" y="2029968"/>
            <a:ext cx="10378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AI에게 어디까지 맡길 수 있는가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17320" y="3529584"/>
            <a:ext cx="9326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점수보다 중요한 일은 '업무를 맡길 단위'를 정하는 것이다.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TODAY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진행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2395728" cy="35204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2395728" cy="0"/>
          </a:xfrm>
          <a:prstGeom prst="line">
            <a:avLst/>
          </a:prstGeom>
          <a:noFill/>
          <a:ln w="27940">
            <a:solidFill>
              <a:srgbClr val="0F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A6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" y="2084832"/>
            <a:ext cx="205740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Agentic AI인가?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3154680"/>
            <a:ext cx="204825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답변에서 실행으로 이동하는 이유를 다룬다.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3456432" y="1481328"/>
            <a:ext cx="2395728" cy="352044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417320"/>
            <a:ext cx="2395728" cy="0"/>
          </a:xfrm>
          <a:prstGeom prst="line">
            <a:avLst/>
          </a:prstGeom>
          <a:noFill/>
          <a:ln w="2794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WHAT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02736" y="2084832"/>
            <a:ext cx="205740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무엇이 달라지는가?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02736" y="3154680"/>
            <a:ext cx="204825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Loop와 Human Loop를 구분한다.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6199632" y="1481328"/>
            <a:ext cx="2395728" cy="352044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417320"/>
            <a:ext cx="2395728" cy="0"/>
          </a:xfrm>
          <a:prstGeom prst="line">
            <a:avLst/>
          </a:prstGeom>
          <a:noFill/>
          <a:ln w="27940">
            <a:solidFill>
              <a:srgbClr val="2F7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45936" y="2084832"/>
            <a:ext cx="205740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어떻게 맡길 것인가?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3154680"/>
            <a:ext cx="204825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범위, 근거, 멈춤 조건을 요청문에 넣는다.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8942832" y="1481328"/>
            <a:ext cx="2395728" cy="352044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1417320"/>
            <a:ext cx="2395728" cy="0"/>
          </a:xfrm>
          <a:prstGeom prst="line">
            <a:avLst/>
          </a:prstGeom>
          <a:noFill/>
          <a:ln w="2794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9136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89136" y="2084832"/>
            <a:ext cx="205740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업무에는?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89136" y="3154680"/>
            <a:ext cx="204825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장면 하나를 에이전트형 요청으로 바꾼다.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8638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답을 받는 것 vs 일을 맡기는 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00600" cy="4224528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44752"/>
            <a:ext cx="4800600" cy="0"/>
          </a:xfrm>
          <a:prstGeom prst="line">
            <a:avLst/>
          </a:prstGeom>
          <a:noFill/>
          <a:ln w="2667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답을 받는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묻는다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11556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문장이나 자료가 나온다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11556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다음 단계를 직접 한다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11556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틀려도 피해 범위가 작다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4800600" cy="4224528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44752"/>
            <a:ext cx="4800600" cy="0"/>
          </a:xfrm>
          <a:prstGeom prst="line">
            <a:avLst/>
          </a:prstGeom>
          <a:noFill/>
          <a:ln w="26670">
            <a:solidFill>
              <a:srgbClr val="2F7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맡기는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목표를 준다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55624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쓰고 환경을 바꾼다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55624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여러 단계를 반복한다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55624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범위와 점검 절차가 필요하다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914400" y="2029968"/>
            <a:ext cx="10378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Event VS Process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17320" y="3529584"/>
            <a:ext cx="9326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AI는 이벤트가 아니라 프로세스다.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550" dirty="0"/>
          </a:p>
        </p:txBody>
      </p:sp>
      <p:pic>
        <p:nvPicPr>
          <p:cNvPr id="4" name="Image 0" descr="C:/코딩/교육설계/agentic_ai_module/assets/ai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536192"/>
            <a:ext cx="39776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029968"/>
            <a:ext cx="5806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AI가 도구를 잡는 순간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896112" y="3529584"/>
            <a:ext cx="5715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프롬프트는 요청이 되고, 에이전트는 실행자가 된다.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WHAT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AI란?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목표를 이해하고, 도구를 사용하고, 결과를 점검하며, 다시 수정하는 실행형 AI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끝내야 하는지 목표를 받는다.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파일, 터미널, 브라우저, API 같은 도구를 쓴다.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Loop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결과를 보고 다음 행동을 조정한다.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Report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근거와 잔여 리스크를 보고한다.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WHAT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 Loop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46040" y="15910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3970">
            <a:solidFill>
              <a:srgbClr val="0F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9192" y="17556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목표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8513614" y="23911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 w="13970">
            <a:solidFill>
              <a:srgbClr val="D97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86766" y="25557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계획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513614" y="39913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3970">
            <a:solidFill>
              <a:srgbClr val="2F7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6766" y="41559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실행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346040" y="47914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8F6F7"/>
          </a:solidFill>
          <a:ln w="13970">
            <a:solidFill>
              <a:srgbClr val="1B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9192" y="49560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관찰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178465" y="39913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1397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1617" y="41559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수정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178465" y="23911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397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1617" y="25557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보고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2438248" y="1920240"/>
            <a:ext cx="7315200" cy="3200400"/>
          </a:xfrm>
          <a:prstGeom prst="arc">
            <a:avLst/>
          </a:prstGeom>
          <a:noFill/>
          <a:ln w="2667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724248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반복하면서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끝낸다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WHY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Human Loop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46040" y="15910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3970">
            <a:solidFill>
              <a:srgbClr val="0F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9192" y="17556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목적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8513614" y="23911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 w="13970">
            <a:solidFill>
              <a:srgbClr val="D97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86766" y="25557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조건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513614" y="39913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3970">
            <a:solidFill>
              <a:srgbClr val="2F7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6766" y="41559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346040" y="47914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8F6F7"/>
          </a:solidFill>
          <a:ln w="13970">
            <a:solidFill>
              <a:srgbClr val="1B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9192" y="49560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점검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178465" y="39913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1397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1617" y="41559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멈춤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178465" y="2391156"/>
            <a:ext cx="1499616" cy="658368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397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1617" y="25557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책임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2438248" y="1920240"/>
            <a:ext cx="7315200" cy="3200400"/>
          </a:xfrm>
          <a:prstGeom prst="arc">
            <a:avLst/>
          </a:prstGeom>
          <a:noFill/>
          <a:ln w="2667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724248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반복하면서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끝낸다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550" dirty="0"/>
          </a:p>
        </p:txBody>
      </p:sp>
      <p:pic>
        <p:nvPicPr>
          <p:cNvPr id="4" name="Image 0" descr="C:/코딩/교육설계/agentic_ai_module/assets/approval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536192"/>
            <a:ext cx="39776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029968"/>
            <a:ext cx="5806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프롬프트 다음은 승인 범위다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896112" y="3529584"/>
            <a:ext cx="5715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 범위가 없으면 실행 품질이 불안정해진다.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FRAME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잡아야 할 네 가지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AI가 많이 움직일수록 사람은 더 분명해져야 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목적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일을 왜 하는가.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조건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무엇이면 완료인가.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 범위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 실행해도 되는가.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점검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무엇으로 결과를 판정할 것인가.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IF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| 맡기고 싶은 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지금 반복해서 처리하는 일 하나를 적는다.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103120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그 일이 끝났다고 판단할 결과를 적는다.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542032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AI가 건드리면 안 되는 선을 적는다.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98094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내가 마지막에 직접 판단할 항목을 적는다.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FRAME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맡길 일의 3분류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모든 일을 에이전트에게 바로 맡기면 안 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맡겨도 되는 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초안, 정리, 비교, 테스트, 반복 점검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 후 맡길 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발송, 대량 수정, 비용 발생, 고객 대응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맡기면 안 되는 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판단, 윤리적 책임, 비밀정보 노출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먼저 쪼갤 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완료 조건이 모호한 일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550" dirty="0"/>
          </a:p>
        </p:txBody>
      </p:sp>
      <p:pic>
        <p:nvPicPr>
          <p:cNvPr id="4" name="Image 0" descr="C:/코딩/교육설계/agentic_ai_module/assets/placemen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585216"/>
            <a:ext cx="2148840" cy="1435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이동수단 지도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브랜드보다 목적을 먼저 정한다.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개발형 에이전트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코드, 문서, 테스트, PR 작업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IDE형 에이전트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에디터, 터미널, 브라우저를 함께 사용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상주형 에이전트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메신저, 일정, 파일, 자동화 채널 연결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기억형 에이전트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업무를 메모리와 스킬로 축적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550" dirty="0"/>
          </a:p>
        </p:txBody>
      </p:sp>
      <p:pic>
        <p:nvPicPr>
          <p:cNvPr id="4" name="Image 0" descr="C:/코딩/교육설계/agentic_ai_module/assets/coding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39696"/>
            <a:ext cx="4892040" cy="3264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326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3A6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Codex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6384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작업을 맡기고 결과물을 받는 코딩 에이전트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10528" y="969264"/>
            <a:ext cx="45262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0528" y="969264"/>
            <a:ext cx="4526280" cy="502920"/>
          </a:xfrm>
          <a:prstGeom prst="rect">
            <a:avLst/>
          </a:prstGeom>
          <a:solidFill>
            <a:srgbClr val="0F3A66"/>
          </a:solidFill>
          <a:ln w="12700">
            <a:solidFill>
              <a:srgbClr val="0F3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일에 맞나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12280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기능 구현, 리팩터링, 문서화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여러 작업을 병렬로 맡기는 흐름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81228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작업 결과와 변경사항을 검토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795528" y="5559552"/>
            <a:ext cx="4572000" cy="0"/>
          </a:xfrm>
          <a:prstGeom prst="line">
            <a:avLst/>
          </a:prstGeom>
          <a:noFill/>
          <a:ln w="30480">
            <a:solidFill>
              <a:srgbClr val="0F3A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7515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설명보다 중요한 것은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22960" y="599846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'어떤 일을 맡길 것인가'다.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Codex에게 좋은 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저장소의 온보딩 문서를 읽고,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실행하는 사람이 어려움을 겪을 지점을 찾아줘.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수정하지 말고 먼저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문제 목록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234440" y="321868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수정할 파일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실행할 명령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1234440" y="382219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내가 승인해야 할 지점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1234440" y="412394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계획으로 제시해줘.</a:t>
            </a:r>
            <a:endParaRPr lang="en-US" sz="14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550" dirty="0"/>
          </a:p>
        </p:txBody>
      </p:sp>
      <p:pic>
        <p:nvPicPr>
          <p:cNvPr id="4" name="Image 0" descr="C:/코딩/교육설계/agentic_ai_module/assets/ide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39696"/>
            <a:ext cx="4892040" cy="3264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326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Claude Code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6384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터미널과 IDE에서 프로젝트 규칙을 따라 움직이는 에이전트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10528" y="969264"/>
            <a:ext cx="45262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0528" y="969264"/>
            <a:ext cx="4526280" cy="502920"/>
          </a:xfrm>
          <a:prstGeom prst="rect">
            <a:avLst/>
          </a:prstGeom>
          <a:solidFill>
            <a:srgbClr val="D9730D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일에 맞나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12280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테스트 작성, 오류 수정, 의존성 업데이트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CLAUDE.md, MCP, hooks로 팀 규칙 연결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81228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서브에이전트로 작업 분담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795528" y="5559552"/>
            <a:ext cx="4572000" cy="0"/>
          </a:xfrm>
          <a:prstGeom prst="line">
            <a:avLst/>
          </a:prstGeom>
          <a:noFill/>
          <a:ln w="30480">
            <a:solidFill>
              <a:srgbClr val="D973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7515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설명보다 중요한 것은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22960" y="599846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'어떤 일을 맡길 것인가'다.</a:t>
            </a:r>
            <a:endParaRPr lang="en-US" sz="11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Claude Code에게 좋은 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프로젝트의 규칙을 먼저 읽고,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모듈 테스트를 추가해줘.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변경 전 계획을 제시하고,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실행 결과와 실패한 경우의 원인을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234440" y="321868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보고에 반드시 포함해줘.</a:t>
            </a:r>
            <a:endParaRPr lang="en-US" sz="14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550" dirty="0"/>
          </a:p>
        </p:txBody>
      </p:sp>
      <p:pic>
        <p:nvPicPr>
          <p:cNvPr id="4" name="Image 0" descr="C:/코딩/교육설계/agentic_ai_module/assets/antigravity_artif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39696"/>
            <a:ext cx="4892040" cy="3264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326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Antigravity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6384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에이전트를 운영하고 산출물로 점검하는 개발 플랫폼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10528" y="969264"/>
            <a:ext cx="45262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0528" y="969264"/>
            <a:ext cx="4526280" cy="502920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일에 맞나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12280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에디터, 터미널, 브라우저를 넘나드는 작업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여러 에이전트의 비동기 작업 운영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81228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스크린샷, 계획, 녹화 같은 Artifact로 점검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795528" y="5559552"/>
            <a:ext cx="4572000" cy="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7515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설명보다 중요한 것은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22960" y="599846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'어떤 일을 맡길 것인가'다.</a:t>
            </a:r>
            <a:endParaRPr lang="en-US" sz="11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Antigravity에게 좋은 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화면의 첫 진입 흐름을 개선해줘.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브라우저에서 직접 점검하고,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전후 스크린샷과 사용자가 느낄 차이를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Artifact로 정리해줘.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234440" y="347472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배포나 외부 전송은 하지 마.</a:t>
            </a:r>
            <a:endParaRPr lang="en-US" sz="14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550" dirty="0"/>
          </a:p>
        </p:txBody>
      </p:sp>
      <p:pic>
        <p:nvPicPr>
          <p:cNvPr id="4" name="Image 0" descr="C:/코딩/교육설계/agentic_ai_module/assets/openclaw_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39696"/>
            <a:ext cx="4892040" cy="3264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326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OpenClaw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6384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메신저와 로컬 환경에 붙는 상주형 에이전트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10528" y="969264"/>
            <a:ext cx="45262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0528" y="969264"/>
            <a:ext cx="4526280" cy="5029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일에 맞나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12280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여러 채널에서 메시지를 받고 실행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로컬 게이트웨이와 스킬 기반 자동화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81228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호스트 권한이 크므로 보안 설정이 핵심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795528" y="5559552"/>
            <a:ext cx="4572000" cy="0"/>
          </a:xfrm>
          <a:prstGeom prst="line">
            <a:avLst/>
          </a:prstGeom>
          <a:noFill/>
          <a:ln w="30480">
            <a:solidFill>
              <a:srgbClr val="B423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7515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설명보다 중요한 것은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22960" y="599846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'어떤 일을 맡길 것인가'다.</a:t>
            </a:r>
            <a:endParaRPr lang="en-US" sz="11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OpenClaw에게 좋은 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오전 9시에 오늘 처리할 업무 후보를 정리해줘.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메일이나 메신저를 직접 발송하지 말고,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초안과 우선순위만 만들어줘.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317296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외부로 나가는 행동은 반드시 승인받아.</a:t>
            </a:r>
            <a:endParaRPr lang="en-US" sz="14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550" dirty="0"/>
          </a:p>
        </p:txBody>
      </p:sp>
      <p:pic>
        <p:nvPicPr>
          <p:cNvPr id="4" name="Image 0" descr="C:/코딩/교육설계/agentic_ai_module/assets/hermes_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39696"/>
            <a:ext cx="4892040" cy="3264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326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7C8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Hermes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6384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기억과 스킬을 쌓아 반복 업무를 줄이는 에이전트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10528" y="969264"/>
            <a:ext cx="45262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0528" y="969264"/>
            <a:ext cx="4526280" cy="502920"/>
          </a:xfrm>
          <a:prstGeom prst="rect">
            <a:avLst/>
          </a:prstGeom>
          <a:solidFill>
            <a:srgbClr val="1B7C86"/>
          </a:solidFill>
          <a:ln w="12700">
            <a:solidFill>
              <a:srgbClr val="1B7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일에 맞나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12280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Persistent memory와 user profile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스킬과 툴셋으로 반복 업무 축적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81228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MCP, cron, context files로 흐름 확장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795528" y="5559552"/>
            <a:ext cx="4572000" cy="0"/>
          </a:xfrm>
          <a:prstGeom prst="line">
            <a:avLst/>
          </a:prstGeom>
          <a:noFill/>
          <a:ln w="30480">
            <a:solidFill>
              <a:srgbClr val="1B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7515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설명보다 중요한 것은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22960" y="599846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'어떤 일을 맡길 것인가'다.</a:t>
            </a:r>
            <a:endParaRPr lang="en-US" sz="11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Hermes에게 좋은 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매주 만드는 교육 운영 리포트의 작성 원칙을 기억해줘.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자료를 읽고 같은 형식으로 초안을 만들되,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지난주와 달라진 점, 판단이 필요한 점,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대조해야 할 숫자를 분리해서 보고해줘.</a:t>
            </a:r>
            <a:endParaRPr lang="en-US" sz="14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에이전틱 AI 비교 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097280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도구의 우열보다 업무 유형과 운영 방식에 맞춰 배치한다.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85216" y="1499616"/>
            <a:ext cx="1261872" cy="420624"/>
          </a:xfrm>
          <a:prstGeom prst="rect">
            <a:avLst/>
          </a:prstGeom>
          <a:solidFill>
            <a:srgbClr val="111827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도구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1847088" y="1499616"/>
            <a:ext cx="1901952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162763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위치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3749040" y="1499616"/>
            <a:ext cx="2816352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1627632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맡길 일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6565392" y="1499616"/>
            <a:ext cx="2212848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162763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강점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8778240" y="1499616"/>
            <a:ext cx="2816352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33104" y="1627632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운영 주의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85216" y="1920240"/>
            <a:ext cx="126187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1920240"/>
            <a:ext cx="1261872" cy="0"/>
          </a:xfrm>
          <a:prstGeom prst="line">
            <a:avLst/>
          </a:prstGeom>
          <a:noFill/>
          <a:ln w="22860">
            <a:solidFill>
              <a:srgbClr val="0F3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029968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F3A6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Codex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1847088" y="1920240"/>
            <a:ext cx="19019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11096" y="2029968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개발·문서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에이전트</a:t>
            </a:r>
            <a:endParaRPr lang="en-US" sz="695" dirty="0"/>
          </a:p>
        </p:txBody>
      </p:sp>
      <p:sp>
        <p:nvSpPr>
          <p:cNvPr id="21" name="Shape 19"/>
          <p:cNvSpPr/>
          <p:nvPr/>
        </p:nvSpPr>
        <p:spPr>
          <a:xfrm>
            <a:off x="3749040" y="1920240"/>
            <a:ext cx="28163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2029968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초안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리팩터링</a:t>
            </a:r>
            <a:endParaRPr lang="en-US" sz="695" dirty="0"/>
          </a:p>
        </p:txBody>
      </p:sp>
      <p:sp>
        <p:nvSpPr>
          <p:cNvPr id="23" name="Shape 21"/>
          <p:cNvSpPr/>
          <p:nvPr/>
        </p:nvSpPr>
        <p:spPr>
          <a:xfrm>
            <a:off x="6565392" y="1920240"/>
            <a:ext cx="221284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029968"/>
            <a:ext cx="2084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범위가 분명한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단위에 강함</a:t>
            </a:r>
            <a:endParaRPr lang="en-US" sz="695" dirty="0"/>
          </a:p>
        </p:txBody>
      </p:sp>
      <p:sp>
        <p:nvSpPr>
          <p:cNvPr id="25" name="Shape 23"/>
          <p:cNvSpPr/>
          <p:nvPr/>
        </p:nvSpPr>
        <p:spPr>
          <a:xfrm>
            <a:off x="8778240" y="1920240"/>
            <a:ext cx="28163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42248" y="2029968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파일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명령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결과를 함께 점검</a:t>
            </a:r>
            <a:endParaRPr lang="en-US" sz="695" dirty="0"/>
          </a:p>
        </p:txBody>
      </p:sp>
      <p:sp>
        <p:nvSpPr>
          <p:cNvPr id="27" name="Shape 25"/>
          <p:cNvSpPr/>
          <p:nvPr/>
        </p:nvSpPr>
        <p:spPr>
          <a:xfrm>
            <a:off x="585216" y="2761488"/>
            <a:ext cx="126187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" y="2761488"/>
            <a:ext cx="1261872" cy="0"/>
          </a:xfrm>
          <a:prstGeom prst="line">
            <a:avLst/>
          </a:prstGeom>
          <a:noFill/>
          <a:ln w="22860">
            <a:solidFill>
              <a:srgbClr val="D973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2871216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Claude</a:t>
            </a:r>
            <a:endParaRPr lang="en-US" sz="810" dirty="0"/>
          </a:p>
          <a:p>
            <a:pPr indent="0" marL="0">
              <a:buNone/>
            </a:pPr>
            <a:r>
              <a:rPr lang="en-US" sz="810" b="1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847088" y="2761488"/>
            <a:ext cx="190195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11096" y="2871216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터미널·IDE형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에이전트</a:t>
            </a:r>
            <a:endParaRPr lang="en-US" sz="695" dirty="0"/>
          </a:p>
        </p:txBody>
      </p:sp>
      <p:sp>
        <p:nvSpPr>
          <p:cNvPr id="32" name="Shape 30"/>
          <p:cNvSpPr/>
          <p:nvPr/>
        </p:nvSpPr>
        <p:spPr>
          <a:xfrm>
            <a:off x="3749040" y="2761488"/>
            <a:ext cx="281635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2871216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수정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작성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 규칙 적용</a:t>
            </a:r>
            <a:endParaRPr lang="en-US" sz="695" dirty="0"/>
          </a:p>
        </p:txBody>
      </p:sp>
      <p:sp>
        <p:nvSpPr>
          <p:cNvPr id="34" name="Shape 32"/>
          <p:cNvSpPr/>
          <p:nvPr/>
        </p:nvSpPr>
        <p:spPr>
          <a:xfrm>
            <a:off x="6565392" y="2761488"/>
            <a:ext cx="2212848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871216"/>
            <a:ext cx="2084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흐름 안에서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 반복</a:t>
            </a:r>
            <a:endParaRPr lang="en-US" sz="695" dirty="0"/>
          </a:p>
        </p:txBody>
      </p:sp>
      <p:sp>
        <p:nvSpPr>
          <p:cNvPr id="36" name="Shape 34"/>
          <p:cNvSpPr/>
          <p:nvPr/>
        </p:nvSpPr>
        <p:spPr>
          <a:xfrm>
            <a:off x="8778240" y="2761488"/>
            <a:ext cx="281635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42248" y="2871216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 명령과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변경 범위를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제한</a:t>
            </a:r>
            <a:endParaRPr lang="en-US" sz="695" dirty="0"/>
          </a:p>
        </p:txBody>
      </p:sp>
      <p:sp>
        <p:nvSpPr>
          <p:cNvPr id="38" name="Shape 36"/>
          <p:cNvSpPr/>
          <p:nvPr/>
        </p:nvSpPr>
        <p:spPr>
          <a:xfrm>
            <a:off x="585216" y="3602736"/>
            <a:ext cx="126187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" y="3602736"/>
            <a:ext cx="1261872" cy="0"/>
          </a:xfrm>
          <a:prstGeom prst="line">
            <a:avLst/>
          </a:prstGeom>
          <a:noFill/>
          <a:ln w="22860">
            <a:solidFill>
              <a:srgbClr val="2F7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3712464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Anti-</a:t>
            </a:r>
            <a:endParaRPr lang="en-US" sz="810" dirty="0"/>
          </a:p>
          <a:p>
            <a:pPr indent="0" marL="0">
              <a:buNone/>
            </a:pPr>
            <a:r>
              <a:rPr lang="en-US" sz="81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gravity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1847088" y="3602736"/>
            <a:ext cx="19019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11096" y="3712464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우선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환경</a:t>
            </a:r>
            <a:endParaRPr lang="en-US" sz="695" dirty="0"/>
          </a:p>
        </p:txBody>
      </p:sp>
      <p:sp>
        <p:nvSpPr>
          <p:cNvPr id="43" name="Shape 41"/>
          <p:cNvSpPr/>
          <p:nvPr/>
        </p:nvSpPr>
        <p:spPr>
          <a:xfrm>
            <a:off x="3749040" y="3602736"/>
            <a:ext cx="28163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3048" y="3712464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개선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점검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에이전트 운영</a:t>
            </a:r>
            <a:endParaRPr lang="en-US" sz="695" dirty="0"/>
          </a:p>
        </p:txBody>
      </p:sp>
      <p:sp>
        <p:nvSpPr>
          <p:cNvPr id="45" name="Shape 43"/>
          <p:cNvSpPr/>
          <p:nvPr/>
        </p:nvSpPr>
        <p:spPr>
          <a:xfrm>
            <a:off x="6565392" y="3602736"/>
            <a:ext cx="221284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3712464"/>
            <a:ext cx="2084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Artifact로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과정을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공유하기 좋음</a:t>
            </a:r>
            <a:endParaRPr lang="en-US" sz="695" dirty="0"/>
          </a:p>
        </p:txBody>
      </p:sp>
      <p:sp>
        <p:nvSpPr>
          <p:cNvPr id="47" name="Shape 45"/>
          <p:cNvSpPr/>
          <p:nvPr/>
        </p:nvSpPr>
        <p:spPr>
          <a:xfrm>
            <a:off x="8778240" y="3602736"/>
            <a:ext cx="28163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42248" y="3712464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실행보다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단계를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설계</a:t>
            </a:r>
            <a:endParaRPr lang="en-US" sz="695" dirty="0"/>
          </a:p>
        </p:txBody>
      </p:sp>
      <p:sp>
        <p:nvSpPr>
          <p:cNvPr id="49" name="Shape 47"/>
          <p:cNvSpPr/>
          <p:nvPr/>
        </p:nvSpPr>
        <p:spPr>
          <a:xfrm>
            <a:off x="585216" y="4443984"/>
            <a:ext cx="126187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5216" y="4443984"/>
            <a:ext cx="1261872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" y="4553712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OpenClaw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1847088" y="4443984"/>
            <a:ext cx="190195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11096" y="4553712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로컬·메신저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상주형 에이전트</a:t>
            </a:r>
            <a:endParaRPr lang="en-US" sz="695" dirty="0"/>
          </a:p>
        </p:txBody>
      </p:sp>
      <p:sp>
        <p:nvSpPr>
          <p:cNvPr id="54" name="Shape 52"/>
          <p:cNvSpPr/>
          <p:nvPr/>
        </p:nvSpPr>
        <p:spPr>
          <a:xfrm>
            <a:off x="3749040" y="4443984"/>
            <a:ext cx="281635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13048" y="4553712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기반 업무 정리</a:t>
            </a:r>
            <a:endParaRPr lang="en-US" sz="695" dirty="0"/>
          </a:p>
        </p:txBody>
      </p:sp>
      <p:sp>
        <p:nvSpPr>
          <p:cNvPr id="56" name="Shape 54"/>
          <p:cNvSpPr/>
          <p:nvPr/>
        </p:nvSpPr>
        <p:spPr>
          <a:xfrm>
            <a:off x="6565392" y="4443984"/>
            <a:ext cx="2212848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4553712"/>
            <a:ext cx="2084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채널과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작업 연결</a:t>
            </a:r>
            <a:endParaRPr lang="en-US" sz="695" dirty="0"/>
          </a:p>
        </p:txBody>
      </p:sp>
      <p:sp>
        <p:nvSpPr>
          <p:cNvPr id="58" name="Shape 56"/>
          <p:cNvSpPr/>
          <p:nvPr/>
        </p:nvSpPr>
        <p:spPr>
          <a:xfrm>
            <a:off x="8778240" y="4443984"/>
            <a:ext cx="281635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42248" y="4553712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발송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접근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개인정보 승인선 필요</a:t>
            </a:r>
            <a:endParaRPr lang="en-US" sz="695" dirty="0"/>
          </a:p>
        </p:txBody>
      </p:sp>
      <p:sp>
        <p:nvSpPr>
          <p:cNvPr id="60" name="Shape 58"/>
          <p:cNvSpPr/>
          <p:nvPr/>
        </p:nvSpPr>
        <p:spPr>
          <a:xfrm>
            <a:off x="585216" y="5285232"/>
            <a:ext cx="1261872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285232"/>
            <a:ext cx="1261872" cy="0"/>
          </a:xfrm>
          <a:prstGeom prst="line">
            <a:avLst/>
          </a:prstGeom>
          <a:noFill/>
          <a:ln w="22860">
            <a:solidFill>
              <a:srgbClr val="1B7C8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" y="5394960"/>
            <a:ext cx="1133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B7C8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Hermes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1847088" y="5285232"/>
            <a:ext cx="19019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11096" y="5394960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기억·스킬형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self-hosted 에이전트</a:t>
            </a:r>
            <a:endParaRPr lang="en-US" sz="695" dirty="0"/>
          </a:p>
        </p:txBody>
      </p:sp>
      <p:sp>
        <p:nvSpPr>
          <p:cNvPr id="65" name="Shape 63"/>
          <p:cNvSpPr/>
          <p:nvPr/>
        </p:nvSpPr>
        <p:spPr>
          <a:xfrm>
            <a:off x="3749040" y="5285232"/>
            <a:ext cx="28163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13048" y="5394960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리포트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메모리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cron 업무</a:t>
            </a:r>
            <a:endParaRPr lang="en-US" sz="695" dirty="0"/>
          </a:p>
        </p:txBody>
      </p:sp>
      <p:sp>
        <p:nvSpPr>
          <p:cNvPr id="67" name="Shape 65"/>
          <p:cNvSpPr/>
          <p:nvPr/>
        </p:nvSpPr>
        <p:spPr>
          <a:xfrm>
            <a:off x="6565392" y="5285232"/>
            <a:ext cx="221284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9400" y="5394960"/>
            <a:ext cx="2084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습관과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축적에 적합</a:t>
            </a:r>
            <a:endParaRPr lang="en-US" sz="695" dirty="0"/>
          </a:p>
        </p:txBody>
      </p:sp>
      <p:sp>
        <p:nvSpPr>
          <p:cNvPr id="69" name="Shape 67"/>
          <p:cNvSpPr/>
          <p:nvPr/>
        </p:nvSpPr>
        <p:spPr>
          <a:xfrm>
            <a:off x="8778240" y="5285232"/>
            <a:ext cx="2816352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42248" y="5394960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범위와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 정책을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정함</a:t>
            </a:r>
            <a:endParaRPr lang="en-US" sz="69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914400" y="2029968"/>
            <a:ext cx="10378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비교가 아니라 배치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17320" y="3529584"/>
            <a:ext cx="9326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질문은 '뭐가 제일 좋은가'가 아니라 '이 일에는 어떤 이동수단이 맞는가'다.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914400" y="2029968"/>
            <a:ext cx="10378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CRAFT-O는 여전히 유효하다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17320" y="3529584"/>
            <a:ext cx="9326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Context, Role, Audience, Format, Tone, Option은 에이전트에게도 기본이다.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에이전트 요청에는 3문장을 더 붙인다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답변 요청이 아니라 실행 요청이기 때문이다.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 범위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 직접 실행해도 되는가.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근거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제시하면 완료인가.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멈춤 조건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멈추고 물어봐야 하는가.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정리해 사람에게 돌려줄 것인가.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기본 요청문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지금부터 이 일을 맡기고 싶어.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실행하지 말고 먼저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네가 이해한 목표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필요한 정보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234440" y="321868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작업 순서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사용할 도구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1234440" y="382219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위험하거나 점검이 필요한 지점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1234440" y="412394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정리해서 나에게 물어봐.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1234440" y="468172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승인한 뒤에만 실행해.</a:t>
            </a:r>
            <a:endParaRPr lang="en-US" sz="14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8638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나쁜 요청 vs 좋은 요청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00600" cy="4224528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44752"/>
            <a:ext cx="4800600" cy="0"/>
          </a:xfrm>
          <a:prstGeom prst="line">
            <a:avLst/>
          </a:prstGeom>
          <a:noFill/>
          <a:ln w="2667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나쁜 요청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알아서 다 해줘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11556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빨리 끝내줘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11556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있으면 고쳐줘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11556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결과만 알려줘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4800600" cy="4224528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44752"/>
            <a:ext cx="4800600" cy="0"/>
          </a:xfrm>
          <a:prstGeom prst="line">
            <a:avLst/>
          </a:prstGeom>
          <a:noFill/>
          <a:ln w="26670">
            <a:solidFill>
              <a:srgbClr val="2F7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요청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목표와 완료 조건을 먼저 물어봐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55624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계획을 제시하고 승인받아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55624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근거를 정리해줘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55624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위험하면 멈추고 물어봐</a:t>
            </a:r>
            <a:endParaRPr lang="en-US" sz="12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914400" y="2029968"/>
            <a:ext cx="10378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작업계획 먼저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17320" y="3529584"/>
            <a:ext cx="9326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에이전트에게 바로 실행을 맡기지 말고, 먼저 작업 순서를 제시하게 한다.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IF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근거로 보고받기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바꿨는가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103120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명령을 실행했는가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542032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성공했다는 근거는 무엇인가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98094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처리할 리스크는 무엇인가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419856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최종 판단해야 할 것은 무엇인가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SAFETY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 범위 사다리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709160"/>
            <a:ext cx="1737360" cy="621792"/>
          </a:xfrm>
          <a:prstGeom prst="rect">
            <a:avLst/>
          </a:prstGeom>
          <a:solidFill>
            <a:srgbClr val="EAF2FF"/>
          </a:solidFill>
          <a:ln w="15240">
            <a:solidFill>
              <a:srgbClr val="0F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48280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읽기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3816" y="5495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자료를 보고 요약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606040" y="5020056"/>
            <a:ext cx="411480" cy="-566928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44952" y="4050792"/>
            <a:ext cx="1737360" cy="621792"/>
          </a:xfrm>
          <a:prstGeom prst="rect">
            <a:avLst/>
          </a:prstGeom>
          <a:solidFill>
            <a:srgbClr val="EAF7EF"/>
          </a:solidFill>
          <a:ln w="15240">
            <a:solidFill>
              <a:srgbClr val="2F7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41696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초안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90088" y="48371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파일이나 제안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782312" y="4361688"/>
            <a:ext cx="411480" cy="-566928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1224" y="3392424"/>
            <a:ext cx="1737360" cy="621792"/>
          </a:xfrm>
          <a:prstGeom prst="rect">
            <a:avLst/>
          </a:prstGeom>
          <a:solidFill>
            <a:srgbClr val="FFF4E6"/>
          </a:solidFill>
          <a:ln w="15240">
            <a:solidFill>
              <a:srgbClr val="D973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351129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417880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복사본/브랜치에서 변경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6958584" y="3703320"/>
            <a:ext cx="411480" cy="-566928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97496" y="2734056"/>
            <a:ext cx="1737360" cy="621792"/>
          </a:xfrm>
          <a:prstGeom prst="rect">
            <a:avLst/>
          </a:prstGeom>
          <a:solidFill>
            <a:srgbClr val="FDECEC"/>
          </a:solidFill>
          <a:ln w="1524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285292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42632" y="3520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명령, 테스트, 자동화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9134856" y="3044952"/>
            <a:ext cx="411480" cy="-566928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73768" y="2075688"/>
            <a:ext cx="1737360" cy="621792"/>
          </a:xfrm>
          <a:prstGeom prst="rect">
            <a:avLst/>
          </a:prstGeom>
          <a:solidFill>
            <a:srgbClr val="F4F4F5"/>
          </a:solidFill>
          <a:ln w="1524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21945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외부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518904" y="286207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발송, 배포, 비용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143000" y="160020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 범위는 한 번에 주지 않고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실행 근거에 따라 넓힌다.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SAFETY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안전장치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에이전트는 능력보다 환경 설계가 먼저다.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복사본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원본이 아니라 실습용 파일에서 시작한다.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브랜치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변경은 되돌릴 수 있는 곳에서 한다.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비밀정보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키, 고객정보, 내부자료는 범위를 정한다.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승인선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발송, 배포, 삭제, 결제는 사람이 승인한다.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| Codex형 요청문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 자료 폴더를 바탕으로,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반복해서 만드는 보고서 초안을 자동화하고 싶어.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너는 먼저 폴더 구조와 샘플 파일을 읽고,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템플릿과 스크립트가 필요한지 계획만 제시해줘.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234440" y="321868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생성은 내가 승인한 뒤에 해.</a:t>
            </a:r>
            <a:endParaRPr lang="en-US" sz="14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| 상주형 에이전트 요청문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금요일 오후 4시에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업무 메모를 정리해 다음 주 액션 후보를 만들어줘.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사람에게 보낼 메시지는 초안까지만 만들고,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발송과 일정 등록은 반드시 승인받아.</a:t>
            </a:r>
            <a:endParaRPr lang="en-US" sz="14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IF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종합실습 순서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내 업무 장면을 한 문장으로 쓴다.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048256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맡길 수 있는 단위로 쪼갠다.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43230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CRAFT-O를 짧게 채운다.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816352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승인 범위, 근거, 멈춤 조건을 붙인다.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200400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도구를 하나 고른다.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58444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사람이 판단할 항목을 마지막에 둔다.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AFC0D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CHECK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FC0D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마지막 체크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해도 되는 일인가?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103120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하면 안 되는 선은 어디인가?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542032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완료를 무엇으로 판정할 것인가?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98094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끝까지 책임질 판단은 무엇인가?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550" dirty="0"/>
          </a:p>
        </p:txBody>
      </p:sp>
      <p:pic>
        <p:nvPicPr>
          <p:cNvPr id="4" name="Image 0" descr="C:/코딩/교육설계/agentic_ai_module/assets/final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536192"/>
            <a:ext cx="39776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029968"/>
            <a:ext cx="5806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AI의 핵심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896112" y="3529584"/>
            <a:ext cx="5715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AI가 더 많이 하게 만드는 것이 아니라, 사람이 더 정확히 맡기고 더 분명히 점검하는 일이다.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IF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적용 문장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바로 실행하지 말고,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103120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목표와 완료 조건을 물어보고,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542032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작업계획과 위험 지점을 제시한 뒤,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98094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승인한 범위 안에서만 실행해줘.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SETUP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</a:t>
            </a:r>
            <a:endParaRPr lang="en-US" sz="550" dirty="0"/>
          </a:p>
        </p:txBody>
      </p:sp>
      <p:pic>
        <p:nvPicPr>
          <p:cNvPr id="4" name="Image 0" descr="C:/코딩/교육설계/agentic_ai_module/assets/antigravity_artif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536192"/>
            <a:ext cx="39776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029968"/>
            <a:ext cx="58064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설치까지 다루는가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896112" y="3529584"/>
            <a:ext cx="5715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설치는 기능 학습이 아니라, AI에게 맡길 업무 환경을 세팅하는 일이다.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SETUP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무료 조건에서의 도구 선택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09728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일반 직장인, 개인 노트북 혼합, 현장 설치만 진행하는 조건으로 배치한다.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621792" y="1481328"/>
            <a:ext cx="1325880" cy="420624"/>
          </a:xfrm>
          <a:prstGeom prst="rect">
            <a:avLst/>
          </a:prstGeom>
          <a:solidFill>
            <a:srgbClr val="111827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09344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도구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947672" y="1481328"/>
            <a:ext cx="2029968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2536" y="160934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무료 조건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977640" y="1481328"/>
            <a:ext cx="1325880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1609344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난이도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5303520" y="1481328"/>
            <a:ext cx="2057400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1609344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강의 배치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7360920" y="1481328"/>
            <a:ext cx="3977640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5784" y="1609344"/>
            <a:ext cx="3867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운영 판단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21792" y="1901952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1901952"/>
            <a:ext cx="1325880" cy="0"/>
          </a:xfrm>
          <a:prstGeom prst="line">
            <a:avLst/>
          </a:prstGeom>
          <a:noFill/>
          <a:ln w="22860">
            <a:solidFill>
              <a:srgbClr val="2F7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011680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Antigravity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1947672" y="1901952"/>
            <a:ext cx="20299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011680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공개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프리뷰 무료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977640" y="1901952"/>
            <a:ext cx="1325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2011680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303520" y="1901952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7528" y="2011680"/>
            <a:ext cx="1929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실습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60920" y="1901952"/>
            <a:ext cx="397764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2011680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설치, 첫 실행, Artifact 점검까지 현장 운영 가능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21792" y="2743200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2743200"/>
            <a:ext cx="1325880" cy="0"/>
          </a:xfrm>
          <a:prstGeom prst="line">
            <a:avLst/>
          </a:prstGeom>
          <a:noFill/>
          <a:ln w="22860">
            <a:solidFill>
              <a:srgbClr val="0F3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2852928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F3A6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Codex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1947672" y="2743200"/>
            <a:ext cx="2029968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852928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계정은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사용량 제한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977640" y="2743200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41648" y="2852928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303520" y="2743200"/>
            <a:ext cx="205740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67528" y="2852928"/>
            <a:ext cx="1929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시연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실습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360920" y="2743200"/>
            <a:ext cx="397764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4928" y="2852928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 실습보다 비교 시연이 안정적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21792" y="3584448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3584448"/>
            <a:ext cx="1325880" cy="0"/>
          </a:xfrm>
          <a:prstGeom prst="line">
            <a:avLst/>
          </a:prstGeom>
          <a:noFill/>
          <a:ln w="22860">
            <a:solidFill>
              <a:srgbClr val="1B7C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694176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1B7C8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Hermes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1947672" y="3584448"/>
            <a:ext cx="20299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3694176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모델/API 필요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3977640" y="3584448"/>
            <a:ext cx="1325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41648" y="3694176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5303520" y="3584448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67528" y="3694176"/>
            <a:ext cx="1929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시연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360920" y="3584448"/>
            <a:ext cx="397764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3694176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WSL2와 API 설정 부담이 커서 설치 실습 제외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621792" y="4425696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" y="4425696"/>
            <a:ext cx="1325880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535424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OpenClaw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1947672" y="4425696"/>
            <a:ext cx="2029968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0" y="4535424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설정 필요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3977640" y="4425696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41648" y="4535424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중~높음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5303520" y="4425696"/>
            <a:ext cx="205740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67528" y="4535424"/>
            <a:ext cx="1929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소개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7360920" y="4425696"/>
            <a:ext cx="397764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24928" y="4535424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상주형 에이전트의 권한·보안 설명에 적합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621792" y="5266944"/>
            <a:ext cx="1325880" cy="841248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" y="5266944"/>
            <a:ext cx="1325880" cy="0"/>
          </a:xfrm>
          <a:prstGeom prst="line">
            <a:avLst/>
          </a:prstGeom>
          <a:noFill/>
          <a:ln w="22860">
            <a:solidFill>
              <a:srgbClr val="D9730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5376672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Claude Code</a:t>
            </a:r>
            <a:endParaRPr lang="en-US" sz="770" dirty="0"/>
          </a:p>
        </p:txBody>
      </p:sp>
      <p:sp>
        <p:nvSpPr>
          <p:cNvPr id="63" name="Shape 61"/>
          <p:cNvSpPr/>
          <p:nvPr/>
        </p:nvSpPr>
        <p:spPr>
          <a:xfrm>
            <a:off x="1947672" y="5266944"/>
            <a:ext cx="2029968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11680" y="5376672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계정·요금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영향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3977640" y="5266944"/>
            <a:ext cx="132588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41648" y="5376672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5303520" y="5266944"/>
            <a:ext cx="205740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67528" y="5376672"/>
            <a:ext cx="1929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소개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7360920" y="5266944"/>
            <a:ext cx="3977640" cy="841248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24928" y="5376672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과정에서는 실습 후보, 이번 과정은 보조</a:t>
            </a:r>
            <a:endParaRPr lang="en-US" sz="6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TOOLS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</a:t>
            </a:r>
            <a:endParaRPr lang="en-US" sz="550" dirty="0"/>
          </a:p>
        </p:txBody>
      </p:sp>
      <p:pic>
        <p:nvPicPr>
          <p:cNvPr id="4" name="Image 0" descr="C:/코딩/교육설계/agentic_ai_module/assets/antigravity_artif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39696"/>
            <a:ext cx="4892040" cy="3264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326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Antigravity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6384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공통 실습 도구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10528" y="969264"/>
            <a:ext cx="45262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0528" y="969264"/>
            <a:ext cx="4526280" cy="502920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일에 맞나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12280" y="2788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개인 공개 프리뷰 무료 조건으로 실습 설계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Windows, macOS, Linux 환경 대응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81228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작업 계획과 산출물을 화면에서 함께 점검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795528" y="5559552"/>
            <a:ext cx="4572000" cy="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7515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설명보다 중요한 것은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22960" y="599846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'어떤 일을 맡길 것인가'다.</a:t>
            </a:r>
            <a:endParaRPr lang="en-US" sz="11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SETUP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설치 전 준비물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현장 설치만 진행하므로 시작 전에 네 가지만 맞춘다.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노트북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노트북과 전원 어댑터를 준비한다.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계정 또는 사용 가능한 로그인 계정을 준비한다.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브라우저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Chrome 또는 Edge에서 다운로드 페이지를 연다.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폴더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자료가 없는 빈 폴더에서 시작한다.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SETUP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550" dirty="0"/>
          </a:p>
        </p:txBody>
      </p:sp>
      <p:pic>
        <p:nvPicPr>
          <p:cNvPr id="4" name="Image 0" descr="C:/코딩/교육설계/agentic_ai_module/assets/approval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585216"/>
            <a:ext cx="2148840" cy="1435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" y="7132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안전한 실습 폴더 만들기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4944" y="11155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에이전트 실습은 폴더 설계부터 시작한다.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783080"/>
            <a:ext cx="4983480" cy="13258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28216"/>
            <a:ext cx="4983480" cy="0"/>
          </a:xfrm>
          <a:prstGeom prst="line">
            <a:avLst/>
          </a:prstGeom>
          <a:noFill/>
          <a:ln w="25400">
            <a:solidFill>
              <a:srgbClr val="0F3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샘플 자료만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고객명, 내부 숫자, 계정 정보는 넣지 않는다.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498348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728216"/>
            <a:ext cx="4983480" cy="0"/>
          </a:xfrm>
          <a:prstGeom prst="line">
            <a:avLst/>
          </a:prstGeom>
          <a:noFill/>
          <a:ln w="25400">
            <a:solidFill>
              <a:srgbClr val="D9730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28816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복사본 사용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28816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파일이 아니라 실습용 복사본을 사용한다.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9808" y="3657600"/>
            <a:ext cx="498348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3602736"/>
            <a:ext cx="4983480" cy="0"/>
          </a:xfrm>
          <a:prstGeom prst="line">
            <a:avLst/>
          </a:prstGeom>
          <a:noFill/>
          <a:ln w="25400">
            <a:solidFill>
              <a:srgbClr val="2F7D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변경 전 승인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9264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생성과 수정은 승인 후 진행하도록 요청한다.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09360" y="3657600"/>
            <a:ext cx="4983480" cy="1325880"/>
          </a:xfrm>
          <a:prstGeom prst="rect">
            <a:avLst/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3602736"/>
            <a:ext cx="4983480" cy="0"/>
          </a:xfrm>
          <a:prstGeom prst="line">
            <a:avLst/>
          </a:prstGeom>
          <a:noFill/>
          <a:ln w="25400">
            <a:solidFill>
              <a:srgbClr val="1B7C8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28816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결과 분리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28816" y="4224528"/>
            <a:ext cx="4526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output 폴더에 결과물을 따로 저장하게 한다.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요청문 구조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44752"/>
            <a:ext cx="10287000" cy="4370832"/>
          </a:xfrm>
          <a:prstGeom prst="rect">
            <a:avLst/>
          </a:prstGeom>
          <a:solidFill>
            <a:srgbClr val="F8FAF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5564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폴더는 Agentic AI 설치 실습용 샘플 폴더야.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폴더 안의 자료를 읽고,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234440" y="2615184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네가 이해한 업무 목적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1234440" y="291693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만들 수 있는 산출물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234440" y="321868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파일을 만들기 전 필요한 질문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승인받아야 할 행동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1234440" y="3822192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정리해줘.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1234440" y="4379976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승인하기 전에는 파일을 만들거나 수정하지 마.</a:t>
            </a:r>
            <a:endParaRPr lang="en-US" sz="14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8638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Codex는 왜 선택 실습인가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00600" cy="4224528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44752"/>
            <a:ext cx="4800600" cy="0"/>
          </a:xfrm>
          <a:prstGeom prst="line">
            <a:avLst/>
          </a:prstGeom>
          <a:noFill/>
          <a:ln w="2667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전원 실습 리스크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계정 사용량이 제한될 수 있다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11556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로그인과 권한 차이가 생길 수 있다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11556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도구 화면이 낯설 수 있다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11556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시간이 계정 문제에 쓰일 수 있다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4800600" cy="4224528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44752"/>
            <a:ext cx="4800600" cy="0"/>
          </a:xfrm>
          <a:prstGeom prst="line">
            <a:avLst/>
          </a:prstGeom>
          <a:noFill/>
          <a:ln w="26670">
            <a:solidFill>
              <a:srgbClr val="2F7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선택 실습 가치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폴더를 읽고 계획을 제시하는 흐름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55624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파일과 실행 명령을 함께 보고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55624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시연으로도 핵심 구조 전달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55624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관심자는 이후 심화 과정으로 연결</a:t>
            </a:r>
            <a:endParaRPr lang="en-US" sz="126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13232" y="78638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Hermes는 왜 시연으로 충분한가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00600" cy="4224528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44752"/>
            <a:ext cx="4800600" cy="0"/>
          </a:xfrm>
          <a:prstGeom prst="line">
            <a:avLst/>
          </a:prstGeom>
          <a:noFill/>
          <a:ln w="2667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현장 설치 부담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Windows에서는 WSL2 흐름이 필요하다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11556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또는 API 설정이 필요하다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11556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비개발자에게 초기 진입 장벽이 높다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11556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오류 대응 시간이 커질 수 있다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4800600" cy="4224528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44752"/>
            <a:ext cx="4800600" cy="0"/>
          </a:xfrm>
          <a:prstGeom prst="line">
            <a:avLst/>
          </a:prstGeom>
          <a:noFill/>
          <a:ln w="26670">
            <a:solidFill>
              <a:srgbClr val="2F7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교육에서 다룰 내용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2468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기억과 스킬을 쌓는 에이전트 구조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556248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업무가 축적되는 방식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556248" y="3127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범위와 삭제 정책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556248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상주형 AI 운영의 보안 감각</a:t>
            </a:r>
            <a:endParaRPr lang="en-US" sz="126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FIELD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현장 오류 대응표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4944" y="1097280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설치가 늦어지는 사람을 기다리기보다, 페어 실습과 강사 화면으로 흐름을 유지한다.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2240280" cy="420624"/>
          </a:xfrm>
          <a:prstGeom prst="rect">
            <a:avLst/>
          </a:prstGeom>
          <a:solidFill>
            <a:srgbClr val="111827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09344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상황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880360" y="1481328"/>
            <a:ext cx="3886200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609344"/>
            <a:ext cx="3739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즉시 조치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766560" y="1481328"/>
            <a:ext cx="4526280" cy="420624"/>
          </a:xfrm>
          <a:prstGeom prst="rect">
            <a:avLst/>
          </a:prstGeom>
          <a:solidFill>
            <a:srgbClr val="F1F5F9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609344"/>
            <a:ext cx="4379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강의 운영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640080" y="1901952"/>
            <a:ext cx="224028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29968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관리자 권한 없음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880360" y="1901952"/>
            <a:ext cx="388620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2029968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가능한 옆 사람과 2인 1조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6766560" y="1901952"/>
            <a:ext cx="452628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029968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관찰자는 요청문 작성과 결과 점검을 맡는다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640080" y="2688336"/>
            <a:ext cx="2240280" cy="786384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16352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로그인 지연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880360" y="2688336"/>
            <a:ext cx="3886200" cy="786384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3512" y="2816352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재시도, 다른 계정 사용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6766560" y="2688336"/>
            <a:ext cx="4526280" cy="786384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816352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화면을 보며 동일 요청문을 작성한다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224028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602736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와이파이 지연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880360" y="3474720"/>
            <a:ext cx="388620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3602736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파일·샘플 폴더를 USB/공유폴더로 제공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6766560" y="3474720"/>
            <a:ext cx="452628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3602736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대신 안전 세팅과 요청문 실습으로 전환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640080" y="4261104"/>
            <a:ext cx="2240280" cy="786384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389120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화면이 다름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880360" y="4261104"/>
            <a:ext cx="3886200" cy="786384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53512" y="4389120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차이를 인정하고 핵심 메뉴만 안내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6766560" y="4261104"/>
            <a:ext cx="4526280" cy="786384"/>
          </a:xfrm>
          <a:prstGeom prst="rect">
            <a:avLst/>
          </a:prstGeom>
          <a:solidFill>
            <a:srgbClr val="F8FAFC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4389120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화면보다 작업 순서와 승인 범위에 집중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640080" y="5047488"/>
            <a:ext cx="224028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175504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설치 실패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880360" y="5047488"/>
            <a:ext cx="388620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5175504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 실습으로 전환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6766560" y="5047488"/>
            <a:ext cx="4526280" cy="786384"/>
          </a:xfrm>
          <a:prstGeom prst="rect">
            <a:avLst/>
          </a:prstGeom>
          <a:solidFill>
            <a:srgbClr val="FFFFFF"/>
          </a:solidFill>
          <a:ln w="5715">
            <a:solidFill>
              <a:srgbClr val="D8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5175504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적용 문장은 개인별로 작성</a:t>
            </a:r>
            <a:endParaRPr lang="en-US" sz="69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IF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업무 적용 문장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맡기고 싶은 일은 __________ 이다.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103120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읽어도 되는 자료는 __________ 까지다.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542032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만들어야 할 산출물은 __________ 이다.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980944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생성과 수정은 내 승인 뒤에 진행한다.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419856"/>
            <a:ext cx="9966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판단은 내가 직접 한다.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8A97A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SETUP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137392" y="2011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A97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현장 설치 60~90분 운영안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1408176"/>
            <a:ext cx="10817352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408176"/>
            <a:ext cx="73152" cy="530352"/>
          </a:xfrm>
          <a:prstGeom prst="rect">
            <a:avLst/>
          </a:prstGeom>
          <a:solidFill>
            <a:srgbClr val="0F3A66"/>
          </a:solidFill>
          <a:ln w="12700">
            <a:solidFill>
              <a:srgbClr val="0F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7276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3A6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0~10분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2267712" y="1554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개념 정리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4434840" y="1554480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받기와 업무 맡기기 차이를 설명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749808" y="2121408"/>
            <a:ext cx="10817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121408"/>
            <a:ext cx="73152" cy="530352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28600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10~30분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267712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Antigravity 설치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4434840" y="2267712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다운로드, 로그인, 빈 폴더 열기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749808" y="2834640"/>
            <a:ext cx="10817352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834640"/>
            <a:ext cx="73152" cy="530352"/>
          </a:xfrm>
          <a:prstGeom prst="rect">
            <a:avLst/>
          </a:prstGeom>
          <a:solidFill>
            <a:srgbClr val="D9730D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99923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30~45분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2267712" y="2980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안전 세팅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434840" y="2980944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폴더, 파일 변경 전 승인, 비밀정보 제외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749808" y="3547872"/>
            <a:ext cx="10817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547872"/>
            <a:ext cx="73152" cy="5303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712464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B4231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45~70분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267712" y="36941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공통 실습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434840" y="3694176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안내문, 체크리스트, 리스크 대응표 생성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749808" y="4261104"/>
            <a:ext cx="10817352" cy="530352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261104"/>
            <a:ext cx="73152" cy="530352"/>
          </a:xfrm>
          <a:prstGeom prst="rect">
            <a:avLst/>
          </a:prstGeom>
          <a:solidFill>
            <a:srgbClr val="1B7C86"/>
          </a:solidFill>
          <a:ln w="12700">
            <a:solidFill>
              <a:srgbClr val="1B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4256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B7C8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70~85분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2267712" y="44074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Codex 비교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434840" y="4407408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과제를 계획·수정·보고 흐름으로 시연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749808" y="4974336"/>
            <a:ext cx="10817352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974336"/>
            <a:ext cx="73152" cy="53035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513892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293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85~90분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2267712" y="5120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적용 문장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4434840" y="5120640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 1개와 승인 범위를 작성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전종목 AI 활용 과정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추가 모듈</dc:title>
  <dc:subject>Agentic AI 추가 모듈</dc:subject>
  <dc:creator>Codex</dc:creator>
  <cp:lastModifiedBy>Codex</cp:lastModifiedBy>
  <cp:revision>1</cp:revision>
  <dcterms:created xsi:type="dcterms:W3CDTF">2026-04-26T08:24:11Z</dcterms:created>
  <dcterms:modified xsi:type="dcterms:W3CDTF">2026-04-26T08:24:11Z</dcterms:modified>
</cp:coreProperties>
</file>