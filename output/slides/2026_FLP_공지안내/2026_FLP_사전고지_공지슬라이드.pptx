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5603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2026 FLP PRE-NOTICE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63040" y="1627632"/>
            <a:ext cx="9235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2B37"/>
                </a:solidFill>
              </a:rPr>
              <a:t>2026 FLP Module 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828800" y="2697480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37181"/>
                </a:solidFill>
              </a:rPr>
              <a:t>Reflection 및 SKMS 토의 안내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2057400" y="4434840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D7D2C8"/>
            </a:solidFill>
            <a:prstDash val="solid"/>
          </a:ln>
          <a:effectLst>
            <a:outerShdw sx="100000" sy="100000" kx="0" ky="0" algn="bl" rotWithShape="0" blurRad="12700" dist="12700" dir="2700000">
              <a:srgbClr val="20303C">
                <a:alpha val="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057400" y="4535424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3B5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팀별 Self Review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54880" y="4434840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D7D2C8"/>
            </a:solidFill>
            <a:prstDash val="solid"/>
          </a:ln>
          <a:effectLst>
            <a:outerShdw sx="100000" sy="100000" kx="0" ky="0" algn="bl" rotWithShape="0" blurRad="12700" dist="12700" dir="2700000">
              <a:srgbClr val="20303C">
                <a:alpha val="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0" y="4535424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3B5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SKMS 연결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452360" y="4434840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D7D2C8"/>
            </a:solidFill>
            <a:prstDash val="solid"/>
          </a:ln>
          <a:effectLst>
            <a:outerShdw sx="100000" sy="100000" kx="0" ky="0" algn="bl" rotWithShape="0" blurRad="12700" dist="12700" dir="2700000">
              <a:srgbClr val="20303C">
                <a:alpha val="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452360" y="4535424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3B5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Template 제출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5603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운영 기준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749808"/>
            <a:ext cx="9235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F2B37"/>
                </a:solidFill>
              </a:rPr>
              <a:t>마지막 1시간은 이렇게 진행합니다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859536" y="16276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37181"/>
                </a:solidFill>
              </a:rPr>
              <a:t>마무리 시간이 아니라 팀별 Reflection과 제출이 포함된 필수 세션입니다.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77824" y="1956816"/>
            <a:ext cx="7406640" cy="3584448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7D2C8"/>
            </a:solidFill>
            <a:prstDash val="solid"/>
          </a:ln>
          <a:effectLst>
            <a:outerShdw sx="100000" sy="100000" kx="0" ky="0" algn="bl" rotWithShape="0" blurRad="12700" dist="12700" dir="2700000">
              <a:srgbClr val="20303C">
                <a:alpha val="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77824" y="1956816"/>
            <a:ext cx="7406640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992" y="2121408"/>
            <a:ext cx="7004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Flow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78992" y="2304288"/>
            <a:ext cx="70043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2B37"/>
                </a:solidFill>
              </a:rPr>
              <a:t>4단계 운영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78992" y="2871216"/>
            <a:ext cx="700430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1F2B37"/>
                </a:solidFill>
              </a:rPr>
              <a:t>1. 팀별 Self Review 진행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1F2B37"/>
                </a:solidFill>
              </a:rPr>
              <a:t>2. 5가지 Review Point 기준 정리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1F2B37"/>
                </a:solidFill>
              </a:rPr>
              <a:t>3. SKMS 연결 질문 토의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1F2B37"/>
                </a:solidFill>
              </a:rPr>
              <a:t>4. 조별 Template 작성 및 제출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8522208" y="1956816"/>
            <a:ext cx="2743200" cy="3584448"/>
          </a:xfrm>
          <a:prstGeom prst="roundRect">
            <a:avLst>
              <a:gd name="adj" fmla="val 2667"/>
            </a:avLst>
          </a:prstGeom>
          <a:solidFill>
            <a:srgbClr val="EEF4FE"/>
          </a:solidFill>
          <a:ln w="12700">
            <a:solidFill>
              <a:srgbClr val="D7D2C8"/>
            </a:solidFill>
            <a:prstDash val="solid"/>
          </a:ln>
          <a:effectLst>
            <a:outerShdw sx="100000" sy="100000" kx="0" ky="0" algn="bl" rotWithShape="0" blurRad="12700" dist="12700" dir="2700000">
              <a:srgbClr val="20303C">
                <a:alpha val="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522208" y="1956816"/>
            <a:ext cx="2743200" cy="91440"/>
          </a:xfrm>
          <a:prstGeom prst="rect">
            <a:avLst/>
          </a:prstGeom>
          <a:solidFill>
            <a:srgbClr val="B88A3A"/>
          </a:solidFill>
          <a:ln w="12700">
            <a:solidFill>
              <a:srgbClr val="B88A3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23376" y="2121408"/>
            <a:ext cx="23408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Time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723376" y="2304288"/>
            <a:ext cx="23408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F2B37"/>
                </a:solidFill>
              </a:rPr>
              <a:t>Reflection</a:t>
            </a:r>
            <a:endParaRPr lang="en-US" sz="2200" dirty="0"/>
          </a:p>
          <a:p>
            <a:pPr algn="l" indent="0" marL="0">
              <a:buNone/>
            </a:pPr>
            <a:r>
              <a:rPr lang="en-US" sz="2200" b="1" dirty="0">
                <a:solidFill>
                  <a:srgbClr val="1F2B37"/>
                </a:solidFill>
              </a:rPr>
              <a:t>60분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723376" y="2871216"/>
            <a:ext cx="234086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B37"/>
                </a:solidFill>
              </a:rPr>
              <a:t>팀별 정리와 제출까지 포함한 시간입니다.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5603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Self Review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749808"/>
            <a:ext cx="9235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F2B37"/>
                </a:solidFill>
              </a:rPr>
              <a:t>팀별 Self Review는 5가지 기준으로 진행합니다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859536" y="16276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37181"/>
                </a:solidFill>
              </a:rPr>
              <a:t>결과 요약이 아니라 판단 기준과 의사결정 과정을 정리하는 방식입니다.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77824" y="2084832"/>
            <a:ext cx="10369296" cy="4059936"/>
          </a:xfrm>
          <a:prstGeom prst="roundRect">
            <a:avLst>
              <a:gd name="adj" fmla="val 1802"/>
            </a:avLst>
          </a:prstGeom>
          <a:solidFill>
            <a:srgbClr val="FFFFFF"/>
          </a:solidFill>
          <a:ln w="12700">
            <a:solidFill>
              <a:srgbClr val="D7D2C8"/>
            </a:solidFill>
            <a:prstDash val="solid"/>
          </a:ln>
          <a:effectLst>
            <a:outerShdw sx="100000" sy="100000" kx="0" ky="0" algn="bl" rotWithShape="0" blurRad="12700" dist="12700" dir="2700000">
              <a:srgbClr val="20303C">
                <a:alpha val="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77824" y="2084832"/>
            <a:ext cx="10369296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992" y="2249424"/>
            <a:ext cx="996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Review Points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78992" y="2432304"/>
            <a:ext cx="9966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B37"/>
                </a:solidFill>
              </a:rPr>
              <a:t>정리 기준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133856" y="2816352"/>
            <a:ext cx="91440" cy="91440"/>
          </a:xfrm>
          <a:prstGeom prst="ellipse">
            <a:avLst/>
          </a:prstGeom>
          <a:solidFill>
            <a:srgbClr val="70AD47"/>
          </a:solidFill>
          <a:ln w="12700">
            <a:solidFill>
              <a:srgbClr val="70AD47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16736" y="2743200"/>
            <a:ext cx="9509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1F2B3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경영의 목적  |  목표를 무엇으로 두었는가</a:t>
            </a:r>
            <a:endParaRPr lang="en-US" sz="1240" dirty="0"/>
          </a:p>
        </p:txBody>
      </p:sp>
      <p:sp>
        <p:nvSpPr>
          <p:cNvPr id="14" name="Shape 12"/>
          <p:cNvSpPr/>
          <p:nvPr/>
        </p:nvSpPr>
        <p:spPr>
          <a:xfrm>
            <a:off x="1133856" y="3419856"/>
            <a:ext cx="91440" cy="91440"/>
          </a:xfrm>
          <a:prstGeom prst="ellipse">
            <a:avLst/>
          </a:prstGeom>
          <a:solidFill>
            <a:srgbClr val="70AD47"/>
          </a:solidFill>
          <a:ln w="12700">
            <a:solidFill>
              <a:srgbClr val="70AD4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16736" y="3346704"/>
            <a:ext cx="9509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1F2B3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의사결정의 구조  |  누가 어떤 기준으로 결정했는가</a:t>
            </a:r>
            <a:endParaRPr lang="en-US" sz="1240" dirty="0"/>
          </a:p>
        </p:txBody>
      </p:sp>
      <p:sp>
        <p:nvSpPr>
          <p:cNvPr id="16" name="Shape 14"/>
          <p:cNvSpPr/>
          <p:nvPr/>
        </p:nvSpPr>
        <p:spPr>
          <a:xfrm>
            <a:off x="1133856" y="4023360"/>
            <a:ext cx="91440" cy="91440"/>
          </a:xfrm>
          <a:prstGeom prst="ellipse">
            <a:avLst/>
          </a:prstGeom>
          <a:solidFill>
            <a:srgbClr val="70AD47"/>
          </a:solidFill>
          <a:ln w="12700">
            <a:solidFill>
              <a:srgbClr val="70AD47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16736" y="3950208"/>
            <a:ext cx="9509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1F2B3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기능 간 연결  |  부분 판단이 전체 결과에 어떤 영향을 주었는가</a:t>
            </a:r>
            <a:endParaRPr lang="en-US" sz="1240" dirty="0"/>
          </a:p>
        </p:txBody>
      </p:sp>
      <p:sp>
        <p:nvSpPr>
          <p:cNvPr id="18" name="Shape 16"/>
          <p:cNvSpPr/>
          <p:nvPr/>
        </p:nvSpPr>
        <p:spPr>
          <a:xfrm>
            <a:off x="1133856" y="4626864"/>
            <a:ext cx="91440" cy="91440"/>
          </a:xfrm>
          <a:prstGeom prst="ellipse">
            <a:avLst/>
          </a:prstGeom>
          <a:solidFill>
            <a:srgbClr val="70AD47"/>
          </a:solidFill>
          <a:ln w="12700">
            <a:solidFill>
              <a:srgbClr val="70AD4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16736" y="4553712"/>
            <a:ext cx="9509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1F2B3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환경 변화 대응  |  변화에 따라 무엇을 조정했는가</a:t>
            </a:r>
            <a:endParaRPr lang="en-US" sz="1240" dirty="0"/>
          </a:p>
        </p:txBody>
      </p:sp>
      <p:sp>
        <p:nvSpPr>
          <p:cNvPr id="20" name="Shape 18"/>
          <p:cNvSpPr/>
          <p:nvPr/>
        </p:nvSpPr>
        <p:spPr>
          <a:xfrm>
            <a:off x="1133856" y="5230368"/>
            <a:ext cx="91440" cy="91440"/>
          </a:xfrm>
          <a:prstGeom prst="ellipse">
            <a:avLst/>
          </a:prstGeom>
          <a:solidFill>
            <a:srgbClr val="70AD47"/>
          </a:solidFill>
          <a:ln w="12700">
            <a:solidFill>
              <a:srgbClr val="70AD47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16736" y="5157216"/>
            <a:ext cx="9509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1F2B3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리더의 역할  |  리더가 방향과 우선순위를 어떻게 정리했는가</a:t>
            </a:r>
            <a:endParaRPr lang="en-US" sz="12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5603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SKMS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749808"/>
            <a:ext cx="9235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F2B37"/>
                </a:solidFill>
              </a:rPr>
              <a:t>SKMS 연결 질문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859536" y="16276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37181"/>
                </a:solidFill>
              </a:rPr>
              <a:t>질문 문구는 그대로 사용하고, 개념 이름만 적지 말고 실제 상황과 연결해서 정리합니다.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77824" y="2084832"/>
            <a:ext cx="4956048" cy="3913632"/>
          </a:xfrm>
          <a:prstGeom prst="roundRect">
            <a:avLst>
              <a:gd name="adj" fmla="val 1869"/>
            </a:avLst>
          </a:prstGeom>
          <a:solidFill>
            <a:srgbClr val="FFFFFF"/>
          </a:solidFill>
          <a:ln w="12700">
            <a:solidFill>
              <a:srgbClr val="D7D2C8"/>
            </a:solidFill>
            <a:prstDash val="solid"/>
          </a:ln>
          <a:effectLst>
            <a:outerShdw sx="100000" sy="100000" kx="0" ky="0" algn="bl" rotWithShape="0" blurRad="12700" dist="12700" dir="2700000">
              <a:srgbClr val="20303C">
                <a:alpha val="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77824" y="2084832"/>
            <a:ext cx="4956048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992" y="2249424"/>
            <a:ext cx="45537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Question 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78992" y="2432304"/>
            <a:ext cx="45537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F2B37"/>
                </a:solidFill>
              </a:rPr>
              <a:t>의사결정 순간마다 영향을 준 SKMS 개념은 무엇이었습니까?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078992" y="2999232"/>
            <a:ext cx="4553712" cy="2798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B37"/>
                </a:solidFill>
              </a:rPr>
              <a:t>그 개념이 어떤 상황에서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1F2B37"/>
                </a:solidFill>
              </a:rPr>
              <a:t>어떤 방식으로 작용했는지 정리합니다.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6144768" y="2084832"/>
            <a:ext cx="5102352" cy="3913632"/>
          </a:xfrm>
          <a:prstGeom prst="roundRect">
            <a:avLst>
              <a:gd name="adj" fmla="val 1869"/>
            </a:avLst>
          </a:prstGeom>
          <a:solidFill>
            <a:srgbClr val="FFFFFF"/>
          </a:solidFill>
          <a:ln w="12700">
            <a:solidFill>
              <a:srgbClr val="D7D2C8"/>
            </a:solidFill>
            <a:prstDash val="solid"/>
          </a:ln>
          <a:effectLst>
            <a:outerShdw sx="100000" sy="100000" kx="0" ky="0" algn="bl" rotWithShape="0" blurRad="12700" dist="12700" dir="2700000">
              <a:srgbClr val="20303C">
                <a:alpha val="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44768" y="2084832"/>
            <a:ext cx="5102352" cy="91440"/>
          </a:xfrm>
          <a:prstGeom prst="rect">
            <a:avLst/>
          </a:prstGeom>
          <a:solidFill>
            <a:srgbClr val="B88A3A"/>
          </a:solidFill>
          <a:ln w="12700">
            <a:solidFill>
              <a:srgbClr val="B88A3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45936" y="2249424"/>
            <a:ext cx="4700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Question 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345936" y="2432304"/>
            <a:ext cx="47000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2B37"/>
                </a:solidFill>
              </a:rPr>
              <a:t>오늘 경험을 통해 SKMS가 실제 기업경영에 기여할 수 있다고 느낀 지점은 무엇입니까?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45936" y="2999232"/>
            <a:ext cx="4700016" cy="2798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20" dirty="0">
                <a:solidFill>
                  <a:srgbClr val="1F2B37"/>
                </a:solidFill>
              </a:rPr>
              <a:t>의사결정의 질 또는 조직 실행력과 연결해서 적습니다.</a:t>
            </a:r>
            <a:endParaRPr lang="en-US" sz="12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5603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제출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749808"/>
            <a:ext cx="9235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F2B37"/>
                </a:solidFill>
              </a:rPr>
              <a:t>작성 및 제출 안내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859536" y="16276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37181"/>
                </a:solidFill>
              </a:rPr>
              <a:t>팀별 Template 작성과 업로드까지 완료되어야 오늘 과정이 마무리됩니다.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77824" y="1938528"/>
            <a:ext cx="4919472" cy="4041648"/>
          </a:xfrm>
          <a:prstGeom prst="roundRect">
            <a:avLst>
              <a:gd name="adj" fmla="val 1810"/>
            </a:avLst>
          </a:prstGeom>
          <a:solidFill>
            <a:srgbClr val="FFFFFF"/>
          </a:solidFill>
          <a:ln w="12700">
            <a:solidFill>
              <a:srgbClr val="D7D2C8"/>
            </a:solidFill>
            <a:prstDash val="solid"/>
          </a:ln>
          <a:effectLst>
            <a:outerShdw sx="100000" sy="100000" kx="0" ky="0" algn="bl" rotWithShape="0" blurRad="12700" dist="12700" dir="2700000">
              <a:srgbClr val="20303C">
                <a:alpha val="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77824" y="1938528"/>
            <a:ext cx="4919472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992" y="2103120"/>
            <a:ext cx="45171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Write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78992" y="2286000"/>
            <a:ext cx="4517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B37"/>
                </a:solidFill>
              </a:rPr>
              <a:t>작성 항목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78992" y="2852928"/>
            <a:ext cx="451713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40" dirty="0">
                <a:solidFill>
                  <a:srgbClr val="1F2B37"/>
                </a:solidFill>
              </a:rPr>
              <a:t>각 조 테이블 공용 PC 내 Template 작성</a:t>
            </a:r>
            <a:endParaRPr lang="en-US" sz="1240" dirty="0"/>
          </a:p>
          <a:p>
            <a:pPr algn="l" indent="0" marL="0">
              <a:buNone/>
            </a:pPr>
            <a:r>
              <a:rPr lang="en-US" sz="1240" dirty="0">
                <a:solidFill>
                  <a:srgbClr val="1F2B37"/>
                </a:solidFill>
              </a:rPr>
              <a:t>조별 제출 필수</a:t>
            </a:r>
            <a:endParaRPr lang="en-US" sz="1240" dirty="0"/>
          </a:p>
          <a:p>
            <a:pPr algn="l" indent="0" marL="0">
              <a:buNone/>
            </a:pPr>
            <a:r>
              <a:rPr lang="en-US" sz="1240" dirty="0">
                <a:solidFill>
                  <a:srgbClr val="1F2B37"/>
                </a:solidFill>
              </a:rPr>
              <a:t>mySUNI 페이지 업로드</a:t>
            </a:r>
            <a:endParaRPr lang="en-US" sz="1240" dirty="0"/>
          </a:p>
          <a:p>
            <a:pPr algn="l" indent="0" marL="0">
              <a:buNone/>
            </a:pPr>
            <a:r>
              <a:rPr lang="en-US" sz="1240" dirty="0">
                <a:solidFill>
                  <a:srgbClr val="1F2B37"/>
                </a:solidFill>
              </a:rPr>
              <a:t>시간 제약 시 일부 조만 전체 공유 진행</a:t>
            </a:r>
            <a:endParaRPr lang="en-US" sz="1240" dirty="0"/>
          </a:p>
        </p:txBody>
      </p:sp>
      <p:sp>
        <p:nvSpPr>
          <p:cNvPr id="13" name="Shape 11"/>
          <p:cNvSpPr/>
          <p:nvPr/>
        </p:nvSpPr>
        <p:spPr>
          <a:xfrm>
            <a:off x="6144768" y="1938528"/>
            <a:ext cx="5102352" cy="4041648"/>
          </a:xfrm>
          <a:prstGeom prst="roundRect">
            <a:avLst>
              <a:gd name="adj" fmla="val 1810"/>
            </a:avLst>
          </a:prstGeom>
          <a:solidFill>
            <a:srgbClr val="EEF6EA"/>
          </a:solidFill>
          <a:ln w="12700">
            <a:solidFill>
              <a:srgbClr val="D7D2C8"/>
            </a:solidFill>
            <a:prstDash val="solid"/>
          </a:ln>
          <a:effectLst>
            <a:outerShdw sx="100000" sy="100000" kx="0" ky="0" algn="bl" rotWithShape="0" blurRad="12700" dist="12700" dir="2700000">
              <a:srgbClr val="20303C">
                <a:alpha val="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44768" y="1938528"/>
            <a:ext cx="5102352" cy="91440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45936" y="2103120"/>
            <a:ext cx="4700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Submit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345936" y="2286000"/>
            <a:ext cx="47000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B37"/>
                </a:solidFill>
              </a:rPr>
              <a:t>제출 순서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345936" y="2852928"/>
            <a:ext cx="470001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B37"/>
                </a:solidFill>
              </a:rPr>
              <a:t>작성 -&gt; 점검 -&gt; 업로드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F2B37"/>
                </a:solidFill>
              </a:rPr>
              <a:t>마지막에는 업로드 완료까지 확인합니다.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 Variabl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 Variabl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전종목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FLP Module 1 사전고지</dc:title>
  <dc:subject>2026 FLP 사전고지 안내 슬라이드</dc:subject>
  <dc:creator>OpenAI Codex</dc:creator>
  <cp:lastModifiedBy>OpenAI Codex</cp:lastModifiedBy>
  <cp:revision>1</cp:revision>
  <dcterms:created xsi:type="dcterms:W3CDTF">2026-04-19T10:47:34Z</dcterms:created>
  <dcterms:modified xsi:type="dcterms:W3CDTF">2026-04-19T10:47:34Z</dcterms:modified>
</cp:coreProperties>
</file>