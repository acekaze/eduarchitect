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6"/>
    <p:sldId id="266" r:id="rId5"/>
    <p:sldId id="267" r:id="rId4"/>
    <p:sldId id="268" r:id="rId3"/>
    <p:sldId id="269" r:id="rId2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2834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16161"/>
                </a:solidFill>
                <a:latin typeface="Playfair Display"/>
              </a:rPr>
              <a:t>WORKSHOP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896112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C2F5C"/>
                </a:solidFill>
                <a:latin typeface="Pretendard"/>
              </a:rPr>
              <a:t>경청 · 질문 · 재진술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670048"/>
            <a:ext cx="71323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0000"/>
                </a:solidFill>
                <a:latin typeface="Pretendard"/>
              </a:rPr>
              <a:t>존중을 행동으로 바꾸는 대화 기본기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48072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6161"/>
                </a:solidFill>
                <a:latin typeface="Pretendard"/>
              </a:rPr>
              <a:t>충주 퍼실리테이터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5148072"/>
            <a:ext cx="1737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616161"/>
                </a:solidFill>
                <a:latin typeface="Pretendard"/>
              </a:rPr>
              <a:t>2026.05.13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160520"/>
            <a:ext cx="5303520" cy="64008"/>
          </a:xfrm>
          <a:prstGeom prst="rect">
            <a:avLst/>
          </a:prstGeom>
          <a:solidFill>
            <a:srgbClr val="1C2F5C"/>
          </a:solidFill>
          <a:ln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987552"/>
            <a:ext cx="2971800" cy="3886200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7" y="1325880"/>
            <a:ext cx="23774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C2F5C"/>
                </a:solidFill>
                <a:latin typeface="Playfair Display"/>
              </a:rPr>
              <a:t>LISTEN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7" y="2395728"/>
            <a:ext cx="23774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C2F5C"/>
                </a:solidFill>
                <a:latin typeface="Playfair Display"/>
              </a:rP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3465576"/>
            <a:ext cx="23774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C2F5C"/>
                </a:solidFill>
                <a:latin typeface="Playfair Display"/>
              </a:rPr>
              <a:t>RESTATE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CHUNGJU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98755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1C2F5C"/>
                </a:solidFill>
                <a:latin typeface="Pretendard"/>
              </a:rPr>
              <a:t>존중은 태도에서 끝나지 않습니다.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487168"/>
            <a:ext cx="7955279" cy="10789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0">
                <a:solidFill>
                  <a:srgbClr val="000000"/>
                </a:solidFill>
                <a:latin typeface="Pretendard"/>
              </a:rPr>
              <a:t>상대가 말할 시간을 주고,
들은 내용을 함께 다룰 수 있게 만드는 행동입니다.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4279392"/>
            <a:ext cx="59436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오늘은 그 행동을 세 가지 기술로 연습합니다.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4782312"/>
            <a:ext cx="1261872" cy="310896"/>
          </a:xfrm>
          <a:prstGeom prst="roundRect">
            <a:avLst/>
          </a:prstGeom>
          <a:solidFill>
            <a:srgbClr val="1C2F5C"/>
          </a:solidFill>
          <a:ln w="12700"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경청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4782312"/>
            <a:ext cx="1261872" cy="310896"/>
          </a:xfrm>
          <a:prstGeom prst="roundRect">
            <a:avLst/>
          </a:prstGeom>
          <a:solidFill>
            <a:srgbClr val="1C2F5C"/>
          </a:solidFill>
          <a:ln w="12700"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질문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4782312"/>
            <a:ext cx="1261872" cy="310896"/>
          </a:xfrm>
          <a:prstGeom prst="roundRect">
            <a:avLst/>
          </a:prstGeom>
          <a:solidFill>
            <a:srgbClr val="1C2F5C"/>
          </a:solidFill>
          <a:ln w="12700"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재진술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CHUNGJU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8778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대화가 업무로 이어지는 순서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8869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많이 듣고, 제대로 나누고, 빈칸을 묻고, 함께 다룰 문장으로 다시 말합니다.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88920"/>
            <a:ext cx="6400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C2F5C"/>
                </a:solidFill>
                <a:latin typeface="Playfair Display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218688"/>
            <a:ext cx="2057400" cy="45720"/>
          </a:xfrm>
          <a:prstGeom prst="rect">
            <a:avLst/>
          </a:prstGeom>
          <a:solidFill>
            <a:srgbClr val="1C2F5C"/>
          </a:solidFill>
          <a:ln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493008"/>
            <a:ext cx="2011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00000"/>
                </a:solidFill>
                <a:latin typeface="Pretendard"/>
              </a:rPr>
              <a:t>많이 듣기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877056"/>
            <a:ext cx="205740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616161"/>
                </a:solidFill>
                <a:latin typeface="Pretendard"/>
              </a:rPr>
              <a:t>상대가 말할 시간을 확보한다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3511296"/>
            <a:ext cx="2743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616161"/>
                </a:solidFill>
                <a:latin typeface="Pretendard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788920"/>
            <a:ext cx="6400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C2F5C"/>
                </a:solidFill>
                <a:latin typeface="Playfair Display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0168" y="3218688"/>
            <a:ext cx="2057400" cy="45720"/>
          </a:xfrm>
          <a:prstGeom prst="rect">
            <a:avLst/>
          </a:prstGeom>
          <a:solidFill>
            <a:srgbClr val="1C2F5C"/>
          </a:solidFill>
          <a:ln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3493008"/>
            <a:ext cx="2011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00000"/>
                </a:solidFill>
                <a:latin typeface="Pretendard"/>
              </a:rPr>
              <a:t>제대로 듣기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3877056"/>
            <a:ext cx="205740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616161"/>
                </a:solidFill>
                <a:latin typeface="Pretendard"/>
              </a:rPr>
              <a:t>감정·사실·요구·조치로 나눈다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3016" y="3511296"/>
            <a:ext cx="2743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616161"/>
                </a:solidFill>
                <a:latin typeface="Pretendard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88920"/>
            <a:ext cx="6400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C2F5C"/>
                </a:solidFill>
                <a:latin typeface="Playfair Display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3218688"/>
            <a:ext cx="2057400" cy="45720"/>
          </a:xfrm>
          <a:prstGeom prst="rect">
            <a:avLst/>
          </a:prstGeom>
          <a:solidFill>
            <a:srgbClr val="616161"/>
          </a:solidFill>
          <a:ln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493008"/>
            <a:ext cx="2011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00000"/>
                </a:solidFill>
                <a:latin typeface="Pretendard"/>
              </a:rPr>
              <a:t>질문하기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877056"/>
            <a:ext cx="205740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616161"/>
                </a:solidFill>
                <a:latin typeface="Pretendard"/>
              </a:rPr>
              <a:t>빠진 정보를 채운다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3511296"/>
            <a:ext cx="2743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616161"/>
                </a:solidFill>
                <a:latin typeface="Pretendard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7" y="2788920"/>
            <a:ext cx="6400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C2F5C"/>
                </a:solidFill>
                <a:latin typeface="Playfair Display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08007" y="3218688"/>
            <a:ext cx="2057400" cy="45720"/>
          </a:xfrm>
          <a:prstGeom prst="rect">
            <a:avLst/>
          </a:prstGeom>
          <a:solidFill>
            <a:srgbClr val="616161"/>
          </a:solidFill>
          <a:ln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7" y="3493008"/>
            <a:ext cx="2011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00000"/>
                </a:solidFill>
                <a:latin typeface="Pretendard"/>
              </a:rPr>
              <a:t>재진술하기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7" y="3877056"/>
            <a:ext cx="205740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616161"/>
                </a:solidFill>
                <a:latin typeface="Pretendard"/>
              </a:rPr>
              <a:t>함께 다룰 문장으로 바꾼다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CHUNGJU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8778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경청은 두 가지로 나눕니다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8869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많이 듣는 태도와 제대로 나누는 기술이 함께 있어야 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43891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C2F5C"/>
                </a:solidFill>
                <a:latin typeface="Pretendard"/>
              </a:rPr>
              <a:t>많이 듣기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160520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000000"/>
                </a:solidFill>
                <a:latin typeface="Pretendard"/>
              </a:defRPr>
            </a:pPr>
            <a:r>
              <a:t>끊지 않는다</a:t>
            </a:r>
          </a:p>
          <a:p>
            <a:pPr>
              <a:spcAft>
                <a:spcPts val="900"/>
              </a:spcAft>
              <a:defRPr sz="1800" b="0">
                <a:solidFill>
                  <a:srgbClr val="000000"/>
                </a:solidFill>
                <a:latin typeface="Pretendard"/>
              </a:defRPr>
            </a:pPr>
            <a:r>
              <a:t>반응을 짧게 준다</a:t>
            </a:r>
          </a:p>
          <a:p>
            <a:pPr>
              <a:spcAft>
                <a:spcPts val="900"/>
              </a:spcAft>
              <a:defRPr sz="1800" b="0">
                <a:solidFill>
                  <a:srgbClr val="000000"/>
                </a:solidFill>
                <a:latin typeface="Pretendard"/>
              </a:defRPr>
            </a:pPr>
            <a:r>
              <a:t>침묵을 급하게 채우지 않는다</a:t>
            </a:r>
          </a:p>
          <a:p>
            <a:pPr>
              <a:spcAft>
                <a:spcPts val="900"/>
              </a:spcAft>
              <a:defRPr sz="1800" b="0">
                <a:solidFill>
                  <a:srgbClr val="000000"/>
                </a:solidFill>
                <a:latin typeface="Pretendard"/>
              </a:defRPr>
            </a:pPr>
            <a:r>
              <a:t>상대가 끝까지 말하게 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42032"/>
            <a:ext cx="43891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C2F5C"/>
                </a:solidFill>
                <a:latin typeface="Pretendard"/>
              </a:rPr>
              <a:t>제대로 듣기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160520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000000"/>
                </a:solidFill>
                <a:latin typeface="Pretendard"/>
              </a:defRPr>
            </a:pPr>
            <a:r>
              <a:t>감정과 사실을 나눈다</a:t>
            </a:r>
          </a:p>
          <a:p>
            <a:pPr>
              <a:spcAft>
                <a:spcPts val="900"/>
              </a:spcAft>
              <a:defRPr sz="1800" b="0">
                <a:solidFill>
                  <a:srgbClr val="000000"/>
                </a:solidFill>
                <a:latin typeface="Pretendard"/>
              </a:defRPr>
            </a:pPr>
            <a:r>
              <a:t>요구와 조치를 구분한다</a:t>
            </a:r>
          </a:p>
          <a:p>
            <a:pPr>
              <a:spcAft>
                <a:spcPts val="900"/>
              </a:spcAft>
              <a:defRPr sz="1800" b="0">
                <a:solidFill>
                  <a:srgbClr val="000000"/>
                </a:solidFill>
                <a:latin typeface="Pretendard"/>
              </a:defRPr>
            </a:pPr>
            <a:r>
              <a:t>빠진 정보를 찾는다</a:t>
            </a:r>
          </a:p>
          <a:p>
            <a:pPr>
              <a:spcAft>
                <a:spcPts val="900"/>
              </a:spcAft>
              <a:defRPr sz="1800" b="0">
                <a:solidFill>
                  <a:srgbClr val="000000"/>
                </a:solidFill>
                <a:latin typeface="Pretendard"/>
              </a:defRPr>
            </a:pPr>
            <a:r>
              <a:t>마지막 문장으로 정리한다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2514600"/>
            <a:ext cx="18288" cy="2606040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48656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16161"/>
                </a:solidFill>
                <a:latin typeface="Playfair Display"/>
              </a:rPr>
              <a:t>태도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48656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16161"/>
                </a:solidFill>
                <a:latin typeface="Playfair Display"/>
              </a:rPr>
              <a:t>구조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CHUNGJU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8778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제대로 듣기는 네 칸으로 나누는 일입니다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8869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상대 말이 복잡할수록 한 덩어리로 받지 않습니다.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87168"/>
            <a:ext cx="4709160" cy="868680"/>
          </a:xfrm>
          <a:prstGeom prst="rect">
            <a:avLst/>
          </a:prstGeom>
          <a:solidFill>
            <a:srgbClr val="F7F8F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12344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C2F5C"/>
                </a:solidFill>
                <a:latin typeface="Pretendard"/>
              </a:rPr>
              <a:t>감정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3432" y="2706624"/>
            <a:ext cx="2743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000000"/>
                </a:solidFill>
                <a:latin typeface="Pretendard"/>
              </a:rPr>
              <a:t>불편함, 서운함, 답답함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487168"/>
            <a:ext cx="4709160" cy="868680"/>
          </a:xfrm>
          <a:prstGeom prst="rect">
            <a:avLst/>
          </a:prstGeom>
          <a:solidFill>
            <a:srgbClr val="F7F8F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651760"/>
            <a:ext cx="12344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C2F5C"/>
                </a:solidFill>
                <a:latin typeface="Pretendard"/>
              </a:rPr>
              <a:t>사실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706624"/>
            <a:ext cx="2743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000000"/>
                </a:solidFill>
                <a:latin typeface="Pretendard"/>
              </a:rPr>
              <a:t>상대가 겪었다고 말하는 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813048"/>
            <a:ext cx="4709160" cy="868680"/>
          </a:xfrm>
          <a:prstGeom prst="rect">
            <a:avLst/>
          </a:prstGeom>
          <a:solidFill>
            <a:srgbClr val="F7F8F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77639"/>
            <a:ext cx="12344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C2F5C"/>
                </a:solidFill>
                <a:latin typeface="Pretendard"/>
              </a:rPr>
              <a:t>요구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3432" y="4032504"/>
            <a:ext cx="2743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000000"/>
                </a:solidFill>
                <a:latin typeface="Pretendard"/>
              </a:rPr>
              <a:t>바뀌길 원하는 내용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13048"/>
            <a:ext cx="4709160" cy="868680"/>
          </a:xfrm>
          <a:prstGeom prst="rect">
            <a:avLst/>
          </a:prstGeom>
          <a:solidFill>
            <a:srgbClr val="F7F8F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977639"/>
            <a:ext cx="12344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C2F5C"/>
                </a:solidFill>
                <a:latin typeface="Pretendard"/>
              </a:rPr>
              <a:t>조치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4032504"/>
            <a:ext cx="2743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000000"/>
                </a:solidFill>
                <a:latin typeface="Pretendard"/>
              </a:rPr>
              <a:t>실제로 처리할 다음 행동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074920"/>
            <a:ext cx="87782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>
                <a:solidFill>
                  <a:srgbClr val="616161"/>
                </a:solidFill>
                <a:latin typeface="Pretendard"/>
              </a:rPr>
              <a:t>분류가 끝나면 바로 답하지 말고, 비어 있는 칸을 먼저 찾습니다.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CHUNGJU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8778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실습 | 이 말을 네 칸으로 나눕니다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8869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먼저 개인으로 작성하고, 이후 조별로 서로의 분류를 비교합니다.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50592"/>
            <a:ext cx="9692640" cy="182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0">
                <a:solidFill>
                  <a:srgbClr val="000000"/>
                </a:solidFill>
                <a:latin typeface="Pretendard"/>
              </a:rPr>
              <a:t>지난번 프로그램 안내가 너무 늦었어요.
현장에 갔더니 담당자마다 말이 달라서
기다리는 사람들만 불편했습니다.
다음에는 이런 식으로 운영하면 안 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956048"/>
            <a:ext cx="52120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C2F5C"/>
                </a:solidFill>
                <a:latin typeface="Pretendard"/>
              </a:rPr>
              <a:t>작성 순서: 감정 → 사실 → 요구 → 조치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CHUNGJU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8778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문화재단형 민원 사례 6개 |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8869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각 조는 하나를 골라 감정·사실·요구·조치로 나눕니다.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layfair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87168"/>
            <a:ext cx="2377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C2F5C"/>
                </a:solidFill>
                <a:latin typeface="Pretendard"/>
              </a:rPr>
              <a:t>안내 부족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468880"/>
            <a:ext cx="7040879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70" b="0">
                <a:solidFill>
                  <a:srgbClr val="000000"/>
                </a:solidFill>
                <a:latin typeface="Pretendard"/>
              </a:rPr>
              <a:t>신청은 했는데 안내 문자가 너무 늦게 왔어요. 장소도 정확히 모르겠고 주차 안내도 없어서 한참 헤맸습니다. 다음에는 미리 제대로 안내해 주세요.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145536"/>
            <a:ext cx="992124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11296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layfair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11296"/>
            <a:ext cx="2377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C2F5C"/>
                </a:solidFill>
                <a:latin typeface="Pretendard"/>
              </a:rPr>
              <a:t>현장 대기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93008"/>
            <a:ext cx="7040879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70" b="0">
                <a:solidFill>
                  <a:srgbClr val="000000"/>
                </a:solidFill>
                <a:latin typeface="Pretendard"/>
              </a:rPr>
              <a:t>예약하고 왔는데도 현장에서 너무 오래 기다렸습니다. 접수 줄도 길고 안내하는 사람도 없어서 왜 예약을 받았는지 모르겠더라고요.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169664"/>
            <a:ext cx="992124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35424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layfair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35424"/>
            <a:ext cx="2377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C2F5C"/>
                </a:solidFill>
                <a:latin typeface="Pretendard"/>
              </a:rPr>
              <a:t>참여 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517136"/>
            <a:ext cx="7040879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70" b="0">
                <a:solidFill>
                  <a:srgbClr val="000000"/>
                </a:solidFill>
                <a:latin typeface="Pretendard"/>
              </a:rPr>
              <a:t>이런 프로그램은 항상 아는 사람들만 먼저 신청하는 것 같아요. 공지가 어디에 올라오는지도 모르겠고, 일반 시민은 참여하기가 어렵습니다.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193792"/>
            <a:ext cx="992124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5577840"/>
            <a:ext cx="5669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0">
                <a:solidFill>
                  <a:srgbClr val="616161"/>
                </a:solidFill>
                <a:latin typeface="Pretendard"/>
              </a:rPr>
              <a:t>선택 후 먼저 감정과 사실을 분리합니다.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CHUNGJU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8778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문화재단형 민원 사례 6개 |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8869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분류가 끝나면 빠진 정보를 질문으로 채웁니다.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layfair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87168"/>
            <a:ext cx="2377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C2F5C"/>
                </a:solidFill>
                <a:latin typeface="Pretendard"/>
              </a:rPr>
              <a:t>난이도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468880"/>
            <a:ext cx="7040879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70" b="0">
                <a:solidFill>
                  <a:srgbClr val="000000"/>
                </a:solidFill>
                <a:latin typeface="Pretendard"/>
              </a:rPr>
              <a:t>초보자도 참여할 수 있다고 해서 왔는데 설명이 너무 어려웠습니다. 아이와 같이 왔는데 따라가기 힘들었어요.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145536"/>
            <a:ext cx="992124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11296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layfair Display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11296"/>
            <a:ext cx="2377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C2F5C"/>
                </a:solidFill>
                <a:latin typeface="Pretendard"/>
              </a:rPr>
              <a:t>응대 혼선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93008"/>
            <a:ext cx="7040879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70" b="0">
                <a:solidFill>
                  <a:srgbClr val="000000"/>
                </a:solidFill>
                <a:latin typeface="Pretendard"/>
              </a:rPr>
              <a:t>문의했을 때 담당자마다 답변이 달랐습니다. 어떤 분은 된다고 하고, 다른 분은 안 된다고 하니 시민 입장에서는 너무 혼란스럽습니다.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169664"/>
            <a:ext cx="992124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35424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layfair Display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35424"/>
            <a:ext cx="2377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C2F5C"/>
                </a:solidFill>
                <a:latin typeface="Pretendard"/>
              </a:rPr>
              <a:t>결과 공유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517136"/>
            <a:ext cx="7040879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70" b="0">
                <a:solidFill>
                  <a:srgbClr val="000000"/>
                </a:solidFill>
                <a:latin typeface="Pretendard"/>
              </a:rPr>
              <a:t>시민 의견을 받는다고 해서 설문도 했는데 이후에 뭐가 반영됐는지 알 수가 없습니다. 의견만 받고 끝나는 느낌입니다.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193792"/>
            <a:ext cx="992124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5577840"/>
            <a:ext cx="7132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0">
                <a:solidFill>
                  <a:srgbClr val="616161"/>
                </a:solidFill>
                <a:latin typeface="Pretendard"/>
              </a:rPr>
              <a:t>마지막에는 재진술 1문장과 다음 조치 1문장을 만듭니다.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CHUNGJU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8778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분류 예시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8869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정답을 맞히는 활동이 아니라, 대화에서 무엇을 다뤄야 하는지 찾는 활동입니다.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59152"/>
            <a:ext cx="1143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C2F5C"/>
                </a:solidFill>
                <a:latin typeface="Pretendard"/>
              </a:rPr>
              <a:t>감정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359152"/>
            <a:ext cx="795527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000000"/>
                </a:solidFill>
                <a:latin typeface="Pretendard"/>
              </a:rPr>
              <a:t>안내 지연과 현장 혼선에 대한 불편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52344"/>
            <a:ext cx="987552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072384"/>
            <a:ext cx="1143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C2F5C"/>
                </a:solidFill>
                <a:latin typeface="Pretendard"/>
              </a:rPr>
              <a:t>사실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072384"/>
            <a:ext cx="795527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000000"/>
                </a:solidFill>
                <a:latin typeface="Pretendard"/>
              </a:rPr>
              <a:t>안내가 늦었고 담당자마다 설명이 달랐다고 말함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465576"/>
            <a:ext cx="987552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785616"/>
            <a:ext cx="1143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C2F5C"/>
                </a:solidFill>
                <a:latin typeface="Pretendard"/>
              </a:rPr>
              <a:t>요구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785616"/>
            <a:ext cx="795527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000000"/>
                </a:solidFill>
                <a:latin typeface="Pretendard"/>
              </a:rPr>
              <a:t>다음 회차에서는 같은 문제가 없길 원함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178808"/>
            <a:ext cx="987552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498848"/>
            <a:ext cx="1143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C2F5C"/>
                </a:solidFill>
                <a:latin typeface="Pretendard"/>
              </a:rPr>
              <a:t>조치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498848"/>
            <a:ext cx="795527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000000"/>
                </a:solidFill>
                <a:latin typeface="Pretendard"/>
              </a:rPr>
              <a:t>안내 방식, 현장 동선, 담당자 응대를 조정해야 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892040"/>
            <a:ext cx="987552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349240"/>
            <a:ext cx="89611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여기까지가 경청입니다. 다음은 비어 있는 정보를 질문으로 채웁니다.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CHUNGJU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8778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분류 후에는 빈칸을 찾습니다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8869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무엇이 부족한지 알아야 질문이 짧고 정확해집니다.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31136"/>
            <a:ext cx="2377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retendard"/>
              </a:rPr>
              <a:t>들은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31136"/>
            <a:ext cx="2423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retendard"/>
              </a:rPr>
              <a:t>비어 있는 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31136"/>
            <a:ext cx="3703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retendard"/>
              </a:rPr>
              <a:t>질문으로 전환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679192"/>
            <a:ext cx="237744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21945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0">
                <a:solidFill>
                  <a:srgbClr val="000000"/>
                </a:solidFill>
                <a:latin typeface="Pretendard"/>
              </a:rPr>
              <a:t>감정은 강한데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2679192"/>
            <a:ext cx="242316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79" y="2788920"/>
            <a:ext cx="224027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0">
                <a:solidFill>
                  <a:srgbClr val="000000"/>
                </a:solidFill>
                <a:latin typeface="Pretendard"/>
              </a:rPr>
              <a:t>상황이 불분명하다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679192"/>
            <a:ext cx="3703320" cy="438912"/>
          </a:xfrm>
          <a:prstGeom prst="rect">
            <a:avLst/>
          </a:prstGeom>
          <a:solidFill>
            <a:srgbClr val="DCE4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788920"/>
            <a:ext cx="352043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1">
                <a:solidFill>
                  <a:srgbClr val="1C2F5C"/>
                </a:solidFill>
                <a:latin typeface="Pretendard"/>
              </a:rPr>
              <a:t>언제, 어디서 있었나요?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337560"/>
            <a:ext cx="237744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8"/>
            <a:ext cx="21945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0">
                <a:solidFill>
                  <a:srgbClr val="000000"/>
                </a:solidFill>
                <a:latin typeface="Pretendard"/>
              </a:rPr>
              <a:t>사실은 있는데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3337560"/>
            <a:ext cx="242316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79" y="3447288"/>
            <a:ext cx="224027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0">
                <a:solidFill>
                  <a:srgbClr val="000000"/>
                </a:solidFill>
                <a:latin typeface="Pretendard"/>
              </a:rPr>
              <a:t>영향이 빠져 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3337560"/>
            <a:ext cx="3703320" cy="438912"/>
          </a:xfrm>
          <a:prstGeom prst="rect">
            <a:avLst/>
          </a:prstGeom>
          <a:solidFill>
            <a:srgbClr val="DCE4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447288"/>
            <a:ext cx="352043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1">
                <a:solidFill>
                  <a:srgbClr val="1C2F5C"/>
                </a:solidFill>
                <a:latin typeface="Pretendard"/>
              </a:rPr>
              <a:t>어떤 점이 가장 불편하셨나요?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995928"/>
            <a:ext cx="237744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05656"/>
            <a:ext cx="21945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0">
                <a:solidFill>
                  <a:srgbClr val="000000"/>
                </a:solidFill>
                <a:latin typeface="Pretendard"/>
              </a:rPr>
              <a:t>요구는 있는데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3995928"/>
            <a:ext cx="242316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79" y="4105656"/>
            <a:ext cx="224027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0">
                <a:solidFill>
                  <a:srgbClr val="000000"/>
                </a:solidFill>
                <a:latin typeface="Pretendard"/>
              </a:rPr>
              <a:t>가능한 조치가 모호하다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3995928"/>
            <a:ext cx="3703320" cy="438912"/>
          </a:xfrm>
          <a:prstGeom prst="rect">
            <a:avLst/>
          </a:prstGeom>
          <a:solidFill>
            <a:srgbClr val="DCE4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105656"/>
            <a:ext cx="352043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1">
                <a:solidFill>
                  <a:srgbClr val="1C2F5C"/>
                </a:solidFill>
                <a:latin typeface="Pretendard"/>
              </a:rPr>
              <a:t>원하시는 다음 조치는 무엇인가요?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654296"/>
            <a:ext cx="237744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764024"/>
            <a:ext cx="21945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0">
                <a:solidFill>
                  <a:srgbClr val="000000"/>
                </a:solidFill>
                <a:latin typeface="Pretendard"/>
              </a:rPr>
              <a:t>조치는 있는데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4654296"/>
            <a:ext cx="242316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79" y="4764024"/>
            <a:ext cx="224027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0">
                <a:solidFill>
                  <a:srgbClr val="000000"/>
                </a:solidFill>
                <a:latin typeface="Pretendard"/>
              </a:rPr>
              <a:t>담당과 일정이 없다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4654296"/>
            <a:ext cx="3703320" cy="438912"/>
          </a:xfrm>
          <a:prstGeom prst="rect">
            <a:avLst/>
          </a:prstGeom>
          <a:solidFill>
            <a:srgbClr val="DCE4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4764024"/>
            <a:ext cx="352043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1">
                <a:solidFill>
                  <a:srgbClr val="1C2F5C"/>
                </a:solidFill>
                <a:latin typeface="Pretendard"/>
              </a:rPr>
              <a:t>누가 언제까지 안내하면 좋을까요?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CHUNGJU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8778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질문은 추측을 정보로 바꾸는 기술입니다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8869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상대를 캐묻는 것이 아니라, 함께 다룰 수 있는 말로 바꾸는 과정입니다.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59152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C2F5C"/>
                </a:solidFill>
                <a:latin typeface="Pretendard"/>
              </a:rPr>
              <a:t>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359152"/>
            <a:ext cx="7955279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000000"/>
                </a:solidFill>
                <a:latin typeface="Pretendard"/>
              </a:rPr>
              <a:t>그 일이 언제, 어디서 있었나요?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27248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C2F5C"/>
                </a:solidFill>
                <a:latin typeface="Pretendard"/>
              </a:rPr>
              <a:t>영향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127248"/>
            <a:ext cx="7955279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000000"/>
                </a:solidFill>
                <a:latin typeface="Pretendard"/>
              </a:rPr>
              <a:t>그 일 때문에 어떤 점이 가장 불편하셨나요?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95344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C2F5C"/>
                </a:solidFill>
                <a:latin typeface="Pretendard"/>
              </a:rPr>
              <a:t>요구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895344"/>
            <a:ext cx="7955279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000000"/>
                </a:solidFill>
                <a:latin typeface="Pretendard"/>
              </a:rPr>
              <a:t>원하시는 조치는 무엇인가요?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C2F5C"/>
                </a:solidFill>
                <a:latin typeface="Pretendard"/>
              </a:rPr>
              <a:t>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663440"/>
            <a:ext cx="7955279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000000"/>
                </a:solidFill>
                <a:latin typeface="Pretendard"/>
              </a:rPr>
              <a:t>다음에는 어떤 방식으로 안내받으면 좋으실까요?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349240"/>
            <a:ext cx="88696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0">
                <a:solidFill>
                  <a:srgbClr val="616161"/>
                </a:solidFill>
                <a:latin typeface="Pretendard"/>
              </a:rPr>
              <a:t>좋은 질문은 길지 않습니다. 빠진 정보 한 가지를 정확히 묻습니다.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CHUNGJU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8778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질문할 때 피해야 할 것과 바꿀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8869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질문은 상대를 압박하지 않고 대화를 앞으로 움직여야 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42062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B37B3F"/>
                </a:solidFill>
                <a:latin typeface="Pretendard"/>
              </a:rPr>
              <a:t>피해야 할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67712"/>
            <a:ext cx="42062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5C7A69"/>
                </a:solidFill>
                <a:latin typeface="Pretendard"/>
              </a:rPr>
              <a:t>바꿔 말하기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42976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0000"/>
                </a:solidFill>
                <a:latin typeface="Pretendard"/>
              </a:rPr>
              <a:t>왜 그렇게 하셨어요?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788920"/>
            <a:ext cx="3657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616161"/>
                </a:solidFill>
                <a:latin typeface="Pretendard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43891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C2F5C"/>
                </a:solidFill>
                <a:latin typeface="Pretendard"/>
              </a:rPr>
              <a:t>그때 어떤 상황이었나요?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02152"/>
            <a:ext cx="42976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0000"/>
                </a:solidFill>
                <a:latin typeface="Pretendard"/>
              </a:rPr>
              <a:t>그건 오해 아닌가요?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502152"/>
            <a:ext cx="3657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616161"/>
                </a:solidFill>
                <a:latin typeface="Pretendard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02152"/>
            <a:ext cx="43891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C2F5C"/>
                </a:solidFill>
                <a:latin typeface="Pretendard"/>
              </a:rPr>
              <a:t>어느 부분에서 그렇게 느끼셨나요?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15383"/>
            <a:ext cx="42976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0000"/>
                </a:solidFill>
                <a:latin typeface="Pretendard"/>
              </a:rPr>
              <a:t>원래 그런 건데요.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4215383"/>
            <a:ext cx="3657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616161"/>
                </a:solidFill>
                <a:latin typeface="Pretendard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15383"/>
            <a:ext cx="43891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C2F5C"/>
                </a:solidFill>
                <a:latin typeface="Pretendard"/>
              </a:rPr>
              <a:t>어떤 안내가 있었으면 좋으셨나요?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321808"/>
            <a:ext cx="5669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핵심은 책임 추궁보다 상황 파악입니다.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CHUNGJU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8778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재진술은 반복이 아니라 정리입니다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8869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상대 말을 그대로 따라 하는 것이 아니라, 함께 다룰 수 있는 문장으로 바꿉니다.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423160"/>
            <a:ext cx="9875520" cy="1234440"/>
          </a:xfrm>
          <a:prstGeom prst="rect">
            <a:avLst/>
          </a:prstGeom>
          <a:solidFill>
            <a:srgbClr val="F7F8F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33472"/>
            <a:ext cx="914400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>
                <a:solidFill>
                  <a:srgbClr val="000000"/>
                </a:solidFill>
                <a:latin typeface="Pretendard"/>
              </a:rPr>
              <a:t>말씀을 정리하면,
______ 때문에 불편하셨고,
특히 ______ 부분에서 어려움이 있었으며,
앞으로는 ______을 원하신다는 뜻으로 이해했습니다.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4462272"/>
            <a:ext cx="60350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C2F5C"/>
                </a:solidFill>
                <a:latin typeface="Pretendard"/>
              </a:rPr>
              <a:t>재진술 후에는 반드시 상대에게 맞는지 묻습니다.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901184"/>
            <a:ext cx="44805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>
                <a:solidFill>
                  <a:srgbClr val="616161"/>
                </a:solidFill>
                <a:latin typeface="Pretendard"/>
              </a:rPr>
              <a:t>"제가 이해한 내용이 맞을까요?"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310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CHUNGJU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8778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실습 | 듣고, 묻고, 다시 말합니다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8869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16161"/>
                </a:solidFill>
                <a:latin typeface="Pretendard"/>
              </a:rPr>
              <a:t>마지막 산출물은 재진술 1문장과 다음 조치 1문장입니다.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65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C2F5C"/>
                </a:solidFill>
                <a:latin typeface="Playfair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514600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00000"/>
                </a:solidFill>
                <a:latin typeface="Pretendard"/>
              </a:rPr>
              <a:t>상대 발화를 네 칸으로 나눈다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365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C2F5C"/>
                </a:solidFill>
                <a:latin typeface="Playfair Dis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154680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00000"/>
                </a:solidFill>
                <a:latin typeface="Pretendard"/>
              </a:rPr>
              <a:t>빠진 정보를 질문 3개로 채운다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365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C2F5C"/>
                </a:solidFill>
                <a:latin typeface="Playfair Display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794760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00000"/>
                </a:solidFill>
                <a:latin typeface="Pretendard"/>
              </a:rPr>
              <a:t>재진술 1문장으로 정리한다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365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C2F5C"/>
                </a:solidFill>
                <a:latin typeface="Playfair Display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4434840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00000"/>
                </a:solidFill>
                <a:latin typeface="Pretendard"/>
              </a:rPr>
              <a:t>다음 조치 1문장으로 마무리한다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395728"/>
            <a:ext cx="4160520" cy="2286000"/>
          </a:xfrm>
          <a:prstGeom prst="rect">
            <a:avLst/>
          </a:prstGeom>
          <a:solidFill>
            <a:srgbClr val="DCE4F0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2670048"/>
            <a:ext cx="3566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C2F5C"/>
                </a:solidFill>
                <a:latin typeface="Pretendard"/>
              </a:rPr>
              <a:t>마무리 문장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3127248"/>
            <a:ext cx="352044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1C2F5C"/>
                </a:solidFill>
                <a:latin typeface="Pretendard"/>
              </a:rPr>
              <a:t>오늘 정리한 내용은
담당자와 공유하고,
______까지 ______ 방식으로
안내드리겠습니다.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394960"/>
            <a:ext cx="7772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>
                <a:solidFill>
                  <a:srgbClr val="616161"/>
                </a:solidFill>
                <a:latin typeface="Pretendard"/>
              </a:rPr>
              <a:t>들은 말이 다음 행동으로 이어질 때 대화가 일합니다.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전환설계연구소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전환설계연구소 PPT 템플릿</dc:title>
  <dc:subject>브랜드 가이드 기반 PowerPoint 템플릿</dc:subject>
  <dc:creator>OpenAI Codex</dc:creator>
  <cp:lastModifiedBy>OpenAI Codex</cp:lastModifiedBy>
  <cp:revision>1</cp:revision>
  <dcterms:created xsi:type="dcterms:W3CDTF">2026-04-24T08:10:26Z</dcterms:created>
  <dcterms:modified xsi:type="dcterms:W3CDTF">2026-04-24T08:10:26Z</dcterms:modified>
</cp:coreProperties>
</file>