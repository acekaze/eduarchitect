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34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50292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1C2F5C"/>
                </a:solidFill>
                <a:latin typeface="Pretendard"/>
              </a:rPr>
              <a:t>전환설계연구소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98448"/>
            <a:ext cx="38404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16161"/>
                </a:solidFill>
                <a:latin typeface="Playfair Display"/>
              </a:rPr>
              <a:t>AGENTIC AI WORKSHOP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81381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>
                <a:solidFill>
                  <a:srgbClr val="1C2F5C"/>
                </a:solidFill>
                <a:latin typeface="Playfair Display"/>
              </a:rPr>
              <a:t>CRAFTO-RADAR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2670048"/>
            <a:ext cx="78638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000000"/>
                </a:solidFill>
                <a:latin typeface="Pretendard"/>
              </a:rPr>
              <a:t>LLM 질문 설계에서 에이전트 작업공간 설계로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148072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16161"/>
                </a:solidFill>
                <a:latin typeface="Pretendard"/>
              </a:rPr>
              <a:t>강사용 설명 · 실습 슬라이드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5148072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0">
                <a:solidFill>
                  <a:srgbClr val="616161"/>
                </a:solidFill>
                <a:latin typeface="Pretendard"/>
              </a:rPr>
              <a:t>2026.05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4160520"/>
            <a:ext cx="5257800" cy="9144"/>
          </a:xfrm>
          <a:prstGeom prst="rect">
            <a:avLst/>
          </a:prstGeom>
          <a:solidFill>
            <a:srgbClr val="1C2F5C"/>
          </a:solidFill>
          <a:ln w="25400">
            <a:solidFill>
              <a:srgbClr val="1C2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0" y="960120"/>
            <a:ext cx="2606040" cy="3977639"/>
          </a:xfrm>
          <a:prstGeom prst="rect">
            <a:avLst/>
          </a:prstGeom>
          <a:solidFill>
            <a:srgbClr val="F0F4FA"/>
          </a:solidFill>
          <a:ln w="12700">
            <a:solidFill>
              <a:srgbClr val="F0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41080" y="1344168"/>
            <a:ext cx="4572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100" b="1">
                <a:solidFill>
                  <a:srgbClr val="1C2F5C"/>
                </a:solidFill>
                <a:latin typeface="Playfair Display"/>
              </a:rP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89720" y="1399032"/>
            <a:ext cx="960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616161"/>
                </a:solidFill>
                <a:latin typeface="Pretendard"/>
              </a:rPr>
              <a:t>맥락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49640" y="1965960"/>
            <a:ext cx="1755648" cy="9144"/>
          </a:xfrm>
          <a:prstGeom prst="rect">
            <a:avLst/>
          </a:prstGeom>
          <a:solidFill>
            <a:srgbClr val="DADADA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41080" y="2331720"/>
            <a:ext cx="4572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100" b="1">
                <a:solidFill>
                  <a:srgbClr val="1C2F5C"/>
                </a:solidFill>
                <a:latin typeface="Playfair Display"/>
              </a:rPr>
              <a:t>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9720" y="2386584"/>
            <a:ext cx="960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616161"/>
                </a:solidFill>
                <a:latin typeface="Pretendard"/>
              </a:rPr>
              <a:t>범위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49640" y="2953512"/>
            <a:ext cx="1755648" cy="9144"/>
          </a:xfrm>
          <a:prstGeom prst="rect">
            <a:avLst/>
          </a:prstGeom>
          <a:solidFill>
            <a:srgbClr val="DADADA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41080" y="3319272"/>
            <a:ext cx="4572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100" b="1">
                <a:solidFill>
                  <a:srgbClr val="1C2F5C"/>
                </a:solidFill>
                <a:latin typeface="Playfair Display"/>
              </a:rPr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3374136"/>
            <a:ext cx="960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616161"/>
                </a:solidFill>
                <a:latin typeface="Pretendard"/>
              </a:rPr>
              <a:t>승인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49640" y="3941063"/>
            <a:ext cx="1755648" cy="9144"/>
          </a:xfrm>
          <a:prstGeom prst="rect">
            <a:avLst/>
          </a:prstGeom>
          <a:solidFill>
            <a:srgbClr val="DADADA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41080" y="4306824"/>
            <a:ext cx="4572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100" b="1">
                <a:solidFill>
                  <a:srgbClr val="1C2F5C"/>
                </a:solidFill>
                <a:latin typeface="Playfair Display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4361688"/>
            <a:ext cx="960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616161"/>
                </a:solidFill>
                <a:latin typeface="Pretendard"/>
              </a:rPr>
              <a:t>완료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10896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1C2F5C"/>
                </a:solidFill>
                <a:latin typeface="Pretendard"/>
              </a:rPr>
              <a:t>전환설계연구소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41080" y="310896"/>
            <a:ext cx="2240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616161"/>
                </a:solidFill>
                <a:latin typeface="Playfair Display"/>
              </a:rPr>
              <a:t>CRAFTO-RADAR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40080"/>
            <a:ext cx="10881360" cy="9144"/>
          </a:xfrm>
          <a:prstGeom prst="rect">
            <a:avLst/>
          </a:prstGeom>
          <a:solidFill>
            <a:srgbClr val="DADADA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37392" y="6236208"/>
            <a:ext cx="2926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50" b="0">
                <a:solidFill>
                  <a:srgbClr val="616161"/>
                </a:solidFill>
                <a:latin typeface="Playfair Display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68680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1C2F5C"/>
                </a:solidFill>
                <a:latin typeface="Playfair Display"/>
              </a:rPr>
              <a:t>WHY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61288"/>
            <a:ext cx="937260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C2F5C"/>
                </a:solidFill>
                <a:latin typeface="Pretendard"/>
              </a:rPr>
              <a:t>질문을 잘 쓰는 일에서 일을 맡기는 일로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01368"/>
            <a:ext cx="98755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 dirty="0">
                <a:solidFill>
                  <a:srgbClr val="616161"/>
                </a:solidFill>
                <a:latin typeface="Pretendard"/>
              </a:rPr>
              <a:t>Agentic </a:t>
            </a:r>
            <a:r>
              <a:rPr sz="1550" b="0" dirty="0" err="1">
                <a:solidFill>
                  <a:srgbClr val="616161"/>
                </a:solidFill>
                <a:latin typeface="Pretendard"/>
              </a:rPr>
              <a:t>AI에서는</a:t>
            </a:r>
            <a:r>
              <a:rPr sz="1550" b="0" dirty="0">
                <a:solidFill>
                  <a:srgbClr val="616161"/>
                </a:solidFill>
                <a:latin typeface="Pretendard"/>
              </a:rPr>
              <a:t> </a:t>
            </a:r>
            <a:r>
              <a:rPr sz="1550" b="0" dirty="0" err="1">
                <a:solidFill>
                  <a:srgbClr val="616161"/>
                </a:solidFill>
                <a:latin typeface="Pretendard"/>
              </a:rPr>
              <a:t>답변</a:t>
            </a:r>
            <a:r>
              <a:rPr sz="1550" b="0" dirty="0">
                <a:solidFill>
                  <a:srgbClr val="616161"/>
                </a:solidFill>
                <a:latin typeface="Pretendard"/>
              </a:rPr>
              <a:t> </a:t>
            </a:r>
            <a:r>
              <a:rPr sz="1550" b="0" dirty="0" err="1">
                <a:solidFill>
                  <a:srgbClr val="616161"/>
                </a:solidFill>
                <a:latin typeface="Pretendard"/>
              </a:rPr>
              <a:t>품질보다</a:t>
            </a:r>
            <a:r>
              <a:rPr sz="1550" b="0" dirty="0">
                <a:solidFill>
                  <a:srgbClr val="616161"/>
                </a:solidFill>
                <a:latin typeface="Pretendard"/>
              </a:rPr>
              <a:t> </a:t>
            </a:r>
            <a:r>
              <a:rPr sz="1550" b="0" dirty="0" err="1">
                <a:solidFill>
                  <a:srgbClr val="616161"/>
                </a:solidFill>
                <a:latin typeface="Pretendard"/>
              </a:rPr>
              <a:t>작업</a:t>
            </a:r>
            <a:r>
              <a:rPr sz="1550" b="0" dirty="0">
                <a:solidFill>
                  <a:srgbClr val="616161"/>
                </a:solidFill>
                <a:latin typeface="Pretendard"/>
              </a:rPr>
              <a:t> </a:t>
            </a:r>
            <a:r>
              <a:rPr sz="1550" b="0" dirty="0" err="1">
                <a:solidFill>
                  <a:srgbClr val="616161"/>
                </a:solidFill>
                <a:latin typeface="Pretendard"/>
              </a:rPr>
              <a:t>범위와</a:t>
            </a:r>
            <a:r>
              <a:rPr sz="1550" b="0" dirty="0">
                <a:solidFill>
                  <a:srgbClr val="616161"/>
                </a:solidFill>
                <a:latin typeface="Pretendard"/>
              </a:rPr>
              <a:t> </a:t>
            </a:r>
            <a:r>
              <a:rPr sz="1550" b="0" dirty="0" err="1">
                <a:solidFill>
                  <a:srgbClr val="616161"/>
                </a:solidFill>
                <a:latin typeface="Pretendard"/>
              </a:rPr>
              <a:t>승인</a:t>
            </a:r>
            <a:r>
              <a:rPr sz="1550" b="0" dirty="0">
                <a:solidFill>
                  <a:srgbClr val="616161"/>
                </a:solidFill>
                <a:latin typeface="Pretendard"/>
              </a:rPr>
              <a:t> </a:t>
            </a:r>
            <a:r>
              <a:rPr sz="1550" b="0" dirty="0" err="1">
                <a:solidFill>
                  <a:srgbClr val="616161"/>
                </a:solidFill>
                <a:latin typeface="Pretendard"/>
              </a:rPr>
              <a:t>흐름이</a:t>
            </a:r>
            <a:r>
              <a:rPr sz="1550" b="0" dirty="0">
                <a:solidFill>
                  <a:srgbClr val="616161"/>
                </a:solidFill>
                <a:latin typeface="Pretendard"/>
              </a:rPr>
              <a:t> 더 </a:t>
            </a:r>
            <a:r>
              <a:rPr sz="1550" b="0" dirty="0" err="1">
                <a:solidFill>
                  <a:srgbClr val="616161"/>
                </a:solidFill>
                <a:latin typeface="Pretendard"/>
              </a:rPr>
              <a:t>중요해집니다</a:t>
            </a:r>
            <a:r>
              <a:rPr sz="1550" b="0" dirty="0">
                <a:solidFill>
                  <a:srgbClr val="616161"/>
                </a:solidFill>
                <a:latin typeface="Pretendard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06040"/>
            <a:ext cx="32004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1C2F5C"/>
                </a:solidFill>
                <a:latin typeface="Pretendard"/>
              </a:rPr>
              <a:t>LLM 활용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127248"/>
            <a:ext cx="36118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000000"/>
                </a:solidFill>
                <a:latin typeface="Pretendard"/>
              </a:defRPr>
            </a:pPr>
            <a:r>
              <a:t>좋은 답을 받는다</a:t>
            </a:r>
          </a:p>
          <a:p>
            <a:pPr>
              <a:spcAft>
                <a:spcPts val="900"/>
              </a:spcAft>
              <a:defRPr sz="1700" b="0">
                <a:solidFill>
                  <a:srgbClr val="000000"/>
                </a:solidFill>
                <a:latin typeface="Pretendard"/>
              </a:defRPr>
            </a:pPr>
            <a:r>
              <a:t>맥락을 정리한다</a:t>
            </a:r>
          </a:p>
          <a:p>
            <a:pPr>
              <a:spcAft>
                <a:spcPts val="900"/>
              </a:spcAft>
              <a:defRPr sz="1700" b="0">
                <a:solidFill>
                  <a:srgbClr val="000000"/>
                </a:solidFill>
                <a:latin typeface="Pretendard"/>
              </a:defRPr>
            </a:pPr>
            <a:r>
              <a:t>초안과 피드백을 주고받는다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2120" y="3236976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3000" b="0">
                <a:solidFill>
                  <a:srgbClr val="949494"/>
                </a:solidFill>
                <a:latin typeface="Playfair Display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606040"/>
            <a:ext cx="38404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1C2F5C"/>
                </a:solidFill>
                <a:latin typeface="Pretendard"/>
              </a:rPr>
              <a:t>Agentic AI 활용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127248"/>
            <a:ext cx="38862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000000"/>
                </a:solidFill>
                <a:latin typeface="Pretendard"/>
              </a:defRPr>
            </a:pPr>
            <a:r>
              <a:t>파일을 만들고 고친다</a:t>
            </a:r>
          </a:p>
          <a:p>
            <a:pPr>
              <a:spcAft>
                <a:spcPts val="900"/>
              </a:spcAft>
              <a:defRPr sz="1700" b="0">
                <a:solidFill>
                  <a:srgbClr val="000000"/>
                </a:solidFill>
                <a:latin typeface="Pretendard"/>
              </a:defRPr>
            </a:pPr>
            <a:r>
              <a:t>폴더와 자료를 다룬다</a:t>
            </a:r>
          </a:p>
          <a:p>
            <a:pPr>
              <a:spcAft>
                <a:spcPts val="900"/>
              </a:spcAft>
              <a:defRPr sz="1700" b="0">
                <a:solidFill>
                  <a:srgbClr val="000000"/>
                </a:solidFill>
                <a:latin typeface="Pretendard"/>
              </a:defRPr>
            </a:pPr>
            <a:r>
              <a:t>계획, 승인, 보고가 필요하다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5230368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16161"/>
                </a:solidFill>
                <a:latin typeface="Playfair Display"/>
              </a:rPr>
              <a:t>핵심 변화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84831" y="5175504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1C2F5C"/>
                </a:solidFill>
                <a:latin typeface="Pretendard"/>
              </a:rPr>
              <a:t>프롬프트 역량이 작업공간 설계 역량으로 확장됩니다.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10896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1C2F5C"/>
                </a:solidFill>
                <a:latin typeface="Pretendard"/>
              </a:rPr>
              <a:t>전환설계연구소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41080" y="310896"/>
            <a:ext cx="2240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616161"/>
                </a:solidFill>
                <a:latin typeface="Playfair Display"/>
              </a:rPr>
              <a:t>CRAFTO-RADAR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40080"/>
            <a:ext cx="10881360" cy="9144"/>
          </a:xfrm>
          <a:prstGeom prst="rect">
            <a:avLst/>
          </a:prstGeom>
          <a:solidFill>
            <a:srgbClr val="DADADA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37392" y="6236208"/>
            <a:ext cx="2926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50" b="0">
                <a:solidFill>
                  <a:srgbClr val="616161"/>
                </a:solidFill>
                <a:latin typeface="Playfair Display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68680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1C2F5C"/>
                </a:solidFill>
                <a:latin typeface="Playfair Display"/>
              </a:rPr>
              <a:t>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61288"/>
            <a:ext cx="937260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C2F5C"/>
                </a:solidFill>
                <a:latin typeface="Pretendard"/>
              </a:rPr>
              <a:t>CRAFTO는 그대로 유지합니다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01368"/>
            <a:ext cx="98755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616161"/>
                </a:solidFill>
                <a:latin typeface="Pretendard"/>
              </a:rPr>
              <a:t>프롬프트 공식이 아니라, 내 생각을 AI에게 전달하는 맥락 구조입니다.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68880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1C2F5C"/>
                </a:solidFill>
                <a:latin typeface="Playfair Display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7048" y="2487168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>
                <a:solidFill>
                  <a:srgbClr val="000000"/>
                </a:solidFill>
                <a:latin typeface="Pretendard"/>
              </a:rPr>
              <a:t>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7048" y="2852928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616161"/>
                </a:solidFill>
                <a:latin typeface="Pretendard"/>
              </a:rPr>
              <a:t>상황과 목적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3273552"/>
            <a:ext cx="2697480" cy="9144"/>
          </a:xfrm>
          <a:prstGeom prst="rect">
            <a:avLst/>
          </a:prstGeom>
          <a:solidFill>
            <a:srgbClr val="DADADA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34840" y="2468880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1C2F5C"/>
                </a:solidFill>
                <a:latin typeface="Playfair Display"/>
              </a:rPr>
              <a:t>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3207" y="2487168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>
                <a:solidFill>
                  <a:srgbClr val="000000"/>
                </a:solidFill>
                <a:latin typeface="Pretendard"/>
              </a:rPr>
              <a:t>Role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93207" y="2852928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616161"/>
                </a:solidFill>
                <a:latin typeface="Pretendard"/>
              </a:rPr>
              <a:t>AI의 역할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4840" y="3273552"/>
            <a:ext cx="2697480" cy="9144"/>
          </a:xfrm>
          <a:prstGeom prst="rect">
            <a:avLst/>
          </a:prstGeom>
          <a:solidFill>
            <a:srgbClr val="DADADA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01000" y="2468880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1C2F5C"/>
                </a:solidFill>
                <a:latin typeface="Playfair Display"/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59368" y="2487168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>
                <a:solidFill>
                  <a:srgbClr val="000000"/>
                </a:solidFill>
                <a:latin typeface="Pretendard"/>
              </a:rPr>
              <a:t>Audience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59368" y="2852928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616161"/>
                </a:solidFill>
                <a:latin typeface="Pretendard"/>
              </a:rPr>
              <a:t>결과물을 볼 사람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1000" y="3273552"/>
            <a:ext cx="2697480" cy="9144"/>
          </a:xfrm>
          <a:prstGeom prst="rect">
            <a:avLst/>
          </a:prstGeom>
          <a:solidFill>
            <a:srgbClr val="DADADA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3822191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1C2F5C"/>
                </a:solidFill>
                <a:latin typeface="Playfair Display"/>
              </a:rPr>
              <a:t>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840479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>
                <a:solidFill>
                  <a:srgbClr val="000000"/>
                </a:solidFill>
                <a:latin typeface="Pretendard"/>
              </a:rPr>
              <a:t>Format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27048" y="4206240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616161"/>
                </a:solidFill>
                <a:latin typeface="Pretendard"/>
              </a:rPr>
              <a:t>형식과 구조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" y="4626864"/>
            <a:ext cx="2697480" cy="9144"/>
          </a:xfrm>
          <a:prstGeom prst="rect">
            <a:avLst/>
          </a:prstGeom>
          <a:solidFill>
            <a:srgbClr val="DADADA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34840" y="3822191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1C2F5C"/>
                </a:solidFill>
                <a:latin typeface="Playfair Display"/>
              </a:rPr>
              <a:t>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93207" y="3840479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>
                <a:solidFill>
                  <a:srgbClr val="000000"/>
                </a:solidFill>
                <a:latin typeface="Pretendard"/>
              </a:rPr>
              <a:t>Tone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93207" y="4206240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616161"/>
                </a:solidFill>
                <a:latin typeface="Pretendard"/>
              </a:rPr>
              <a:t>문체와 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34840" y="4626864"/>
            <a:ext cx="2697480" cy="9144"/>
          </a:xfrm>
          <a:prstGeom prst="rect">
            <a:avLst/>
          </a:prstGeom>
          <a:solidFill>
            <a:srgbClr val="DADADA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001000" y="3822191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1C2F5C"/>
                </a:solidFill>
                <a:latin typeface="Playfair Display"/>
              </a:rPr>
              <a:t>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59368" y="3840479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>
                <a:solidFill>
                  <a:srgbClr val="000000"/>
                </a:solidFill>
                <a:latin typeface="Pretendard"/>
              </a:rPr>
              <a:t>Option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59368" y="4206240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616161"/>
                </a:solidFill>
                <a:latin typeface="Pretendard"/>
              </a:rPr>
              <a:t>제약과 옵션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01000" y="4626864"/>
            <a:ext cx="2697480" cy="9144"/>
          </a:xfrm>
          <a:prstGeom prst="rect">
            <a:avLst/>
          </a:prstGeom>
          <a:solidFill>
            <a:srgbClr val="DADADA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920240" y="5413248"/>
            <a:ext cx="8138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1C2F5C"/>
                </a:solidFill>
                <a:latin typeface="Pretendard"/>
              </a:rPr>
              <a:t>CRAFTO는 좋은 답을 받기 위한 출발점입니다.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10896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1C2F5C"/>
                </a:solidFill>
                <a:latin typeface="Pretendard"/>
              </a:rPr>
              <a:t>전환설계연구소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41080" y="310896"/>
            <a:ext cx="2240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616161"/>
                </a:solidFill>
                <a:latin typeface="Playfair Display"/>
              </a:rPr>
              <a:t>CRAFTO-RADAR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40080"/>
            <a:ext cx="10881360" cy="9144"/>
          </a:xfrm>
          <a:prstGeom prst="rect">
            <a:avLst/>
          </a:prstGeom>
          <a:solidFill>
            <a:srgbClr val="DADADA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37392" y="6236208"/>
            <a:ext cx="2926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50" b="0">
                <a:solidFill>
                  <a:srgbClr val="616161"/>
                </a:solidFill>
                <a:latin typeface="Playfair Display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68680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1C2F5C"/>
                </a:solidFill>
                <a:latin typeface="Playfair Display"/>
              </a:rPr>
              <a:t>EXTENSION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61288"/>
            <a:ext cx="937260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C2F5C"/>
                </a:solidFill>
                <a:latin typeface="Pretendard"/>
              </a:rPr>
              <a:t>Agentic AI에는 RADAR가 추가됩니다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01368"/>
            <a:ext cx="98755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616161"/>
                </a:solidFill>
                <a:latin typeface="Pretendard"/>
              </a:rPr>
              <a:t>AI가 실제 파일을 다룰 때는 맥락만으로 충분하지 않습니다.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06040"/>
            <a:ext cx="28346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1C2F5C"/>
                </a:solidFill>
                <a:latin typeface="Playfair Display"/>
              </a:rPr>
              <a:t>CRAFTO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127248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000000"/>
                </a:solidFill>
                <a:latin typeface="Pretendard"/>
              </a:rPr>
              <a:t>맥락 설계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3493008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616161"/>
                </a:solidFill>
                <a:latin typeface="Pretendard"/>
              </a:rPr>
              <a:t>무엇을 왜 요청하는지 정리합니다.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2944368"/>
            <a:ext cx="4114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949494"/>
                </a:solidFill>
                <a:latin typeface="Playfair Display"/>
              </a:rPr>
              <a:t>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606040"/>
            <a:ext cx="28346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1C2F5C"/>
                </a:solidFill>
                <a:latin typeface="Playfair Display"/>
              </a:rPr>
              <a:t>RADAR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3127248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000000"/>
                </a:solidFill>
                <a:latin typeface="Pretendard"/>
              </a:rPr>
              <a:t>실행 설계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3493008"/>
            <a:ext cx="3520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616161"/>
                </a:solidFill>
                <a:latin typeface="Pretendard"/>
              </a:rPr>
              <a:t>어디까지 맡기고 어떻게 점검할지 정합니다.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4828032"/>
            <a:ext cx="9921240" cy="9144"/>
          </a:xfrm>
          <a:prstGeom prst="rect">
            <a:avLst/>
          </a:prstGeom>
          <a:solidFill>
            <a:srgbClr val="1C2F5C"/>
          </a:solidFill>
          <a:ln w="25400">
            <a:solidFill>
              <a:srgbClr val="1C2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25880" y="5138928"/>
            <a:ext cx="92354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1C2F5C"/>
                </a:solidFill>
                <a:latin typeface="Pretendard"/>
              </a:rPr>
              <a:t>CRAFTO-RADAR는 에이전트에게 일을 맡기는 요청서입니다.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10896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1C2F5C"/>
                </a:solidFill>
                <a:latin typeface="Pretendard"/>
              </a:rPr>
              <a:t>전환설계연구소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41080" y="310896"/>
            <a:ext cx="2240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616161"/>
                </a:solidFill>
                <a:latin typeface="Playfair Display"/>
              </a:rPr>
              <a:t>CRAFTO-RADAR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40080"/>
            <a:ext cx="10881360" cy="9144"/>
          </a:xfrm>
          <a:prstGeom prst="rect">
            <a:avLst/>
          </a:prstGeom>
          <a:solidFill>
            <a:srgbClr val="DADADA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37392" y="6236208"/>
            <a:ext cx="2926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50" b="0">
                <a:solidFill>
                  <a:srgbClr val="616161"/>
                </a:solidFill>
                <a:latin typeface="Playfair Display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68680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1C2F5C"/>
                </a:solidFill>
                <a:latin typeface="Playfair Display"/>
              </a:rPr>
              <a:t>FRAME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61288"/>
            <a:ext cx="937260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C2F5C"/>
                </a:solidFill>
                <a:latin typeface="Pretendard"/>
              </a:rPr>
              <a:t>RADAR는 AGENTS.md를 만드는 질문 프레임입니다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01368"/>
            <a:ext cx="98755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616161"/>
                </a:solidFill>
                <a:latin typeface="Pretendard"/>
              </a:rPr>
              <a:t>작업 범위, 승인, 완료, 질문, 보고를 정하면 에이전트가 안정적으로 움직입니다.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87168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3000" b="1">
                <a:solidFill>
                  <a:srgbClr val="1C2F5C"/>
                </a:solidFill>
                <a:latin typeface="Playfair Display"/>
              </a:rPr>
              <a:t>R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3054096"/>
            <a:ext cx="320040" cy="9144"/>
          </a:xfrm>
          <a:prstGeom prst="rect">
            <a:avLst/>
          </a:prstGeom>
          <a:solidFill>
            <a:srgbClr val="1C2F5C"/>
          </a:solidFill>
          <a:ln w="25400">
            <a:solidFill>
              <a:srgbClr val="1C2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3346704"/>
            <a:ext cx="1143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000000"/>
                </a:solidFill>
                <a:latin typeface="Pretendard"/>
              </a:rPr>
              <a:t>Range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2" y="3749039"/>
            <a:ext cx="1748999" cy="1858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20" b="0" dirty="0" err="1">
                <a:solidFill>
                  <a:srgbClr val="616161"/>
                </a:solidFill>
                <a:latin typeface="Pretendard"/>
              </a:rPr>
              <a:t>어디까지</a:t>
            </a:r>
            <a:r>
              <a:rPr sz="1220" b="0" dirty="0">
                <a:solidFill>
                  <a:srgbClr val="616161"/>
                </a:solidFill>
                <a:latin typeface="Pretendard"/>
              </a:rPr>
              <a:t> </a:t>
            </a:r>
            <a:r>
              <a:rPr sz="1220" b="0" dirty="0" err="1">
                <a:solidFill>
                  <a:srgbClr val="616161"/>
                </a:solidFill>
                <a:latin typeface="Pretendard"/>
              </a:rPr>
              <a:t>읽고</a:t>
            </a:r>
            <a:r>
              <a:rPr sz="1220" b="0" dirty="0">
                <a:solidFill>
                  <a:srgbClr val="616161"/>
                </a:solidFill>
                <a:latin typeface="Pretendard"/>
              </a:rPr>
              <a:t> 쓸 수 </a:t>
            </a:r>
            <a:r>
              <a:rPr sz="1220" b="0" dirty="0" err="1">
                <a:solidFill>
                  <a:srgbClr val="616161"/>
                </a:solidFill>
                <a:latin typeface="Pretendard"/>
              </a:rPr>
              <a:t>있는가</a:t>
            </a:r>
            <a:endParaRPr sz="1220" b="0" dirty="0">
              <a:solidFill>
                <a:srgbClr val="616161"/>
              </a:solidFill>
              <a:latin typeface="Pretendar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017520" y="2487168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3000" b="1">
                <a:solidFill>
                  <a:srgbClr val="1C2F5C"/>
                </a:solidFill>
                <a:latin typeface="Playfair Display"/>
              </a:rPr>
              <a:t>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08960" y="3054096"/>
            <a:ext cx="320040" cy="9144"/>
          </a:xfrm>
          <a:prstGeom prst="rect">
            <a:avLst/>
          </a:prstGeom>
          <a:solidFill>
            <a:srgbClr val="1C2F5C"/>
          </a:solidFill>
          <a:ln w="25400">
            <a:solidFill>
              <a:srgbClr val="1C2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07791" y="3346704"/>
            <a:ext cx="1143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000000"/>
                </a:solidFill>
                <a:latin typeface="Pretendard"/>
              </a:rPr>
              <a:t>Approval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06624" y="3749039"/>
            <a:ext cx="155448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20" b="0">
                <a:solidFill>
                  <a:srgbClr val="616161"/>
                </a:solidFill>
                <a:latin typeface="Pretendard"/>
              </a:rPr>
              <a:t>무엇은 승인 후 해야 하는가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2487168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3000" b="1">
                <a:solidFill>
                  <a:srgbClr val="1C2F5C"/>
                </a:solidFill>
                <a:latin typeface="Playfair Display"/>
              </a:rPr>
              <a:t>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57800" y="3054096"/>
            <a:ext cx="320040" cy="9144"/>
          </a:xfrm>
          <a:prstGeom prst="rect">
            <a:avLst/>
          </a:prstGeom>
          <a:solidFill>
            <a:srgbClr val="1C2F5C"/>
          </a:solidFill>
          <a:ln w="25400">
            <a:solidFill>
              <a:srgbClr val="1C2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56632" y="3346704"/>
            <a:ext cx="1143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000000"/>
                </a:solidFill>
                <a:latin typeface="Pretendard"/>
              </a:rPr>
              <a:t>Done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55464" y="3749039"/>
            <a:ext cx="155448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20" b="0">
                <a:solidFill>
                  <a:srgbClr val="616161"/>
                </a:solidFill>
                <a:latin typeface="Pretendard"/>
              </a:rPr>
              <a:t>무엇이 나오면 완료인가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2487168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3000" b="1">
                <a:solidFill>
                  <a:srgbClr val="1C2F5C"/>
                </a:solidFill>
                <a:latin typeface="Playfair Display"/>
              </a:rPr>
              <a:t>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06640" y="3054096"/>
            <a:ext cx="320040" cy="9144"/>
          </a:xfrm>
          <a:prstGeom prst="rect">
            <a:avLst/>
          </a:prstGeom>
          <a:solidFill>
            <a:srgbClr val="1C2F5C"/>
          </a:solidFill>
          <a:ln w="25400">
            <a:solidFill>
              <a:srgbClr val="1C2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205472" y="3346704"/>
            <a:ext cx="1143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000000"/>
                </a:solidFill>
                <a:latin typeface="Pretendard"/>
              </a:rPr>
              <a:t>Ask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04304" y="3749039"/>
            <a:ext cx="1817578" cy="1858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20" b="0" dirty="0" err="1">
                <a:solidFill>
                  <a:srgbClr val="616161"/>
                </a:solidFill>
                <a:latin typeface="Pretendard"/>
              </a:rPr>
              <a:t>언제</a:t>
            </a:r>
            <a:r>
              <a:rPr sz="1220" b="0" dirty="0">
                <a:solidFill>
                  <a:srgbClr val="616161"/>
                </a:solidFill>
                <a:latin typeface="Pretendard"/>
              </a:rPr>
              <a:t> </a:t>
            </a:r>
            <a:r>
              <a:rPr sz="1220" b="0" dirty="0" err="1">
                <a:solidFill>
                  <a:srgbClr val="616161"/>
                </a:solidFill>
                <a:latin typeface="Pretendard"/>
              </a:rPr>
              <a:t>멈추고</a:t>
            </a:r>
            <a:r>
              <a:rPr sz="1220" b="0" dirty="0">
                <a:solidFill>
                  <a:srgbClr val="616161"/>
                </a:solidFill>
                <a:latin typeface="Pretendard"/>
              </a:rPr>
              <a:t> </a:t>
            </a:r>
            <a:r>
              <a:rPr sz="1220" b="0" dirty="0" err="1">
                <a:solidFill>
                  <a:srgbClr val="616161"/>
                </a:solidFill>
                <a:latin typeface="Pretendard"/>
              </a:rPr>
              <a:t>질문해야</a:t>
            </a:r>
            <a:r>
              <a:rPr sz="1220" b="0" dirty="0">
                <a:solidFill>
                  <a:srgbClr val="616161"/>
                </a:solidFill>
                <a:latin typeface="Pretendard"/>
              </a:rPr>
              <a:t> </a:t>
            </a:r>
            <a:r>
              <a:rPr sz="1220" b="0" dirty="0" err="1">
                <a:solidFill>
                  <a:srgbClr val="616161"/>
                </a:solidFill>
                <a:latin typeface="Pretendard"/>
              </a:rPr>
              <a:t>하는가</a:t>
            </a:r>
            <a:endParaRPr sz="1220" b="0" dirty="0">
              <a:solidFill>
                <a:srgbClr val="616161"/>
              </a:solidFill>
              <a:latin typeface="Pretendard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464040" y="2487168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3000" b="1">
                <a:solidFill>
                  <a:srgbClr val="1C2F5C"/>
                </a:solidFill>
                <a:latin typeface="Playfair Display"/>
              </a:rPr>
              <a:t>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55480" y="3054096"/>
            <a:ext cx="320040" cy="9144"/>
          </a:xfrm>
          <a:prstGeom prst="rect">
            <a:avLst/>
          </a:prstGeom>
          <a:solidFill>
            <a:srgbClr val="1C2F5C"/>
          </a:solidFill>
          <a:ln w="25400">
            <a:solidFill>
              <a:srgbClr val="1C2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54312" y="3346704"/>
            <a:ext cx="1143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000000"/>
                </a:solidFill>
                <a:latin typeface="Pretendard"/>
              </a:rPr>
              <a:t>Report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3749039"/>
            <a:ext cx="1984248" cy="1858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20" b="0" dirty="0" err="1">
                <a:solidFill>
                  <a:srgbClr val="616161"/>
                </a:solidFill>
                <a:latin typeface="Pretendard"/>
              </a:rPr>
              <a:t>작업</a:t>
            </a:r>
            <a:r>
              <a:rPr sz="1220" b="0" dirty="0">
                <a:solidFill>
                  <a:srgbClr val="616161"/>
                </a:solidFill>
                <a:latin typeface="Pretendard"/>
              </a:rPr>
              <a:t> 후 </a:t>
            </a:r>
            <a:r>
              <a:rPr sz="1220" b="0" dirty="0" err="1">
                <a:solidFill>
                  <a:srgbClr val="616161"/>
                </a:solidFill>
                <a:latin typeface="Pretendard"/>
              </a:rPr>
              <a:t>무엇을</a:t>
            </a:r>
            <a:r>
              <a:rPr sz="1220" b="0" dirty="0">
                <a:solidFill>
                  <a:srgbClr val="616161"/>
                </a:solidFill>
                <a:latin typeface="Pretendard"/>
              </a:rPr>
              <a:t> </a:t>
            </a:r>
            <a:r>
              <a:rPr sz="1220" b="0" dirty="0" err="1">
                <a:solidFill>
                  <a:srgbClr val="616161"/>
                </a:solidFill>
                <a:latin typeface="Pretendard"/>
              </a:rPr>
              <a:t>보고해야</a:t>
            </a:r>
            <a:r>
              <a:rPr sz="1220" b="0" dirty="0">
                <a:solidFill>
                  <a:srgbClr val="616161"/>
                </a:solidFill>
                <a:latin typeface="Pretendard"/>
              </a:rPr>
              <a:t> </a:t>
            </a:r>
            <a:r>
              <a:rPr sz="1220" b="0" dirty="0" err="1">
                <a:solidFill>
                  <a:srgbClr val="616161"/>
                </a:solidFill>
                <a:latin typeface="Pretendard"/>
              </a:rPr>
              <a:t>하는가</a:t>
            </a:r>
            <a:endParaRPr sz="1220" b="0" dirty="0">
              <a:solidFill>
                <a:srgbClr val="616161"/>
              </a:solidFill>
              <a:latin typeface="Pretendard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234440" y="5212080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16161"/>
                </a:solidFill>
                <a:latin typeface="Playfair Display"/>
              </a:rPr>
              <a:t>짧게 말하면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50592" y="5138928"/>
            <a:ext cx="80924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1C2F5C"/>
                </a:solidFill>
                <a:latin typeface="Pretendard"/>
              </a:rPr>
              <a:t>AI에게 줄 작업실 사용 규칙을 다섯 문장으로 정리하는 일입니다.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10896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1C2F5C"/>
                </a:solidFill>
                <a:latin typeface="Pretendard"/>
              </a:rPr>
              <a:t>전환설계연구소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41080" y="310896"/>
            <a:ext cx="2240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616161"/>
                </a:solidFill>
                <a:latin typeface="Playfair Display"/>
              </a:rPr>
              <a:t>CRAFTO-RADAR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40080"/>
            <a:ext cx="10881360" cy="9144"/>
          </a:xfrm>
          <a:prstGeom prst="rect">
            <a:avLst/>
          </a:prstGeom>
          <a:solidFill>
            <a:srgbClr val="DADADA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37392" y="6236208"/>
            <a:ext cx="2926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50" b="0">
                <a:solidFill>
                  <a:srgbClr val="616161"/>
                </a:solidFill>
                <a:latin typeface="Playfair Display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68680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1C2F5C"/>
                </a:solidFill>
                <a:latin typeface="Playfair Display"/>
              </a:rPr>
              <a:t>WORKSPACE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61288"/>
            <a:ext cx="937260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C2F5C"/>
                </a:solidFill>
                <a:latin typeface="Pretendard"/>
              </a:rPr>
              <a:t>AGENTS.md는 폴더 안의 운영 문서입니다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01368"/>
            <a:ext cx="98755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616161"/>
                </a:solidFill>
                <a:latin typeface="Pretendard"/>
              </a:rPr>
              <a:t>프롬프트가 이번 한 번의 요청이라면, AGENTS.md는 이 폴더에서 계속 적용되는 작업 규칙입니다.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" y="2450592"/>
            <a:ext cx="4343400" cy="2212848"/>
          </a:xfrm>
          <a:prstGeom prst="rect">
            <a:avLst/>
          </a:prstGeom>
          <a:solidFill>
            <a:srgbClr val="F4F5F7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61872" y="2761488"/>
            <a:ext cx="34747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1C2F5C"/>
                </a:solidFill>
                <a:latin typeface="Pretendard"/>
              </a:rPr>
              <a:t>프롬프트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32461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000000"/>
                </a:solidFill>
                <a:latin typeface="Pretendard"/>
              </a:rPr>
              <a:t>이번 요청의 맥락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3611880"/>
            <a:ext cx="3520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616161"/>
                </a:solidFill>
                <a:latin typeface="Pretendard"/>
              </a:rPr>
              <a:t>대화창 안에서 주고받는 지시입니다.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450592"/>
            <a:ext cx="4343400" cy="2212848"/>
          </a:xfrm>
          <a:prstGeom prst="rect">
            <a:avLst/>
          </a:prstGeom>
          <a:solidFill>
            <a:srgbClr val="F0F4FA"/>
          </a:solidFill>
          <a:ln w="12700"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02552" y="2761488"/>
            <a:ext cx="34747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1C2F5C"/>
                </a:solidFill>
                <a:latin typeface="Playfair Display"/>
              </a:rPr>
              <a:t>AGENTS.md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02552" y="32461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000000"/>
                </a:solidFill>
                <a:latin typeface="Pretendard"/>
              </a:rPr>
              <a:t>작업공간의 규칙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02552" y="3611880"/>
            <a:ext cx="3520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616161"/>
                </a:solidFill>
                <a:latin typeface="Pretendard"/>
              </a:rPr>
              <a:t>폴더 안에서 에이전트가 따르는 운영 문서입니다.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12848" y="5358384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1C2F5C"/>
                </a:solidFill>
                <a:latin typeface="Pretendard"/>
              </a:rPr>
              <a:t>AGENTS.md는 RADAR 질문에 답하면서 만듭니다.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10896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1C2F5C"/>
                </a:solidFill>
                <a:latin typeface="Pretendard"/>
              </a:rPr>
              <a:t>전환설계연구소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41080" y="310896"/>
            <a:ext cx="2240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616161"/>
                </a:solidFill>
                <a:latin typeface="Playfair Display"/>
              </a:rPr>
              <a:t>CRAFTO-RADAR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40080"/>
            <a:ext cx="10881360" cy="9144"/>
          </a:xfrm>
          <a:prstGeom prst="rect">
            <a:avLst/>
          </a:prstGeom>
          <a:solidFill>
            <a:srgbClr val="DADADA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37392" y="6236208"/>
            <a:ext cx="2926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50" b="0">
                <a:solidFill>
                  <a:srgbClr val="616161"/>
                </a:solidFill>
                <a:latin typeface="Playfair Display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68680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1C2F5C"/>
                </a:solidFill>
                <a:latin typeface="Playfair Display"/>
              </a:rPr>
              <a:t>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61288"/>
            <a:ext cx="937260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C2F5C"/>
                </a:solidFill>
                <a:latin typeface="Pretendard"/>
              </a:rPr>
              <a:t>홈페이지 실습은 이 순서로 진행합니다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01368"/>
            <a:ext cx="98755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616161"/>
                </a:solidFill>
                <a:latin typeface="Pretendard"/>
              </a:rPr>
              <a:t>바로 만들지 않고, 먼저 작업공간을 설계합니다.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395728"/>
            <a:ext cx="4389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C2F5C"/>
                </a:solidFill>
                <a:latin typeface="Playfair Display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395728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000000"/>
                </a:solidFill>
                <a:latin typeface="Pretendard"/>
              </a:rPr>
              <a:t>CRAFTO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779776"/>
            <a:ext cx="2514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80" b="0">
                <a:solidFill>
                  <a:srgbClr val="616161"/>
                </a:solidFill>
                <a:latin typeface="Pretendard"/>
              </a:rPr>
              <a:t>홈페이지 요청의 맥락을 정리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3337560"/>
            <a:ext cx="2834640" cy="9144"/>
          </a:xfrm>
          <a:prstGeom prst="rect">
            <a:avLst/>
          </a:prstGeom>
          <a:solidFill>
            <a:srgbClr val="DADADA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61688" y="2395728"/>
            <a:ext cx="4389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C2F5C"/>
                </a:solidFill>
                <a:latin typeface="Playfair Display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2395728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000000"/>
                </a:solidFill>
                <a:latin typeface="Pretendard"/>
              </a:rPr>
              <a:t>RADAR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2779776"/>
            <a:ext cx="2514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80" b="0">
                <a:solidFill>
                  <a:srgbClr val="616161"/>
                </a:solidFill>
                <a:latin typeface="Pretendard"/>
              </a:rPr>
              <a:t>AGENTS.md 작성 조건 정리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61688" y="3337560"/>
            <a:ext cx="2834640" cy="9144"/>
          </a:xfrm>
          <a:prstGeom prst="rect">
            <a:avLst/>
          </a:prstGeom>
          <a:solidFill>
            <a:srgbClr val="DADADA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82128" y="2395728"/>
            <a:ext cx="4389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C2F5C"/>
                </a:solidFill>
                <a:latin typeface="Playfair Display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395728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000000"/>
                </a:solidFill>
                <a:latin typeface="Pretendard"/>
              </a:rPr>
              <a:t>폴더 지정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779776"/>
            <a:ext cx="2514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80" b="0">
                <a:solidFill>
                  <a:srgbClr val="616161"/>
                </a:solidFill>
                <a:latin typeface="Pretendard"/>
              </a:rPr>
              <a:t>input · wiki · output 준비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82128" y="3337560"/>
            <a:ext cx="2834640" cy="9144"/>
          </a:xfrm>
          <a:prstGeom prst="rect">
            <a:avLst/>
          </a:prstGeom>
          <a:solidFill>
            <a:srgbClr val="DADADA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8" y="3813048"/>
            <a:ext cx="4389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C2F5C"/>
                </a:solidFill>
                <a:latin typeface="Playfair Display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813048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000000"/>
                </a:solidFill>
                <a:latin typeface="Pretendard"/>
              </a:rPr>
              <a:t>계획 승인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197096"/>
            <a:ext cx="2514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80" b="0">
                <a:solidFill>
                  <a:srgbClr val="616161"/>
                </a:solidFill>
                <a:latin typeface="Pretendard"/>
              </a:rPr>
              <a:t>작업계획을 받고 승인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1248" y="4754880"/>
            <a:ext cx="2834640" cy="9144"/>
          </a:xfrm>
          <a:prstGeom prst="rect">
            <a:avLst/>
          </a:prstGeom>
          <a:solidFill>
            <a:srgbClr val="DADADA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61688" y="3813048"/>
            <a:ext cx="4389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C2F5C"/>
                </a:solidFill>
                <a:latin typeface="Playfair Display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3813048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000000"/>
                </a:solidFill>
                <a:latin typeface="Pretendard"/>
              </a:rPr>
              <a:t>파일 제작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4197096"/>
            <a:ext cx="2514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80" b="0">
                <a:solidFill>
                  <a:srgbClr val="616161"/>
                </a:solidFill>
                <a:latin typeface="Pretendard"/>
              </a:rPr>
              <a:t>index.html · style.css 생성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61688" y="4754880"/>
            <a:ext cx="2834640" cy="9144"/>
          </a:xfrm>
          <a:prstGeom prst="rect">
            <a:avLst/>
          </a:prstGeom>
          <a:solidFill>
            <a:srgbClr val="DADADA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882128" y="3813048"/>
            <a:ext cx="4389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C2F5C"/>
                </a:solidFill>
                <a:latin typeface="Playfair Display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813048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000000"/>
                </a:solidFill>
                <a:latin typeface="Pretendard"/>
              </a:rPr>
              <a:t>검토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4197096"/>
            <a:ext cx="2514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80" b="0">
                <a:solidFill>
                  <a:srgbClr val="616161"/>
                </a:solidFill>
                <a:latin typeface="Pretendard"/>
              </a:rPr>
              <a:t>자료 밖 표현과 수정 항목 점검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82128" y="4754880"/>
            <a:ext cx="2834640" cy="9144"/>
          </a:xfrm>
          <a:prstGeom prst="rect">
            <a:avLst/>
          </a:prstGeom>
          <a:solidFill>
            <a:srgbClr val="DADADA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444752" y="5486400"/>
            <a:ext cx="8869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1C2F5C"/>
                </a:solidFill>
                <a:latin typeface="Pretendard"/>
              </a:rPr>
              <a:t>성능 체감은 결과물보다 ‘계획 → 승인 → 실행 → 검토’ 흐름에서 생깁니다.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10896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1C2F5C"/>
                </a:solidFill>
                <a:latin typeface="Pretendard"/>
              </a:rPr>
              <a:t>전환설계연구소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41080" y="310896"/>
            <a:ext cx="2240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616161"/>
                </a:solidFill>
                <a:latin typeface="Playfair Display"/>
              </a:rPr>
              <a:t>CRAFTO-RADAR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40080"/>
            <a:ext cx="10881360" cy="9144"/>
          </a:xfrm>
          <a:prstGeom prst="rect">
            <a:avLst/>
          </a:prstGeom>
          <a:solidFill>
            <a:srgbClr val="DADADA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37392" y="6236208"/>
            <a:ext cx="2926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50" b="0">
                <a:solidFill>
                  <a:srgbClr val="616161"/>
                </a:solidFill>
                <a:latin typeface="Playfair Display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68680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1C2F5C"/>
                </a:solidFill>
                <a:latin typeface="Playfair Display"/>
              </a:rPr>
              <a:t>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61288"/>
            <a:ext cx="937260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C2F5C"/>
                </a:solidFill>
                <a:latin typeface="Pretendard"/>
              </a:rPr>
              <a:t>RADAR로 AGENTS.md 초안을 만듭니다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01368"/>
            <a:ext cx="98755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616161"/>
                </a:solidFill>
                <a:latin typeface="Pretendard"/>
              </a:rPr>
              <a:t>참가자는 빈칸을 자기 강의·프로젝트에 맞게 채웁니다.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C2F5C"/>
                </a:solidFill>
                <a:latin typeface="Playfair Display"/>
              </a:rPr>
              <a:t>Range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5728" y="2331720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80" b="0">
                <a:solidFill>
                  <a:srgbClr val="000000"/>
                </a:solidFill>
                <a:latin typeface="Pretendard"/>
              </a:rPr>
              <a:t>input 자료만 읽고 output 폴더에 결과물을 만든다.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724912"/>
            <a:ext cx="9738360" cy="9144"/>
          </a:xfrm>
          <a:prstGeom prst="rect">
            <a:avLst/>
          </a:prstGeom>
          <a:solidFill>
            <a:srgbClr val="DADADA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935224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C2F5C"/>
                </a:solidFill>
                <a:latin typeface="Playfair Display"/>
              </a:rPr>
              <a:t>Approval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5728" y="2935224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80" b="0">
                <a:solidFill>
                  <a:srgbClr val="000000"/>
                </a:solidFill>
                <a:latin typeface="Pretendard"/>
              </a:rPr>
              <a:t>파일 생성·수정 전 작업계획을 먼저 제시한다.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328416"/>
            <a:ext cx="9738360" cy="9144"/>
          </a:xfrm>
          <a:prstGeom prst="rect">
            <a:avLst/>
          </a:prstGeom>
          <a:solidFill>
            <a:srgbClr val="DADADA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538728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C2F5C"/>
                </a:solidFill>
                <a:latin typeface="Playfair Display"/>
              </a:rPr>
              <a:t>Done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95728" y="3538728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80" b="0">
                <a:solidFill>
                  <a:srgbClr val="000000"/>
                </a:solidFill>
                <a:latin typeface="Pretendard"/>
              </a:rPr>
              <a:t>index.html, style.css, 검토메모.md를 만든다.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931920"/>
            <a:ext cx="9738360" cy="9144"/>
          </a:xfrm>
          <a:prstGeom prst="rect">
            <a:avLst/>
          </a:prstGeom>
          <a:solidFill>
            <a:srgbClr val="DADADA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4142231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C2F5C"/>
                </a:solidFill>
                <a:latin typeface="Playfair Display"/>
              </a:rPr>
              <a:t>Ask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95728" y="4142231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80" b="0">
                <a:solidFill>
                  <a:srgbClr val="000000"/>
                </a:solidFill>
                <a:latin typeface="Pretendard"/>
              </a:rPr>
              <a:t>자료에 없는 성과·가격·후기는 질문한다.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535423"/>
            <a:ext cx="9738360" cy="9144"/>
          </a:xfrm>
          <a:prstGeom prst="rect">
            <a:avLst/>
          </a:prstGeom>
          <a:solidFill>
            <a:srgbClr val="DADADA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4745736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C2F5C"/>
                </a:solidFill>
                <a:latin typeface="Playfair Display"/>
              </a:rPr>
              <a:t>Report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95728" y="4745736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80" b="0">
                <a:solidFill>
                  <a:srgbClr val="000000"/>
                </a:solidFill>
                <a:latin typeface="Pretendard"/>
              </a:rPr>
              <a:t>생성 파일, 주요 구성, 최종 결정 항목을 보고한다.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5138927"/>
            <a:ext cx="9738360" cy="9144"/>
          </a:xfrm>
          <a:prstGeom prst="rect">
            <a:avLst/>
          </a:prstGeom>
          <a:solidFill>
            <a:srgbClr val="DADADA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120" y="5486400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16161"/>
                </a:solidFill>
                <a:latin typeface="Playfair Display"/>
              </a:rPr>
              <a:t>강의 포인트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5422392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50" b="1">
                <a:solidFill>
                  <a:srgbClr val="1C2F5C"/>
                </a:solidFill>
                <a:latin typeface="Pretendard"/>
              </a:rPr>
              <a:t>잘 만든 AGENTS.md는 긴 프롬프트를 줄이고, 반복 작업의 품질을 안정화합니다.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10896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1C2F5C"/>
                </a:solidFill>
                <a:latin typeface="Pretendard"/>
              </a:rPr>
              <a:t>전환설계연구소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41080" y="310896"/>
            <a:ext cx="2240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616161"/>
                </a:solidFill>
                <a:latin typeface="Playfair Display"/>
              </a:rPr>
              <a:t>CRAFTO-RADAR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40080"/>
            <a:ext cx="10881360" cy="9144"/>
          </a:xfrm>
          <a:prstGeom prst="rect">
            <a:avLst/>
          </a:prstGeom>
          <a:solidFill>
            <a:srgbClr val="DADADA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37392" y="6236208"/>
            <a:ext cx="2926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50" b="0">
                <a:solidFill>
                  <a:srgbClr val="616161"/>
                </a:solidFill>
                <a:latin typeface="Playfair Display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60120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1C2F5C"/>
                </a:solidFill>
                <a:latin typeface="Playfair Display"/>
              </a:rPr>
              <a:t>정리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3000" b="1">
                <a:solidFill>
                  <a:srgbClr val="1C2F5C"/>
                </a:solidFill>
                <a:latin typeface="Pretendard"/>
              </a:rPr>
              <a:t>CRAFTO는 질문의 맥락을 정리합니다.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15184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3000" b="1">
                <a:solidFill>
                  <a:srgbClr val="1C2F5C"/>
                </a:solidFill>
                <a:latin typeface="Pretendard"/>
              </a:rPr>
              <a:t>RADAR는 에이전트의 실행 조건을 정리합니다.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703320"/>
            <a:ext cx="83667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>
                <a:solidFill>
                  <a:srgbClr val="000000"/>
                </a:solidFill>
                <a:latin typeface="Pretendard"/>
              </a:rPr>
              <a:t>AGENTS.md는 그 내용을 폴더 안에 남기는 운영 문서입니다.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71800" y="4736592"/>
            <a:ext cx="6217920" cy="9144"/>
          </a:xfrm>
          <a:prstGeom prst="rect">
            <a:avLst/>
          </a:prstGeom>
          <a:solidFill>
            <a:srgbClr val="1C2F5C"/>
          </a:solidFill>
          <a:ln w="25400">
            <a:solidFill>
              <a:srgbClr val="1C2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08760" y="5102352"/>
            <a:ext cx="91440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50" b="0">
                <a:solidFill>
                  <a:srgbClr val="616161"/>
                </a:solidFill>
                <a:latin typeface="Pretendard"/>
              </a:rPr>
              <a:t>AI에게 일을 맡긴다는 것은 요청을 길게 쓰는 일이 아니라, 일할 조건을 설계하는 일입니다.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533</Words>
  <Application>Microsoft Office PowerPoint</Application>
  <PresentationFormat>와이드스크린</PresentationFormat>
  <Paragraphs>157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Pretendard</vt:lpstr>
      <vt:lpstr>Arial</vt:lpstr>
      <vt:lpstr>Playfair Display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전환설계연구소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전환설계연구소 PPT 템플릿</dc:title>
  <dc:subject>브랜드 가이드 기반 PowerPoint 템플릿</dc:subject>
  <dc:creator>OpenAI Codex</dc:creator>
  <cp:lastModifiedBy>종목 전</cp:lastModifiedBy>
  <cp:revision>2</cp:revision>
  <dcterms:created xsi:type="dcterms:W3CDTF">2026-04-24T08:10:26Z</dcterms:created>
  <dcterms:modified xsi:type="dcterms:W3CDTF">2026-05-21T10:34:18Z</dcterms:modified>
</cp:coreProperties>
</file>