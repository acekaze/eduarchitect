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생성형 AI 기초활용역량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152144"/>
            <a:ext cx="1554480" cy="310896"/>
          </a:xfrm>
          <a:prstGeom prst="roundRect">
            <a:avLst>
              <a:gd name="adj" fmla="val 47059"/>
            </a:avLst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25296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COLLABORATION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96112" y="1682496"/>
            <a:ext cx="4023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B37"/>
                </a:solidFill>
              </a:rPr>
              <a:t>생성형 AI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1F2B37"/>
                </a:solidFill>
              </a:rPr>
              <a:t>기초활용역량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14400" y="3163824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37181"/>
                </a:solidFill>
              </a:rPr>
              <a:t>목적을 분명히 하고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37181"/>
                </a:solidFill>
              </a:rPr>
              <a:t>질문하게 하고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37181"/>
                </a:solidFill>
              </a:rPr>
              <a:t>판단까지 가는 AI 협업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11696" y="1261872"/>
            <a:ext cx="43891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76288" y="1389888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템플릿의 기준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876288" y="1572768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B37"/>
                </a:solidFill>
              </a:rPr>
              <a:t>질문, 판단, 구조가 먼저 보이는 화면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76288" y="2130552"/>
            <a:ext cx="405993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B37"/>
                </a:solidFill>
              </a:rPr>
              <a:t>AI 기능 자랑보다 목적 정의, 질문 설계, 판단, 실습, 구조화가 먼저 보이게 만든다.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2B37"/>
                </a:solidFill>
              </a:rPr>
              <a:t>미니멀 세미나형 + 구조적 워크숍형 + 절제된 컨설팅 도식형을 한 데 섞는다.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523036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181"/>
                </a:solidFill>
              </a:rPr>
              <a:t>White / Warm Gray / Navy / Slate / Charcoal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PHILOSOPHY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좋은 AI 활용은 더 화려한 답을 받는 일이 아니다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5727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637181"/>
                </a:solidFill>
              </a:rPr>
              <a:t>더 좋은 질문을 설계하고, 더 나은 판단에 도달하는 일이다.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2066544"/>
            <a:ext cx="10277856" cy="2651760"/>
          </a:xfrm>
          <a:prstGeom prst="roundRect">
            <a:avLst>
              <a:gd name="adj" fmla="val 2759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377440"/>
            <a:ext cx="9948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B37"/>
                </a:solidFill>
              </a:rPr>
              <a:t>AI 활용의 출발점은 답이 아니라 목적이다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78992" y="3054096"/>
            <a:ext cx="99486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B37"/>
                </a:solidFill>
              </a:rPr>
              <a:t>좋은 결과는 사람마다 다르다. 그래서 먼저 의미를 맞춰야 하고,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B37"/>
                </a:solidFill>
              </a:rPr>
              <a:t>AI에게 바로 답을 요구하기보다 내가 진짜 원하는 결과를 함께 정의해야 한다.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4MAT 과정 흐름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5727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637181"/>
                </a:solidFill>
              </a:rPr>
              <a:t>왜, 무엇, 어떻게, 그래서 무엇을 적용할지의 순서로 간다.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7824" y="2176272"/>
            <a:ext cx="2542032" cy="2724912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304288"/>
            <a:ext cx="2212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42416" y="248716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왜 AI를 써도 아직 답답한가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48456" y="2176272"/>
            <a:ext cx="2542032" cy="2724912"/>
          </a:xfrm>
          <a:prstGeom prst="roundRect">
            <a:avLst>
              <a:gd name="adj" fmla="val 2878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3048" y="2304288"/>
            <a:ext cx="2212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813048" y="248716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AI를 어떤 도구로 이해해야 하는가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19088" y="2176272"/>
            <a:ext cx="2542032" cy="2724912"/>
          </a:xfrm>
          <a:prstGeom prst="roundRect">
            <a:avLst>
              <a:gd name="adj" fmla="val 2878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304288"/>
            <a:ext cx="2212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583680" y="248716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어떻게 질문하고 구조화하고 점검하는가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89720" y="2176272"/>
            <a:ext cx="2542032" cy="2724912"/>
          </a:xfrm>
          <a:prstGeom prst="roundRect">
            <a:avLst>
              <a:gd name="adj" fmla="val 2878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54312" y="2304288"/>
            <a:ext cx="2212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9354312" y="248716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그래서 내 업무에 무엇을 적용할 것인가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COMPARE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예쁜 집이 사람마다 다르듯, 좋은 결과도 사람마다 다르다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5727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637181"/>
                </a:solidFill>
              </a:rPr>
              <a:t>같은 말을 써도 떠올리는 기준은 모두 다를 수 있다.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4791456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" y="2121408"/>
            <a:ext cx="4462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사례 A | 예쁜 집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60704" y="2304288"/>
            <a:ext cx="4462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채광이 좋은 집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동선이 편한 집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가족이 편안한 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0704" y="2862072"/>
            <a:ext cx="4462272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같은 ‘예쁜 집’이라도 각자 떠올리는 기준은 전혀 다르다.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419088" y="1993392"/>
            <a:ext cx="4791456" cy="3566160"/>
          </a:xfrm>
          <a:prstGeom prst="roundRect">
            <a:avLst>
              <a:gd name="adj" fmla="val 2051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121408"/>
            <a:ext cx="4462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사례 B | 좋은 결과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583680" y="2304288"/>
            <a:ext cx="4462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한 번에 이해되는 보고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다시 설명하지 않아도 되는 정리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빠르게 결정되는 회의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2862072"/>
            <a:ext cx="4462272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그래서 AI에게 ‘좋게 써줘’라고만 하면 어긋나기 쉽다.</a:t>
            </a:r>
            <a:endParaRPr lang="en-US" sz="12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JUDGMENT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잘못된 접근 vs 올바른 접근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5727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637181"/>
                </a:solidFill>
              </a:rPr>
              <a:t>의사 비유처럼 접근 방식의 차이를 선명하게 보여준다.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4791456" cy="3566160"/>
          </a:xfrm>
          <a:prstGeom prst="roundRect">
            <a:avLst>
              <a:gd name="adj" fmla="val 2051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" y="2121408"/>
            <a:ext cx="4462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잘못된 접근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60704" y="2304288"/>
            <a:ext cx="4462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0704" y="2862072"/>
            <a:ext cx="4462272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바로 답을 요구한다.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청자도 목적도 제약도 빠져 있다.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결과는 그럴듯하지만 내 상황과 어긋날 수 있다.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419088" y="1993392"/>
            <a:ext cx="4791456" cy="3566160"/>
          </a:xfrm>
          <a:prstGeom prst="roundRect">
            <a:avLst>
              <a:gd name="adj" fmla="val 2051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121408"/>
            <a:ext cx="4462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올바른 접근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583680" y="2304288"/>
            <a:ext cx="4462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지금 바로 답하지 말고,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2862072"/>
            <a:ext cx="4462272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맥락을 묻는다.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누가 읽는지, 무엇을 놓치면 안 되는지 확인한다.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그다음에야 더 맞는 구조와 판단 재료가 나온다.</a:t>
            </a:r>
            <a:endParaRPr lang="en-US" sz="12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CANVAS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CRAFTO 6칸 그리드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5727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637181"/>
                </a:solidFill>
              </a:rPr>
              <a:t>실습과 정리에 자연스럽게 쓰는 워크숍형 슬라이드.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96112" y="2048256"/>
            <a:ext cx="3255264" cy="1325880"/>
          </a:xfrm>
          <a:prstGeom prst="roundRect">
            <a:avLst>
              <a:gd name="adj" fmla="val 5517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17627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Context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60704" y="2359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B37"/>
                </a:solidFill>
              </a:rPr>
              <a:t>지금 어떤 상황인가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17136" y="2048256"/>
            <a:ext cx="325526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17627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Role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681728" y="2359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B37"/>
                </a:solidFill>
              </a:rPr>
              <a:t>AI는 어떤 역할을 해야 하는가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38160" y="2048256"/>
            <a:ext cx="3255264" cy="1325880"/>
          </a:xfrm>
          <a:prstGeom prst="roundRect">
            <a:avLst>
              <a:gd name="adj" fmla="val 5517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217627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Audience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8302752" y="2359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B37"/>
                </a:solidFill>
              </a:rPr>
              <a:t>누가 이 결과를 보는가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6112" y="3639312"/>
            <a:ext cx="3255264" cy="1325880"/>
          </a:xfrm>
          <a:prstGeom prst="roundRect">
            <a:avLst>
              <a:gd name="adj" fmla="val 5517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376732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Format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060704" y="39502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B37"/>
                </a:solidFill>
              </a:rPr>
              <a:t>어떤 형태로 받으면 바로 쓸 수 있는가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17136" y="3639312"/>
            <a:ext cx="3255264" cy="1325880"/>
          </a:xfrm>
          <a:prstGeom prst="roundRect">
            <a:avLst>
              <a:gd name="adj" fmla="val 5517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76732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Tone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681728" y="39502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B37"/>
                </a:solidFill>
              </a:rPr>
              <a:t>어느 수준과 말투가 필요한가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38160" y="3639312"/>
            <a:ext cx="325526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2752" y="376732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Option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8302752" y="39502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B37"/>
                </a:solidFill>
              </a:rPr>
              <a:t>제약, 금지선, 선택 기준은 무엇인가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FRAME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철학 / 프레임 / 노하우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5727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637181"/>
                </a:solidFill>
              </a:rPr>
              <a:t>3층 구조로 메시지를 압축한다.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353312" y="1828800"/>
            <a:ext cx="9509760" cy="932688"/>
          </a:xfrm>
          <a:prstGeom prst="roundRect">
            <a:avLst>
              <a:gd name="adj" fmla="val 7843"/>
            </a:avLst>
          </a:prstGeom>
          <a:solidFill>
            <a:srgbClr val="1E3B52"/>
          </a:solidFill>
          <a:ln w="12700">
            <a:solidFill>
              <a:srgbClr val="1E3B52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17904" y="2139696"/>
            <a:ext cx="9180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철학 | 목적 · 인터뷰와 점검 · 판단과 실행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719072" y="2999232"/>
            <a:ext cx="8778240" cy="896112"/>
          </a:xfrm>
          <a:prstGeom prst="roundRect">
            <a:avLst>
              <a:gd name="adj" fmla="val 8163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83664" y="3310128"/>
            <a:ext cx="8449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프레임 | CRAFTO · 출발지점-목표지점-이동수단 · 인터뷰형 협업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084832" y="4133088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49424" y="4443984"/>
            <a:ext cx="7717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B37"/>
                </a:solidFill>
              </a:rPr>
              <a:t>노하우 | 10-80-10 · 1-3-1 · 피드백 루프 · NotebookLM · Project / Gem · 서비스 연결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LAYOUT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10 - 80 - 10 가로 분할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5727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637181"/>
                </a:solidFill>
              </a:rPr>
              <a:t>도입, 핵심 내용, 정리 메시지를 한 장에 넣는 구조.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1828800" cy="1042416"/>
          </a:xfrm>
          <a:prstGeom prst="roundRect">
            <a:avLst>
              <a:gd name="adj" fmla="val 7018"/>
            </a:avLst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2331720"/>
            <a:ext cx="6528816" cy="1042416"/>
          </a:xfrm>
          <a:prstGeom prst="roundRect">
            <a:avLst>
              <a:gd name="adj" fmla="val 7018"/>
            </a:avLst>
          </a:prstGeom>
          <a:solidFill>
            <a:srgbClr val="EEF4FE"/>
          </a:solidFill>
          <a:ln w="12700">
            <a:solidFill>
              <a:srgbClr val="D7D2C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0" y="2331720"/>
            <a:ext cx="1828800" cy="1042416"/>
          </a:xfrm>
          <a:prstGeom prst="roundRect">
            <a:avLst>
              <a:gd name="adj" fmla="val 7018"/>
            </a:avLst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642616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처음 10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56048" y="264261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중간 80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564624" y="264261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10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005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7181"/>
                </a:solidFill>
              </a:rPr>
              <a:t>처음은 사람이 목적과 기준을 잡고, 중간은 AI가 질문·정리·비교를 돕고, 마지막은 사람이 선택과 책임을 잡는다.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1 - 3 - 1 퍼널 구조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5727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637181"/>
                </a:solidFill>
              </a:rPr>
              <a:t>큰 질문 하나를 세 가지 기준으로 풀고 다시 하나의 판단으로 모은다.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87552" y="2139696"/>
            <a:ext cx="1975104" cy="21031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52144" y="226771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152144" y="245059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B37"/>
                </a:solidFill>
              </a:rPr>
              <a:t>핵심 질문 1개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2144" y="3072384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문제를 한 문장으로 잡는다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3200400" y="2715768"/>
            <a:ext cx="310896" cy="475488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12464" y="1865376"/>
            <a:ext cx="4754880" cy="2651760"/>
          </a:xfrm>
          <a:prstGeom prst="roundRect">
            <a:avLst>
              <a:gd name="adj" fmla="val 2759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77056" y="1993392"/>
            <a:ext cx="4425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877056" y="2176272"/>
            <a:ext cx="4425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B37"/>
                </a:solidFill>
              </a:rPr>
              <a:t>기준 3개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77056" y="2779776"/>
            <a:ext cx="442569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B37"/>
                </a:solidFill>
              </a:rPr>
              <a:t>목적이 분명한가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F2B37"/>
                </a:solidFill>
              </a:rPr>
              <a:t>질문이 구체적인가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F2B37"/>
                </a:solidFill>
              </a:rPr>
              <a:t>판단이 가능한가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705088" y="2715768"/>
            <a:ext cx="310896" cy="475488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2139696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63456" y="2267712"/>
            <a:ext cx="1682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363456" y="2450592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최종 판단 1개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63456" y="2999232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이 질문은 현업에서 다시 쓸 수 있는 구조인가</a:t>
            </a:r>
            <a:endParaRPr lang="en-US" sz="12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피드백 루프 4분면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5727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637181"/>
                </a:solidFill>
              </a:rPr>
              <a:t>입력-생성-검토-수정의 반복을 워크숍형으로 보여준다.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024128" y="2084832"/>
            <a:ext cx="4480560" cy="1426464"/>
          </a:xfrm>
          <a:prstGeom prst="roundRect">
            <a:avLst>
              <a:gd name="adj" fmla="val 512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212848"/>
            <a:ext cx="4151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입력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188720" y="2395728"/>
            <a:ext cx="4151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목적과 상황 정의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91072" y="2084832"/>
            <a:ext cx="4480560" cy="1426464"/>
          </a:xfrm>
          <a:prstGeom prst="roundRect">
            <a:avLst>
              <a:gd name="adj" fmla="val 5128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2212848"/>
            <a:ext cx="4151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생성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455664" y="2395728"/>
            <a:ext cx="4151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초안과 옵션 만들기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24128" y="3858768"/>
            <a:ext cx="4480560" cy="1426464"/>
          </a:xfrm>
          <a:prstGeom prst="roundRect">
            <a:avLst>
              <a:gd name="adj" fmla="val 5128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986784"/>
            <a:ext cx="4151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검토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188720" y="4169664"/>
            <a:ext cx="4151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기준으로 평가하기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91072" y="3858768"/>
            <a:ext cx="4480560" cy="1426464"/>
          </a:xfrm>
          <a:prstGeom prst="roundRect">
            <a:avLst>
              <a:gd name="adj" fmla="val 5128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3986784"/>
            <a:ext cx="4151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수정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455664" y="4169664"/>
            <a:ext cx="4151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질문과 답을 다듬기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6112" y="5504688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37181"/>
                </a:solidFill>
              </a:rPr>
              <a:t>좋은 활용은 한 번에 정답을 뽑는 것이 아니라, 반복적으로 질문과 답을 조정하는 데서 나온다.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출발지점 - 목표지점 - 이동수단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5727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637181"/>
                </a:solidFill>
              </a:rPr>
              <a:t>길찾기 비유처럼 현재 상태와 이동 방식을 정리한다.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32688" y="2322576"/>
            <a:ext cx="2468880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450592"/>
            <a:ext cx="2139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출발지점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97280" y="2633472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지금은 질문이 막연한 상태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291840"/>
            <a:ext cx="21396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좋게 써줘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잘 정리해줘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효율적으로 만들어줘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3712464" y="2999232"/>
            <a:ext cx="420624" cy="530352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2139696"/>
            <a:ext cx="3456432" cy="2670048"/>
          </a:xfrm>
          <a:prstGeom prst="roundRect">
            <a:avLst>
              <a:gd name="adj" fmla="val 2740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35424" y="2267712"/>
            <a:ext cx="3127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이동수단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535424" y="2450592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B37"/>
                </a:solidFill>
              </a:rPr>
              <a:t>프레임 · 예시 · 실습 · 피드백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35424" y="3090672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질문 사다리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CRAFTO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인터뷰형 협업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10-80-10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1-3-1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8138160" y="2999232"/>
            <a:ext cx="420624" cy="530352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96528" y="2322576"/>
            <a:ext cx="2468880" cy="2267712"/>
          </a:xfrm>
          <a:prstGeom prst="roundRect">
            <a:avLst>
              <a:gd name="adj" fmla="val 3226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0" y="2450592"/>
            <a:ext cx="2139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목표지점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961120" y="2633472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판단 가능한 질문 구조를 갖춘 상태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961120" y="3236976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무엇을 위해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누구에게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어떤 기준으로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무엇을 판단할지 보인다</a:t>
            </a:r>
            <a:endParaRPr lang="en-US" sz="12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WORKSHOP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실습 안내 슬라이드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5727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637181"/>
                </a:solidFill>
              </a:rPr>
              <a:t>설명보다 참여를 유도하는 카드형 안내.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96112" y="2011680"/>
            <a:ext cx="3200400" cy="2560320"/>
          </a:xfrm>
          <a:prstGeom prst="roundRect">
            <a:avLst>
              <a:gd name="adj" fmla="val 2857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" y="2139696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이번 실습의 목표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60704" y="2322576"/>
            <a:ext cx="28712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모호한 요청을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현업에서 쓸 수 있는 질문 구조로 바꿔본다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25696" y="2011680"/>
            <a:ext cx="32004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2139696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진행 순서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590288" y="2322576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상황 1개 고르기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목적 1문장 쓰기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질문 초안 만들기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짝과 서로 피드백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55280" y="2011680"/>
            <a:ext cx="3200400" cy="2560320"/>
          </a:xfrm>
          <a:prstGeom prst="roundRect">
            <a:avLst>
              <a:gd name="adj" fmla="val 2857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19872" y="2139696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산출물 형태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8119872" y="2322576"/>
            <a:ext cx="28712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프롬프트 1개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판단 기준 3개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수정 포인트 1개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WORKSHOP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직군별 장면에서 시작한다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5727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637181"/>
                </a:solidFill>
              </a:rPr>
              <a:t>처음부터 자유롭게 쓰지 않고, 내 일과 가장 가까운 장면을 먼저 고른다.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96112" y="2011680"/>
            <a:ext cx="4882896" cy="1389888"/>
          </a:xfrm>
          <a:prstGeom prst="roundRect">
            <a:avLst>
              <a:gd name="adj" fmla="val 5263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139696"/>
            <a:ext cx="4553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영업 / 고객 대응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60704" y="2322576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고객 미팅 준비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기술자료 설명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제안 논리 정리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81344" y="2011680"/>
            <a:ext cx="488289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2139696"/>
            <a:ext cx="4553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R&amp;D / 공정 / 설계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345936" y="2322576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논문·기술자료 비교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원인 가설 정리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다음 검토 방향 설정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96112" y="3749040"/>
            <a:ext cx="4882896" cy="1389888"/>
          </a:xfrm>
          <a:prstGeom prst="roundRect">
            <a:avLst>
              <a:gd name="adj" fmla="val 5263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877056"/>
            <a:ext cx="4553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품질 / TEST / EHS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060704" y="4059936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이슈 원인 정리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리스크 점검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액션 우선순위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81344" y="3749040"/>
            <a:ext cx="4882896" cy="1389888"/>
          </a:xfrm>
          <a:prstGeom prst="roundRect">
            <a:avLst>
              <a:gd name="adj" fmla="val 5263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3877056"/>
            <a:ext cx="4553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기획 / IT / 인사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345936" y="4059936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트렌드 해석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보고 구조화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내부 자료 연결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마지막 종합실습 캔버스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5727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637181"/>
                </a:solidFill>
              </a:rPr>
              <a:t>강의 전체를 한 화면에서 다시 조합하는 마무리형 슬라이드.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96112" y="1956816"/>
            <a:ext cx="3273552" cy="3621024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" y="2084832"/>
            <a:ext cx="2944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문제와 목적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60704" y="2267712"/>
            <a:ext cx="2944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해결하고 싶은 실제 상황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왜 이 질문이 필요한가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누가 결과를 사용할 것인가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43984" y="1956816"/>
            <a:ext cx="2871216" cy="3621024"/>
          </a:xfrm>
          <a:prstGeom prst="roundRect">
            <a:avLst>
              <a:gd name="adj" fmla="val 254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2084832"/>
            <a:ext cx="2542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 구조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608576" y="2267712"/>
            <a:ext cx="2542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Context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Role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Ask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Format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Tone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F2B37"/>
                </a:solidFill>
              </a:rPr>
              <a:t>Output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589520" y="1956816"/>
            <a:ext cx="3657600" cy="3621024"/>
          </a:xfrm>
          <a:prstGeom prst="roundRect">
            <a:avLst>
              <a:gd name="adj" fmla="val 2020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1B253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54112" y="2084832"/>
            <a:ext cx="3328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판단과 수정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754112" y="2267712"/>
            <a:ext cx="33284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B37"/>
                </a:solidFill>
              </a:rPr>
              <a:t>좋은 답인지 어떻게 판단할 것인가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F2B37"/>
                </a:solidFill>
              </a:rPr>
              <a:t>무엇을 다시 물어보면 더 좋아지는가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F2B37"/>
                </a:solidFill>
              </a:rPr>
              <a:t>어떤 이동수단을 쓸 것인가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기초활용역량 템플릿 버전</dc:title>
  <dc:subject>생성형 AI 기초활용역량 템플릿 버전</dc:subject>
  <dc:creator>OpenAI Codex</dc:creator>
  <cp:lastModifiedBy>OpenAI Codex</cp:lastModifiedBy>
  <cp:revision>1</cp:revision>
  <dcterms:created xsi:type="dcterms:W3CDTF">2026-04-08T11:44:45Z</dcterms:created>
  <dcterms:modified xsi:type="dcterms:W3CDTF">2026-04-08T11:44:45Z</dcterms:modified>
</cp:coreProperties>
</file>