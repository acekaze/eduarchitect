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8E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8E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557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1152" y="868680"/>
            <a:ext cx="3703320" cy="4828032"/>
          </a:xfrm>
          <a:prstGeom prst="rect">
            <a:avLst/>
          </a:prstGeom>
          <a:solidFill>
            <a:srgbClr val="294A5F"/>
          </a:solidFill>
          <a:ln w="12700">
            <a:solidFill>
              <a:srgbClr val="45617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7184" y="1115568"/>
            <a:ext cx="3200400" cy="4315968"/>
          </a:xfrm>
          <a:prstGeom prst="rect">
            <a:avLst/>
          </a:prstGeom>
          <a:solidFill>
            <a:srgbClr val="365D74">
              <a:alpha val="75000"/>
            </a:srgbClr>
          </a:solidFill>
          <a:ln w="12700">
            <a:solidFill>
              <a:srgbClr val="89A2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1243584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1316736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COLLABORATION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755648"/>
            <a:ext cx="4343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생성형 AI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기초활용역량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33856" y="3163824"/>
            <a:ext cx="4069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DE8EF"/>
                </a:solidFill>
              </a:rPr>
              <a:t>목적을 분명히 하고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DE8EF"/>
                </a:solidFill>
              </a:rPr>
              <a:t>질문하게 하고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DE8EF"/>
                </a:solidFill>
              </a:rPr>
              <a:t>판단까지 가는 AI 협업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4590288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21495F"/>
          </a:solidFill>
          <a:ln w="12700">
            <a:solidFill>
              <a:srgbClr val="557B8E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98448" y="4754880"/>
            <a:ext cx="3758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E0E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오늘의 약속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98448" y="4937760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기능보다 목적, 답변보다 질문, 초안보다 판단을 보겠습니다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4MAT 구조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오늘은 이렇게 갑니다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설명보다 작은 실습을 자주 넣고, 마지막에는 자기 업무 장면 하나로 종합한다.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8F0F5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32E"/>
                </a:solidFill>
              </a:rPr>
              <a:t>왜 AI를 써도 아직 답답한가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48456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3EAD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945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9624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32E"/>
                </a:solidFill>
              </a:rPr>
              <a:t>AI를 어떤 도구로 이해해야 하는가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19088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8F0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0256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32E"/>
                </a:solidFill>
              </a:rPr>
              <a:t>어떻게 질문하고 구조화하고 점검하는가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189720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3E3DD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D745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90888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32E"/>
                </a:solidFill>
              </a:rPr>
              <a:t>그래서 내 업무에 무엇을 적용할 것인가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51755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E6A74"/>
                </a:solidFill>
              </a:rPr>
              <a:t>Why에서 문제를 열고, What에서 개념을 잡고, How에서 반복 실습을 돌리고, If에서 내 업무 적용으로 닫는다.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위치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나는 지금 AI를 어떻게 쓰고 있는가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평가가 아니라 자기 위치 확인이다.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3419856"/>
            <a:ext cx="9464040" cy="0"/>
          </a:xfrm>
          <a:prstGeom prst="line">
            <a:avLst/>
          </a:prstGeom>
          <a:noFill/>
          <a:ln w="25400">
            <a:solidFill>
              <a:srgbClr val="D9D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3255264"/>
            <a:ext cx="219456" cy="219456"/>
          </a:xfrm>
          <a:prstGeom prst="ellipse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232E"/>
                </a:solidFill>
              </a:rPr>
              <a:t>검색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4"/>
                </a:solidFill>
              </a:rPr>
              <a:t>찾는다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3255264"/>
            <a:ext cx="219456" cy="219456"/>
          </a:xfrm>
          <a:prstGeom prst="ellipse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232E"/>
                </a:solidFill>
              </a:rPr>
              <a:t>초안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4"/>
                </a:solidFill>
              </a:rPr>
              <a:t>만든다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05856" y="3255264"/>
            <a:ext cx="219456" cy="219456"/>
          </a:xfrm>
          <a:prstGeom prst="ellipse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232E"/>
                </a:solidFill>
              </a:rPr>
              <a:t>비교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4"/>
                </a:solidFill>
              </a:rPr>
              <a:t>검토한다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3255264"/>
            <a:ext cx="219456" cy="219456"/>
          </a:xfrm>
          <a:prstGeom prst="ellipse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232E"/>
                </a:solidFill>
              </a:rPr>
              <a:t>인터뷰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4"/>
                </a:solidFill>
              </a:rPr>
              <a:t>질문하게 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3255264"/>
            <a:ext cx="219456" cy="219456"/>
          </a:xfrm>
          <a:prstGeom prst="ellipse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13264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232E"/>
                </a:solidFill>
              </a:rPr>
              <a:t>판단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248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A74"/>
                </a:solidFill>
              </a:rPr>
              <a:t>피드백과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4709160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E8F0F5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97280" y="4873752"/>
            <a:ext cx="9930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5056632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232E"/>
                </a:solidFill>
              </a:rPr>
              <a:t>대부분은 아직 검색+초안 단계에 머문다. 오늘은 비교, 질문, 판단의 단계로 한 걸음 더 들어가보려 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 정렬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예쁜 집은 사람마다 다르다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같은 단어를 써도, 각자 떠올리는 기준은 전혀 다를 수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채광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빛이 잘 들어오는 집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48456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8F0F5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9624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9624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생활이 편한 집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19088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0256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미감이 살아 있는 집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89720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8F0F5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90888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가족이 편안한 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" y="51389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E6A74"/>
                </a:solidFill>
              </a:rPr>
              <a:t>좋은 결과도 마찬가지다. ‘잘 된 보고’, ‘좋은 설명’, ‘실용적 정리’도 사람마다 뜻이 다를 수 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사다리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원하는 결과는 바로 나오지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질문을 쪼개야 비로소 내가 진짜 원하는 결과가 보인다.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5440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조금 더 수월해졌으면 하는 장면은?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장면이 왜 번거로운가?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일이 잘 되면 무엇이 달라지는가?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그게 왜 중요한가?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당신에게 성과란 무엇인가?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무엇을 인정해주면 잘 된 것인가?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결국 진짜 원하는 결과는 무엇인가?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516368" y="2121408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E8F0F5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17536" y="2286000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17536" y="2468880"/>
            <a:ext cx="3328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232E"/>
                </a:solidFill>
              </a:rPr>
              <a:t>보고서를 쓰는 것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9232E"/>
                </a:solidFill>
              </a:rPr>
              <a:t>→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9232E"/>
                </a:solidFill>
              </a:rPr>
              <a:t>상사가 방향을 한 번에 이해하는 것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17536" y="3438144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겉으로 원하는 것과 진짜 원하는 결과는 다를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직군별 장면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실습용 장면은 여기서 고른다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처음부터 자유롭게 쓰지 않고, 내 직군과 가장 가까운 장면 하나를 먼저 고른다.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8F0F5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 / 고객 대응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고객 미팅 준비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기술자료 쉽게 설명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제안 논리 정리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26480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84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R&amp;D / 공정 / 설계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27648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논문·기술자료 비교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원인 가설 정리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다음 검토 방향 설정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96112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8F0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품질 / TEST / EHS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이슈 원인 정리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리스크 점검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액션 우선순위 정리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26480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3E3DD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D745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/ IT / 인사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27648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트렌드 해석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보고 구조화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내부 자료 연결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" y="54864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E6A74"/>
                </a:solidFill>
              </a:rPr>
              <a:t>이 장면을 고른 뒤에야 ‘왜 번거로운가’, ‘잘 되면 무엇이 달라지는가’, ‘진짜 원하는 결과는 무엇인가’로 내려간다.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 비유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진단 없이 처방부터 요구하진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중요한 문제일수록 먼저 맥락을 설명하고, 전문가가 다시 질문하게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F3E3DD"/>
          </a:solidFill>
          <a:ln w="12700">
            <a:solidFill>
              <a:srgbClr val="E4C6BA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D745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잘못된 접근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바로 답을 요구한다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청자도 목적도 빠져 있다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결과는 그럴듯하지만 내 상황과 어긋날 가능성이 크다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19088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E8F0EA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0256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나은 접근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20256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지금 바로 답하지 말고,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0256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19232E"/>
                </a:solidFill>
              </a:rPr>
              <a:t>맥락을 묻는다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9232E"/>
                </a:solidFill>
              </a:rPr>
              <a:t>청자와 제약을 확인한다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9232E"/>
                </a:solidFill>
              </a:rPr>
              <a:t>그다음에야 더 맞는 구조와 설명이 나온다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도구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AI는 정답 자판기인가, 추론 도구인가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AI를 생성 도구로만 쓰면 얕아지고, 추론 도구로 쓸 때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Search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32E"/>
                </a:solidFill>
              </a:rPr>
              <a:t>찾는다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정보를 모은다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사실을 확인한다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0799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E8F0F5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Generate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32E"/>
                </a:solidFill>
              </a:rPr>
              <a:t>만든다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초안을 만든다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문장을 정리한다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1987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3EADF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Reason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비교하고 질문하고 점검한다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355848"/>
            <a:ext cx="2779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쟁점을 드러낸다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구조를 세운다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판단을 돕는다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철학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이 과정의 철학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기능보다 방향을 먼저 세워야 노하우가 얕아지지 않는다.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8F0F5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목적이 먼저다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AI 활용의 출발점은 답이 아니라 목적이다.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1728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AI는 인터뷰와 점검의 파트너다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81728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좋은 활용은 AI가 먼저 질문하고, 다시 피드백하는 흐름에서 나온다.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65008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8F0EA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66176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66176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핵심은 더 나은 판단과 실행이다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66176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문서 한 개를 빨리 만드는 것보다, 더 정확히 판단하고 움직이는 것이 중요하다.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96112" y="5285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E6A74"/>
                </a:solidFill>
              </a:rPr>
              <a:t>철학은 방향이고, 프레임은 지도이며, 노하우는 운전법이다.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프레임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CRAFTO는 생각 정리 틀이다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프롬프트 공식이 아니라, 내 생각을 빠뜨리지 않고 전달하는 구조다.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8F0F5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Context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232E"/>
                </a:solidFill>
              </a:rPr>
              <a:t>지금 어떤 상황인가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0799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84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232E"/>
                </a:solidFill>
              </a:rPr>
              <a:t>AI는 어떤 역할을 해야 하는가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1987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8F0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Audience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232E"/>
                </a:solidFill>
              </a:rPr>
              <a:t>누가 이 결과를 보는가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611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3EAD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945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232E"/>
                </a:solidFill>
              </a:rPr>
              <a:t>어떤 형태로 받으면 바로 쓸 수 있는가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0799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3E3DD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D745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232E"/>
                </a:solidFill>
              </a:rPr>
              <a:t>어느 수준과 말투가 필요한가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1987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84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232E"/>
                </a:solidFill>
              </a:rPr>
              <a:t>제약, 금지선, 선택 기준은 무엇인가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실습 1 | 바로 답 요청 vs 인터뷰형 협업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같은 장면을 두 방식으로 시도하고, 무엇이 더 맞는지 비교한다.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75104"/>
            <a:ext cx="4773168" cy="3602736"/>
          </a:xfrm>
          <a:prstGeom prst="roundRect">
            <a:avLst>
              <a:gd name="adj" fmla="val 2030"/>
            </a:avLst>
          </a:prstGeom>
          <a:solidFill>
            <a:srgbClr val="F3E3DD"/>
          </a:solidFill>
          <a:ln w="12700">
            <a:solidFill>
              <a:srgbClr val="E4C6BA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139696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D745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Before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32257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43708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답은 바로 나온다.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하지만 내 목적, 청자, 제약은 빠져 있다.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결과는 그럴듯하지만 어긋나기 쉽다.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37376" y="1975104"/>
            <a:ext cx="4791456" cy="3602736"/>
          </a:xfrm>
          <a:prstGeom prst="roundRect">
            <a:avLst>
              <a:gd name="adj" fmla="val 2030"/>
            </a:avLst>
          </a:prstGeom>
          <a:solidFill>
            <a:srgbClr val="E8F0EA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38544" y="21396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After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38544" y="23225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지금 바로 답하지 말고,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38544" y="2926080"/>
            <a:ext cx="43891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0" dirty="0">
                <a:solidFill>
                  <a:srgbClr val="19232E"/>
                </a:solidFill>
              </a:rPr>
              <a:t>내 목적을 확인한다.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19232E"/>
                </a:solidFill>
              </a:rPr>
              <a:t>누가 듣는지, 무엇을 놓치면 안 되는지 확인한다.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19232E"/>
                </a:solidFill>
              </a:rPr>
              <a:t>그다음에야 더 맞는 설명과 정리가 나온다.</a:t>
            </a:r>
            <a:endParaRPr lang="en-US" sz="13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처음과 끝은 사람이 잡는다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AI에게 맡길 수 있는 것과 맡기면 안 되는 것을 구분해야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2340864"/>
            <a:ext cx="6473952" cy="1097280"/>
          </a:xfrm>
          <a:prstGeom prst="roundRect">
            <a:avLst>
              <a:gd name="adj" fmla="val 6667"/>
            </a:avLst>
          </a:prstGeom>
          <a:solidFill>
            <a:srgbClr val="E8F0F5"/>
          </a:solidFill>
          <a:ln w="12700">
            <a:solidFill>
              <a:srgbClr val="2F678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00032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9320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80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64624" y="2651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A74"/>
                </a:solidFill>
              </a:rPr>
              <a:t>목적, 기준, 맥락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A74"/>
                </a:solidFill>
              </a:rPr>
              <a:t>질문, 정리, 초안, 비교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A74"/>
                </a:solidFill>
              </a:rPr>
              <a:t>선택, 검증, 책임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많이 만드는 것보다, 줄이고 끝내는 것이 중요하다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AI는 선택지를 늘리는 데 강하고, 사람은 끝내는 데 책임이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7552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32E"/>
                </a:solidFill>
              </a:rPr>
              <a:t>Problem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218688"/>
            <a:ext cx="1655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문제를 한 문장으로 잡는다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73552" y="2743200"/>
            <a:ext cx="292608" cy="475488"/>
          </a:xfrm>
          <a:prstGeom prst="chevron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1920240"/>
            <a:ext cx="4718304" cy="2633472"/>
          </a:xfrm>
          <a:prstGeom prst="roundRect">
            <a:avLst>
              <a:gd name="adj" fmla="val 2778"/>
            </a:avLst>
          </a:prstGeom>
          <a:solidFill>
            <a:srgbClr val="E8F0F5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208483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0" y="226771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9232E"/>
                </a:solidFill>
              </a:rPr>
              <a:t>Solutions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31920" y="2871216"/>
            <a:ext cx="43159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9232E"/>
                </a:solidFill>
              </a:rPr>
              <a:t>실행 가능한 대안 3개를 본다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9232E"/>
                </a:solidFill>
              </a:rPr>
              <a:t>장단점을 비교한다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705088" y="2743200"/>
            <a:ext cx="292608" cy="475488"/>
          </a:xfrm>
          <a:prstGeom prst="chevron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62288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E8F0EA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63456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363456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63456" y="3182112"/>
            <a:ext cx="1655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dirty="0">
                <a:solidFill>
                  <a:srgbClr val="19232E"/>
                </a:solidFill>
              </a:rPr>
              <a:t>권고안 1개를 선택한다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초안 다음에는 점검이 들어가야 한다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AI를 초안 생성기에서 비평가로 확장할 때 활용이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070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8F0F5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메타인지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6187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본질과 목적에 맞는가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278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3E3DD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D745C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레드팀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7395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치명적 리스크는 무엇인가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6070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3EAD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9450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심사위원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6187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논리 비약은 없는가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7278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8F0EA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7395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232E"/>
                </a:solidFill>
              </a:rPr>
              <a:t>더 나은 대안은 없는가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8E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길찾아가기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8E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557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051560"/>
            <a:ext cx="128016" cy="4480560"/>
          </a:xfrm>
          <a:prstGeom prst="rect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296" y="1316736"/>
            <a:ext cx="5532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좋은 툴보다 먼저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좋은 길 설계가 필요하다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61872" y="2487168"/>
            <a:ext cx="53035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CE8EF"/>
                </a:solidFill>
              </a:rPr>
              <a:t>출발지점이 어디인지, 목표지점이 무엇인지,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CE8EF"/>
                </a:solidFill>
              </a:rPr>
              <a:t>그리고 어떤 이동수단이 맞는지를 구분해야 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79792" y="1335024"/>
            <a:ext cx="3767328" cy="3822192"/>
          </a:xfrm>
          <a:prstGeom prst="roundRect">
            <a:avLst>
              <a:gd name="adj" fmla="val 1942"/>
            </a:avLst>
          </a:prstGeom>
          <a:solidFill>
            <a:srgbClr val="213745"/>
          </a:solidFill>
          <a:ln w="12700">
            <a:solidFill>
              <a:srgbClr val="56748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1499616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0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80960" y="168249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지금 나는 어디에 있고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어디로 가려는가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0" y="2286000"/>
            <a:ext cx="33649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0" dirty="0">
                <a:solidFill>
                  <a:srgbClr val="E3EDF3"/>
                </a:solidFill>
              </a:rPr>
              <a:t>출발지점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3EDF3"/>
                </a:solidFill>
              </a:rPr>
              <a:t>목표지점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3EDF3"/>
                </a:solidFill>
              </a:rPr>
              <a:t>이동수단</a:t>
            </a: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3EDF3"/>
                </a:solidFill>
              </a:rPr>
              <a:t>운용 기준</a:t>
            </a:r>
            <a:endParaRPr lang="en-US" sz="1310" dirty="0"/>
          </a:p>
          <a:p>
            <a:pPr algn="l" indent="0" marL="0">
              <a:buNone/>
            </a:pPr>
            <a:endParaRPr lang="en-US" sz="1310" dirty="0"/>
          </a:p>
          <a:p>
            <a:pPr algn="l" indent="0" marL="0">
              <a:buNone/>
            </a:pPr>
            <a:r>
              <a:rPr lang="en-US" sz="1310" dirty="0">
                <a:solidFill>
                  <a:srgbClr val="E3EDF3"/>
                </a:solidFill>
              </a:rPr>
              <a:t>이 네 가지가 정리되면 도구는 훨씬 덜 헷갈린다.</a:t>
            </a:r>
            <a:endParaRPr lang="en-US" sz="13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이동수단 지도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어떤 장면에 어떤 이동수단이 맞는가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브랜드보다 목적을 먼저 보고, 그 목적에 맞는 도구를 배치한다.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32E"/>
                </a:solidFill>
              </a:rPr>
              <a:t>일반 LLM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생각 열기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초안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구조화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3072384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8F0F5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32E"/>
                </a:solidFill>
              </a:rPr>
              <a:t>소스 기반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73552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자료 기반 이해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비교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검토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321808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3EADF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22976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32E"/>
                </a:solidFill>
              </a:rPr>
              <a:t>딥리서치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22976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외부 흐름 조사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최신 정보 탐색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571232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8F0EA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32E"/>
                </a:solidFill>
              </a:rPr>
              <a:t>에이전트형 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0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여러 단계 연결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흐름 설계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9820656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3E3DD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21824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232E"/>
                </a:solidFill>
              </a:rPr>
              <a:t>생성 서비스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21824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화면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덱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이미지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19232E"/>
                </a:solidFill>
              </a:rPr>
              <a:t>영상 초안</a:t>
            </a:r>
            <a:endParaRPr lang="en-US" sz="12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내 업무 장면 하나를 끝까지 설계해보기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앞에서 만든 조각들을 하나로 묶어 자기 업무 적용안으로 완성한다.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20240"/>
            <a:ext cx="3154680" cy="3584448"/>
          </a:xfrm>
          <a:prstGeom prst="roundRect">
            <a:avLst>
              <a:gd name="adj" fmla="val 2319"/>
            </a:avLst>
          </a:prstGeom>
          <a:solidFill>
            <a:srgbClr val="FBFAF7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084832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267712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장면과 진짜 결과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871216"/>
            <a:ext cx="27523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조금 더 수월해지고 싶은 장면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내가 진짜 원하는 결과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15968" y="1920240"/>
            <a:ext cx="2743200" cy="3584448"/>
          </a:xfrm>
          <a:prstGeom prst="roundRect">
            <a:avLst>
              <a:gd name="adj" fmla="val 2667"/>
            </a:avLst>
          </a:prstGeom>
          <a:solidFill>
            <a:srgbClr val="E8F0F5"/>
          </a:solidFill>
          <a:ln w="12700">
            <a:solidFill>
              <a:srgbClr val="CBDCE5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7136" y="208483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17136" y="226771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CRAFTO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17136" y="2871216"/>
            <a:ext cx="234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Context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Role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Audience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Format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Tone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Option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0" y="1920240"/>
            <a:ext cx="3913632" cy="3584448"/>
          </a:xfrm>
          <a:prstGeom prst="roundRect">
            <a:avLst>
              <a:gd name="adj" fmla="val 2041"/>
            </a:avLst>
          </a:prstGeom>
          <a:solidFill>
            <a:srgbClr val="E8F0EA"/>
          </a:solidFill>
          <a:ln w="12700">
            <a:solidFill>
              <a:srgbClr val="C7D7CB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16368" y="208483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7E6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16368" y="226771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운용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16368" y="2871216"/>
            <a:ext cx="3511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AI 인터뷰 요청문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10-80-10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1-3-1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피드백 포인트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9232E"/>
                </a:solidFill>
              </a:rPr>
              <a:t>이동수단 조합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84E"/>
          </a:solidFill>
          <a:ln w="12700">
            <a:solidFill>
              <a:srgbClr val="17384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E6A7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9D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9232E"/>
                </a:solidFill>
              </a:rPr>
              <a:t>종합실습은 이 순서로 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A74"/>
                </a:solidFill>
              </a:rPr>
              <a:t>막히지 않게 하기 위해, 아래 순서대로 짧게 채운다.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897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내 업무 장면을 한 문장으로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진짜 원하는 결과를 다시 확인한다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CRAFTO를 짧게 채운다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AI에게 먼저 시킬 인터뷰 요청문을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5. 10-80-10과 1-3-1로 역할과 선택을 정리한다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9232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6. 피드백 포인트와 이동수단 조합을 적는다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315200" y="2029968"/>
            <a:ext cx="3913632" cy="3456432"/>
          </a:xfrm>
          <a:prstGeom prst="roundRect">
            <a:avLst>
              <a:gd name="adj" fmla="val 2116"/>
            </a:avLst>
          </a:prstGeom>
          <a:solidFill>
            <a:srgbClr val="F3EADF"/>
          </a:solidFill>
          <a:ln w="12700">
            <a:solidFill>
              <a:srgbClr val="D9D3C7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16368" y="219456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78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체크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16368" y="23774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232E"/>
                </a:solidFill>
              </a:rPr>
              <a:t>내가 직접 판단할 것은 무엇인가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16368" y="2980944"/>
            <a:ext cx="351129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9232E"/>
                </a:solidFill>
              </a:rPr>
              <a:t>이 항목이 비어 있으면,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9232E"/>
                </a:solidFill>
              </a:rPr>
              <a:t>AI가 너무 많은 것을 대신하게 된 것이다.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9232E"/>
                </a:solidFill>
              </a:rPr>
              <a:t>종합실습의 마지막은 항상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9232E"/>
                </a:solidFill>
              </a:rPr>
              <a:t>‘사람이 직접 잡아야 할 판단’으로 닫는다.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38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99450"/>
          </a:solidFill>
          <a:ln w="12700">
            <a:solidFill>
              <a:srgbClr val="B994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8E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DE8E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5570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901952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232E"/>
                </a:solidFill>
              </a:rPr>
              <a:t>AI를 잘 쓴다는 것은 답을 빨리 받는 것이 아니라,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9232E"/>
                </a:solidFill>
              </a:rPr>
              <a:t>목적을 분명히 하고, AI와 함께 더 나은 판단에 도달하는 것이다.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3703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E6A74"/>
                </a:solidFill>
              </a:rPr>
              <a:t>오늘 가져갈 한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01952" y="4297680"/>
            <a:ext cx="8394192" cy="932688"/>
          </a:xfrm>
          <a:prstGeom prst="roundRect">
            <a:avLst>
              <a:gd name="adj" fmla="val 7843"/>
            </a:avLst>
          </a:prstGeom>
          <a:solidFill>
            <a:srgbClr val="213745"/>
          </a:solidFill>
          <a:ln w="12700">
            <a:solidFill>
              <a:srgbClr val="547486"/>
            </a:solidFill>
            <a:prstDash val="solid"/>
          </a:ln>
          <a:effectLst>
            <a:outerShdw sx="100000" sy="100000" kx="0" ky="0" algn="bl" rotWithShape="0" blurRad="12700" dist="12700" dir="2700000">
              <a:srgbClr val="20303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4462272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E0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적용 선언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4645152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내일부터 AI에게 바로 답 대신 먼저 요청할 것은 무엇인가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</dc:title>
  <dc:subject>생성형 AI 기초활용역량 실전 강의 슬라이드</dc:subject>
  <dc:creator>OpenAI Codex</dc:creator>
  <cp:lastModifiedBy>OpenAI Codex</cp:lastModifiedBy>
  <cp:revision>1</cp:revision>
  <dcterms:created xsi:type="dcterms:W3CDTF">2026-04-08T11:30:50Z</dcterms:created>
  <dcterms:modified xsi:type="dcterms:W3CDTF">2026-04-08T11:30:50Z</dcterms:modified>
</cp:coreProperties>
</file>