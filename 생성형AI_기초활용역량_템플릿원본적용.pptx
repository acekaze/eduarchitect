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33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76656" y="676656"/>
            <ns1:ext cx="109728" cy="5449824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987552" y="987552"/>
            <ns1:ext cx="25603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0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생성형 AI 기초활용역량</ns1:t>
            </ns1:r>
            <ns1:endParaRPr lang="en-US" sz="10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987552" y="1481328"/>
            <ns1:ext cx="5029200" cy="1371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6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목적을 분명히 하고</ns1:t>
            </ns1:r>
            <ns1:endParaRPr lang="en-US" sz="26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26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질문하게 하고, 판단까지 가는</ns1:t>
            </ns1:r>
            <ns1:endParaRPr lang="en-US" sz="26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1005840" y="2944368"/>
            <ns1:ext cx="5760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1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4MAT 기반 실전 강의</ns1:t>
            </ns1:r>
            <ns1:endParaRPr lang="en-US" sz="11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Shape 5"/>
          <ns0:cNvSpPr/>
          <ns0:nvPr/>
        </ns0:nvSpPr>
        <ns0:spPr>
          <ns1:xfrm>
            <ns1:off x="987552" y="3401568"/>
            <ns1:ext cx="1463040" cy="310896"/>
          </ns1:xfrm>
          <ns1:prstGeom prst="roundRect">
            <ns1:avLst>
              <ns1:gd name="adj" fmla="val 44118"/>
            </ns1:avLst>
          </ns1:prstGeom>
          <ns1:solidFill>
            <ns1:srgbClr val="E7EDF4"/>
          </ns1:solidFill>
          <ns1:ln w="12700">
            <ns1:solidFill>
              <ns1:srgbClr val="E7EDF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Text 6"/>
          <ns0:cNvSpPr/>
          <ns0:nvPr/>
        </ns0:nvSpPr>
        <ns0:spPr>
          <ns1:xfrm>
            <ns1:off x="987552" y="3447288"/>
            <ns1:ext cx="14630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White / Warm Gray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2542032" y="3401568"/>
            <ns1:ext cx="1115568" cy="310896"/>
          </ns1:xfrm>
          <ns1:prstGeom prst="roundRect">
            <ns1:avLst>
              <ns1:gd name="adj" fmla="val 44118"/>
            </ns1:avLst>
          </ns1:prstGeom>
          <ns1:solidFill>
            <ns1:srgbClr val="E7EDF5"/>
          </ns1:solidFill>
          <ns1:ln w="12700">
            <ns1:solidFill>
              <ns1:srgbClr val="E7EDF5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Text 8"/>
          <ns0:cNvSpPr/>
          <ns0:nvPr/>
        </ns0:nvSpPr>
        <ns0:spPr>
          <ns1:xfrm>
            <ns1:off x="2542032" y="3447288"/>
            <ns1:ext cx="1115568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1E2C3A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Navy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3749040" y="3401568"/>
            <ns1:ext cx="1225296" cy="310896"/>
          </ns1:xfrm>
          <ns1:prstGeom prst="roundRect">
            <ns1:avLst>
              <ns1:gd name="adj" fmla="val 44118"/>
            </ns1:avLst>
          </ns1:prstGeom>
          <ns1:solidFill>
            <ns1:srgbClr val="E8EEF3"/>
          </ns1:solidFill>
          <ns1:ln w="12700">
            <ns1:solidFill>
              <ns1:srgbClr val="E8EEF3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3749040" y="3447288"/>
            <ns1:ext cx="122529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Slate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Shape 11"/>
          <ns0:cNvSpPr/>
          <ns0:nvPr/>
        </ns0:nvSpPr>
        <ns0:spPr>
          <ns1:xfrm>
            <ns1:off x="5084064" y="3401568"/>
            <ns1:ext cx="1115568" cy="310896"/>
          </ns1:xfrm>
          <ns1:prstGeom prst="roundRect">
            <ns1:avLst>
              <ns1:gd name="adj" fmla="val 44118"/>
            </ns1:avLst>
          </ns1:prstGeom>
          <ns1:solidFill>
            <ns1:srgbClr val="E9EEF4"/>
          </ns1:solidFill>
          <ns1:ln w="12700">
            <ns1:solidFill>
              <ns1:srgbClr val="E9EEF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Text 12"/>
          <ns0:cNvSpPr/>
          <ns0:nvPr/>
        </ns0:nvSpPr>
        <ns0:spPr>
          <ns1:xfrm>
            <ns1:off x="5084064" y="3447288"/>
            <ns1:ext cx="1115568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Charcoal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7644384" y="987552"/>
            <ns1:ext cx="3794760" cy="1234440"/>
          </ns1:xfrm>
          <ns1:prstGeom prst="roundRect">
            <ns1:avLst>
              <ns1:gd name="adj" fmla="val 1037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Shape 14"/>
          <ns0:cNvSpPr/>
          <ns0:nvPr/>
        </ns0:nvSpPr>
        <ns0:spPr>
          <ns1:xfrm>
            <ns1:off x="7644384" y="987552"/>
            <ns1:ext cx="3794760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7845552" y="1152144"/>
            <ns1:ext cx="33924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이 과정의 기준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7845552" y="1490472"/>
            <ns1:ext cx="3392424" cy="5760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AI 기능 자랑보다 목적 정의, 질문 설계, 판단, 실습, 구조화가 먼저 보이는 화면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7644384" y="2432304"/>
            <ns1:ext cx="3794760" cy="1444752"/>
          </ns1:xfrm>
          <ns1:prstGeom prst="roundRect">
            <ns1:avLst>
              <ns1:gd name="adj" fmla="val 8861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Shape 18"/>
          <ns0:cNvSpPr/>
          <ns0:nvPr/>
        </ns0:nvSpPr>
        <ns0:spPr>
          <ns1:xfrm>
            <ns1:off x="7644384" y="2432304"/>
            <ns1:ext cx="379476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7845552" y="2596896"/>
            <ns1:ext cx="33924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오늘 다룰 축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Text 20"/>
          <ns0:cNvSpPr/>
          <ns0:nvPr/>
        </ns0:nvSpPr>
        <ns0:spPr>
          <ns1:xfrm>
            <ns1:off x="7845552" y="2935224"/>
            <ns1:ext cx="3392424" cy="7863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철학 3개</ns1:t>
            </ns1:r>
            <ns1:endParaRPr lang="en-US" sz="105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4MAT 흐름</ns1:t>
            </ns1:r>
            <ns1:endParaRPr lang="en-US" sz="105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예쁜 집 / 의사 비유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Shape 21"/>
          <ns0:cNvSpPr/>
          <ns0:nvPr/>
        </ns0:nvSpPr>
        <ns0:spPr>
          <ns1:xfrm>
            <ns1:off x="7644384" y="4096512"/>
            <ns1:ext cx="3794760" cy="1389888"/>
          </ns1:xfrm>
          <ns1:prstGeom prst="roundRect">
            <ns1:avLst>
              <ns1:gd name="adj" fmla="val 9211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Shape 22"/>
          <ns0:cNvSpPr/>
          <ns0:nvPr/>
        </ns0:nvSpPr>
        <ns0:spPr>
          <ns1:xfrm>
            <ns1:off x="7644384" y="4096512"/>
            <ns1:ext cx="3794760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Text 23"/>
          <ns0:cNvSpPr/>
          <ns0:nvPr/>
        </ns0:nvSpPr>
        <ns0:spPr>
          <ns1:xfrm>
            <ns1:off x="7845552" y="4261104"/>
            <ns1:ext cx="33924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CRAFTO · 10-80-10 · 1-3-1 · 피드백 루프 · 로드맵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Text 24"/>
          <ns0:cNvSpPr/>
          <ns0:nvPr/>
        </ns0:nvSpPr>
        <ns0:spPr>
          <ns1:xfrm>
            <ns1:off x="7845552" y="4599432"/>
            <ns1:ext cx="3392424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직군별 장면 · 종합실습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Text 25"/>
          <ns0:cNvSpPr/>
          <ns0:nvPr/>
        </ns0:nvSpPr>
        <ns0:spPr>
          <ns1:xfrm>
            <ns1:off x="987552" y="6035040"/>
            <ns1:ext cx="3108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0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4 Hours / Workshop Deck</ns1:t>
            </ns1:r>
            <ns1:endParaRPr lang="en-US" sz="90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 name="Slide 2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SYSTEM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학습자 특성과 운영 기준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이 과정에서 반복해서 붙잡아야 할 전제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02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749808" y="1600200"/>
            <ns1:ext cx="3246120" cy="4251960"/>
          </ns1:xfrm>
          <ns1:prstGeom prst="roundRect">
            <ns1:avLst>
              <ns1:gd name="adj" fmla="val 3944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749808" y="1600200"/>
            <ns1:ext cx="324612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950976" y="1764792"/>
            <ns1:ext cx="284378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학습자 특성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Shape 11"/>
          <ns0:cNvSpPr/>
          <ns0:nvPr/>
        </ns0:nvSpPr>
        <ns0:spPr>
          <ns1:xfrm>
            <ns1:off x="978408" y="2212848"/>
            <ns1:ext cx="1152144" cy="493776"/>
          </ns1:xfrm>
          <ns1:prstGeom prst="roundRect">
            <ns1:avLst>
              <ns1:gd name="adj" fmla="val 22222"/>
            </ns1:avLst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Text 12"/>
          <ns0:cNvSpPr/>
          <ns0:nvPr/>
        </ns0:nvSpPr>
        <ns0:spPr>
          <ns1:xfrm>
            <ns1:off x="978408" y="2788920"/>
            <ns1:ext cx="11704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8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혼합형 직군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2468880" y="2212848"/>
            <ns1:ext cx="1152144" cy="493776"/>
          </ns1:xfrm>
          <ns1:prstGeom prst="roundRect">
            <ns1:avLst>
              <ns1:gd name="adj" fmla="val 22222"/>
            </ns1:avLst>
          </ns1:prstGeom>
          <ns1:solidFill>
            <ns1:srgbClr val="FFFFFF"/>
          </ns1:solidFill>
          <ns1:ln w="12700">
            <ns1:solidFill>
              <ns1:srgbClr val="FFFFFF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2468880" y="2788920"/>
            <ns1:ext cx="11704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8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영업 · R&amp;D · 품질 · 기획이 함께 듣는다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Shape 15"/>
          <ns0:cNvSpPr/>
          <ns0:nvPr/>
        </ns0:nvSpPr>
        <ns0:spPr>
          <ns1:xfrm>
            <ns1:off x="978408" y="3127248"/>
            <ns1:ext cx="1152144" cy="493776"/>
          </ns1:xfrm>
          <ns1:prstGeom prst="roundRect">
            <ns1:avLst>
              <ns1:gd name="adj" fmla="val 22222"/>
            </ns1:avLst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978408" y="3703320"/>
            <ns1:ext cx="11704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8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중고경력자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2468880" y="3127248"/>
            <ns1:ext cx="1152144" cy="493776"/>
          </ns1:xfrm>
          <ns1:prstGeom prst="roundRect">
            <ns1:avLst>
              <ns1:gd name="adj" fmla="val 22222"/>
            </ns1:avLst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Text 18"/>
          <ns0:cNvSpPr/>
          <ns0:nvPr/>
        </ns0:nvSpPr>
        <ns0:spPr>
          <ns1:xfrm>
            <ns1:off x="2468880" y="3703320"/>
            <ns1:ext cx="11704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8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기초 설명은 쉽게, 적용은 얕지 않게 가야 한다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Shape 19"/>
          <ns0:cNvSpPr/>
          <ns0:nvPr/>
        </ns0:nvSpPr>
        <ns0:spPr>
          <ns1:xfrm>
            <ns1:off x="978408" y="4041648"/>
            <ns1:ext cx="1152144" cy="493776"/>
          </ns1:xfrm>
          <ns1:prstGeom prst="roundRect">
            <ns1:avLst>
              <ns1:gd name="adj" fmla="val 22222"/>
            </ns1:avLst>
          </ns1:prstGeom>
          <ns1:solidFill>
            <ns1:srgbClr val="1F2933"/>
          </ns1:solidFill>
          <ns1:ln w="12700">
            <ns1:solidFill>
              <ns1:srgbClr val="1F2933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Text 20"/>
          <ns0:cNvSpPr/>
          <ns0:nvPr/>
        </ns0:nvSpPr>
        <ns0:spPr>
          <ns1:xfrm>
            <ns1:off x="978408" y="4617720"/>
            <ns1:ext cx="11704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8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실무 압박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Shape 21"/>
          <ns0:cNvSpPr/>
          <ns0:nvPr/>
        </ns0:nvSpPr>
        <ns0:spPr>
          <ns1:xfrm>
            <ns1:off x="2468880" y="4041648"/>
            <ns1:ext cx="1152144" cy="493776"/>
          </ns1:xfrm>
          <ns1:prstGeom prst="roundRect">
            <ns1:avLst>
              <ns1:gd name="adj" fmla="val 22222"/>
            </ns1:avLst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Text 22"/>
          <ns0:cNvSpPr/>
          <ns0:nvPr/>
        </ns0:nvSpPr>
        <ns0:spPr>
          <ns1:xfrm>
            <ns1:off x="2468880" y="4617720"/>
            <ns1:ext cx="11704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8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이론보다 현업 연결이 더 중요하다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Shape 23"/>
          <ns0:cNvSpPr/>
          <ns0:nvPr/>
        </ns0:nvSpPr>
        <ns0:spPr>
          <ns1:xfrm>
            <ns1:off x="4187952" y="1600200"/>
            <ns1:ext cx="3456432" cy="4251960"/>
          </ns1:xfrm>
          <ns1:prstGeom prst="roundRect">
            <ns1:avLst>
              <ns1:gd name="adj" fmla="val 3704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Shape 24"/>
          <ns0:cNvSpPr/>
          <ns0:nvPr/>
        </ns0:nvSpPr>
        <ns0:spPr>
          <ns1:xfrm>
            <ns1:off x="4187952" y="1600200"/>
            <ns1:ext cx="3456432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Text 25"/>
          <ns0:cNvSpPr/>
          <ns0:nvPr/>
        </ns0:nvSpPr>
        <ns0:spPr>
          <ns1:xfrm>
            <ns1:off x="4389120" y="1764792"/>
            <ns1:ext cx="3054096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운영 원칙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Text 26"/>
          <ns0:cNvSpPr/>
          <ns0:nvPr/>
        </ns0:nvSpPr>
        <ns0:spPr>
          <ns1:xfrm>
            <ns1:off x="4443984" y="2212848"/>
            <ns1:ext cx="18288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1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도구보다 목적</ns1:t>
            </ns1:r>
            <ns1:endParaRPr lang="en-US" sz="21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Text 27"/>
          <ns0:cNvSpPr/>
          <ns0:nvPr/>
        </ns0:nvSpPr>
        <ns0:spPr>
          <ns1:xfrm>
            <ns1:off x="4443984" y="2596896"/>
            <ns1:ext cx="2743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왜 쓰는지와 진짜 결과를 먼저 본다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0" name="Text 28"/>
          <ns0:cNvSpPr/>
          <ns0:nvPr/>
        </ns0:nvSpPr>
        <ns0:spPr>
          <ns1:xfrm>
            <ns1:off x="4443984" y="30540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0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질문이 먼저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1" name="Text 29"/>
          <ns0:cNvSpPr/>
          <ns0:nvPr/>
        </ns0:nvSpPr>
        <ns0:spPr>
          <ns1:xfrm>
            <ns1:off x="4443984" y="3364992"/>
            <ns1:ext cx="2697480" cy="47548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AI가 먼저 인터뷰하게 만든다</ns1:t>
            </ns1:r>
            <ns1:endParaRPr lang="en-US" sz="10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2" name="Shape 30"/>
          <ns0:cNvSpPr/>
          <ns0:nvPr/>
        </ns0:nvSpPr>
        <ns0:spPr>
          <ns1:xfrm>
            <ns1:off x="4462272" y="4151376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3" name="Text 31"/>
          <ns0:cNvSpPr/>
          <ns0:nvPr/>
        </ns0:nvSpPr>
        <ns0:spPr>
          <ns1:xfrm>
            <ns1:off x="4626864" y="4096512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판단은 사람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4" name="Shape 32"/>
          <ns0:cNvSpPr/>
          <ns0:nvPr/>
        </ns0:nvSpPr>
        <ns0:spPr>
          <ns1:xfrm>
            <ns1:off x="4462272" y="4462272"/>
            <ns1:ext cx="82296" cy="82296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5" name="Text 33"/>
          <ns0:cNvSpPr/>
          <ns0:nvPr/>
        </ns0:nvSpPr>
        <ns0:spPr>
          <ns1:xfrm>
            <ns1:off x="4626864" y="4407408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초안 이후 점검과 선택을 반드시 남긴다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6" name="Shape 34"/>
          <ns0:cNvSpPr/>
          <ns0:nvPr/>
        </ns0:nvSpPr>
        <ns0:spPr>
          <ns1:xfrm>
            <ns1:off x="4462272" y="4773168"/>
            <ns1:ext cx="82296" cy="82296"/>
          </ns1:xfrm>
          <ns1:prstGeom prst="ellipse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7" name="Text 35"/>
          <ns0:cNvSpPr/>
          <ns0:nvPr/>
        </ns0:nvSpPr>
        <ns0:spPr>
          <ns1:xfrm>
            <ns1:off x="4626864" y="4718304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실습 기준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8" name="Shape 36"/>
          <ns0:cNvSpPr/>
          <ns0:nvPr/>
        </ns0:nvSpPr>
        <ns0:spPr>
          <ns1:xfrm>
            <ns1:off x="7845552" y="1600200"/>
            <ns1:ext cx="3611880" cy="4251960"/>
          </ns1:xfrm>
          <ns1:prstGeom prst="roundRect">
            <ns1:avLst>
              <ns1:gd name="adj" fmla="val 3544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9" name="Shape 37"/>
          <ns0:cNvSpPr/>
          <ns0:nvPr/>
        </ns0:nvSpPr>
        <ns0:spPr>
          <ns1:xfrm>
            <ns1:off x="7845552" y="1600200"/>
            <ns1:ext cx="3611880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0" name="Text 38"/>
          <ns0:cNvSpPr/>
          <ns0:nvPr/>
        </ns0:nvSpPr>
        <ns0:spPr>
          <ns1:xfrm>
            <ns1:off x="8046720" y="1764792"/>
            <ns1:ext cx="320954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한 장면을 끝까지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1" name="Shape 39"/>
          <ns0:cNvSpPr/>
          <ns0:nvPr/>
        </ns0:nvSpPr>
        <ns0:spPr>
          <ns1:xfrm>
            <ns1:off x="8092440" y="2322576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2" name="Text 40"/>
          <ns0:cNvSpPr/>
          <ns0:nvPr/>
        </ns0:nvSpPr>
        <ns0:spPr>
          <ns1:xfrm>
            <ns1:off x="8257032" y="2267712"/>
            <ns1:ext cx="27614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직군별 장면 하나로 반복 적용한다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3" name="Shape 41"/>
          <ns0:cNvSpPr/>
          <ns0:nvPr/>
        </ns0:nvSpPr>
        <ns0:spPr>
          <ns1:xfrm>
            <ns1:off x="8092440" y="2633472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4" name="Text 42"/>
          <ns0:cNvSpPr/>
          <ns0:nvPr/>
        </ns0:nvSpPr>
        <ns0:spPr>
          <ns1:xfrm>
            <ns1:off x="8257032" y="2578608"/>
            <ns1:ext cx="27614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작게 자주 실습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5" name="Shape 43"/>
          <ns0:cNvSpPr/>
          <ns0:nvPr/>
        </ns0:nvSpPr>
        <ns0:spPr>
          <ns1:xfrm>
            <ns1:off x="8092440" y="2944368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6" name="Text 44"/>
          <ns0:cNvSpPr/>
          <ns0:nvPr/>
        </ns0:nvSpPr>
        <ns0:spPr>
          <ns1:xfrm>
            <ns1:off x="8257032" y="2889504"/>
            <ns1:ext cx="27614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중간 실습이 마지막 종합실습으로 이어진다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7" name="Shape 45"/>
          <ns0:cNvSpPr/>
          <ns0:nvPr/>
        </ns0:nvSpPr>
        <ns0:spPr>
          <ns1:xfrm>
            <ns1:off x="8092440" y="3255264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8" name="Text 46"/>
          <ns0:cNvSpPr/>
          <ns0:nvPr/>
        </ns0:nvSpPr>
        <ns0:spPr>
          <ns1:xfrm>
            <ns1:off x="8257032" y="3200400"/>
            <ns1:ext cx="27614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도구는 이동수단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9" name="Shape 47"/>
          <ns0:cNvSpPr/>
          <ns0:nvPr/>
        </ns0:nvSpPr>
        <ns0:spPr>
          <ns1:xfrm>
            <ns1:off x="8092440" y="3566160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0" name="Text 48"/>
          <ns0:cNvSpPr/>
          <ns0:nvPr/>
        </ns0:nvSpPr>
        <ns0:spPr>
          <ns1:xfrm>
            <ns1:off x="8257032" y="3511296"/>
            <ns1:ext cx="27614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좋은 툴보다 좋은 길 설계가 먼저다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1" name="Shape 49"/>
          <ns0:cNvSpPr/>
          <ns0:nvPr/>
        </ns0:nvSpPr>
        <ns0:spPr>
          <ns1:xfrm>
            <ns1:off x="8229600" y="4663440"/>
            <ns1:ext cx="2880360" cy="786384"/>
          </ns1:xfrm>
          <ns1:prstGeom prst="roundRect">
            <ns1:avLst>
              <ns1:gd name="adj" fmla="val 16279"/>
            </ns1:avLst>
          </ns1:prstGeom>
          <ns1:solidFill>
            <ns1:srgbClr val="F2F5F9"/>
          </ns1:solidFill>
          <ns1:ln w="1016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2" name="Text 50"/>
          <ns0:cNvSpPr/>
          <ns0:nvPr/>
        </ns0:nvSpPr>
        <ns0:spPr>
          <ns1:xfrm>
            <ns1:off x="8375904" y="4873752"/>
            <ns1:ext cx="2560320" cy="329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1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최종 산출물</ns1:t>
            </ns1:r>
            <ns1:endParaRPr lang="en-US" sz="1100" dirty="0">
              <ns1:latin typeface="Pretendard Variable" panose="02000003000000020004" pitchFamily="2" charset="-127"/>
            </ns1:endParaRPr>
          </ns1:p>
          <ns1:p>
            <ns1:pPr marL="0" indent="0" algn="ctr">
              <ns1:buNone/>
            </ns1:pPr>
            <ns1:r>
              <ns1:rPr lang="en-US" sz="11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내 장면 + 내 질문 + 내 판단</ns1:t>
            </ns1:r>
            <ns1:endParaRPr lang="en-US" sz="110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 name="Slide 3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PHILOSOPHY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Shape 4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03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Text 6"/>
          <ns0:cNvSpPr/>
          <ns0:nvPr/>
        </ns0:nvSpPr>
        <ns0:spPr>
          <ns1:xfrm>
            <ns1:off x="1078992" y="1353312"/>
            <ns1:ext cx="6858000" cy="21031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5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좋은 AI 활용은</ns1:t>
            </ns1:r>
            <ns1:endParaRPr lang="en-US" sz="25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25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더 화려한 답을 받는 일이 아니라,</ns1:t>
            </ns1:r>
            <ns1:endParaRPr lang="en-US" sz="25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25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더 나은 판단에 도달하는 일이다.</ns1:t>
            </ns1:r>
            <ns1:endParaRPr lang="en-US" sz="25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Shape 7"/>
          <ns0:cNvSpPr/>
          <ns0:nvPr/>
        </ns0:nvSpPr>
        <ns0:spPr>
          <ns1:xfrm>
            <ns1:off x="8641080" y="1664208"/>
            <ns1:ext cx="0" cy="3017520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Text 8"/>
          <ns0:cNvSpPr/>
          <ns0:nvPr/>
        </ns0:nvSpPr>
        <ns0:spPr>
          <ns1:xfrm>
            <ns1:off x="8906256" y="1737360"/>
            <ns1:ext cx="201168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0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메시지 운용 팁</ns1:t>
            </ns1:r>
            <ns1:endParaRPr lang="en-US" sz="9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8887968" y="2157984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9052560" y="2103120"/>
            <ns1:ext cx="18470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문장은 1개로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Shape 11"/>
          <ns0:cNvSpPr/>
          <ns0:nvPr/>
        </ns0:nvSpPr>
        <ns0:spPr>
          <ns1:xfrm>
            <ns1:off x="8887968" y="2468880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Text 12"/>
          <ns0:cNvSpPr/>
          <ns0:nvPr/>
        </ns0:nvSpPr>
        <ns0:spPr>
          <ns1:xfrm>
            <ns1:off x="9052560" y="2414016"/>
            <ns1:ext cx="18470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핵심 문장 하나만 크게 남긴다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8887968" y="2779776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9052560" y="2724912"/>
            <ns1:ext cx="18470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장식보다 여백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Shape 15"/>
          <ns0:cNvSpPr/>
          <ns0:nvPr/>
        </ns0:nvSpPr>
        <ns0:spPr>
          <ns1:xfrm>
            <ns1:off x="8887968" y="3090672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9052560" y="3035808"/>
            <ns1:ext cx="18470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강의자가 말로 풀고 화면은 기억만 남긴다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1097280" y="4956048"/>
            <ns1:ext cx="1234440" cy="310896"/>
          </ns1:xfrm>
          <ns1:prstGeom prst="roundRect">
            <ns1:avLst>
              <ns1:gd name="adj" fmla="val 44118"/>
            </ns1:avLst>
          </ns1:prstGeom>
          <ns1:solidFill>
            <ns1:srgbClr val="E7EDF4"/>
          </ns1:solidFill>
          <ns1:ln w="12700">
            <ns1:solidFill>
              <ns1:srgbClr val="E7EDF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Text 18"/>
          <ns0:cNvSpPr/>
          <ns0:nvPr/>
        </ns0:nvSpPr>
        <ns0:spPr>
          <ns1:xfrm>
            <ns1:off x="1097280" y="5001768"/>
            <ns1:ext cx="12344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철학 슬라이드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2487168" y="5020056"/>
            <ns1:ext cx="3108960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첫 장, 전환 장, 마무리 장에서 특히 강하게 작동한다</ns1:t>
            </ns1:r>
            <ns1:endParaRPr lang="en-US" sz="92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 name="Slide 4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FLOW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4MAT / 과정 흐름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 설계 중심 강의에 맞는 4단 흐름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04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868680" y="1993392"/>
            <ns1:ext cx="310896" cy="310896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Text 9"/>
          <ns0:cNvSpPr/>
          <ns0:nvPr/>
        </ns0:nvSpPr>
        <ns0:spPr>
          <ns1:xfrm>
            <ns1:off x="868680" y="2039112"/>
            <ns1:ext cx="31089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Shape 10"/>
          <ns0:cNvSpPr/>
          <ns0:nvPr/>
        </ns0:nvSpPr>
        <ns0:spPr>
          <ns1:xfrm>
            <ns1:off x="1216152" y="2148840"/>
            <ns1:ext cx="2148840" cy="0"/>
          </ns1:xfrm>
          <ns1:prstGeom prst="line">
            <ns1:avLst/>
          </ns1:prstGeom>
          <ns1:noFill/>
          <ns1:ln w="1524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Shape 11"/>
          <ns0:cNvSpPr/>
          <ns0:nvPr/>
        </ns0:nvSpPr>
        <ns0:spPr>
          <ns1:xfrm>
            <ns1:off x="850392" y="2487168"/>
            <ns1:ext cx="2194560" cy="1965960"/>
          </ns1:xfrm>
          <ns1:prstGeom prst="roundRect">
            <ns1:avLst>
              <ns1:gd name="adj" fmla="val 6512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850392" y="2487168"/>
            <ns1:ext cx="2194560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Text 13"/>
          <ns0:cNvSpPr/>
          <ns0:nvPr/>
        </ns0:nvSpPr>
        <ns0:spPr>
          <ns1:xfrm>
            <ns1:off x="1051560" y="2651760"/>
            <ns1:ext cx="17922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Why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1051560" y="2990088"/>
            <ns1:ext cx="1792224" cy="1307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왜 AI를 써도 여전히 답답한가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Shape 15"/>
          <ns0:cNvSpPr/>
          <ns0:nvPr/>
        </ns0:nvSpPr>
        <ns0:spPr>
          <ns1:xfrm>
            <ns1:off x="3675888" y="1993392"/>
            <ns1:ext cx="310896" cy="3108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3675888" y="2039112"/>
            <ns1:ext cx="31089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2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4023360" y="2148840"/>
            <ns1:ext cx="2148840" cy="0"/>
          </ns1:xfrm>
          <ns1:prstGeom prst="line">
            <ns1:avLst/>
          </ns1:prstGeom>
          <ns1:noFill/>
          <ns1:ln w="1524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Shape 18"/>
          <ns0:cNvSpPr/>
          <ns0:nvPr/>
        </ns0:nvSpPr>
        <ns0:spPr>
          <ns1:xfrm>
            <ns1:off x="3657600" y="2487168"/>
            <ns1:ext cx="2194560" cy="1965960"/>
          </ns1:xfrm>
          <ns1:prstGeom prst="roundRect">
            <ns1:avLst>
              <ns1:gd name="adj" fmla="val 6512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Shape 19"/>
          <ns0:cNvSpPr/>
          <ns0:nvPr/>
        </ns0:nvSpPr>
        <ns0:spPr>
          <ns1:xfrm>
            <ns1:off x="3657600" y="2487168"/>
            <ns1:ext cx="219456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Text 20"/>
          <ns0:cNvSpPr/>
          <ns0:nvPr/>
        </ns0:nvSpPr>
        <ns0:spPr>
          <ns1:xfrm>
            <ns1:off x="3858768" y="2651760"/>
            <ns1:ext cx="17922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What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Text 21"/>
          <ns0:cNvSpPr/>
          <ns0:nvPr/>
        </ns0:nvSpPr>
        <ns0:spPr>
          <ns1:xfrm>
            <ns1:off x="3858768" y="2990088"/>
            <ns1:ext cx="1792224" cy="1307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AI를 어떤 도구로 이해할 것인가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Shape 22"/>
          <ns0:cNvSpPr/>
          <ns0:nvPr/>
        </ns0:nvSpPr>
        <ns0:spPr>
          <ns1:xfrm>
            <ns1:off x="6483096" y="1993392"/>
            <ns1:ext cx="310896" cy="310896"/>
          </ns1:xfrm>
          <ns1:prstGeom prst="ellipse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Text 23"/>
          <ns0:cNvSpPr/>
          <ns0:nvPr/>
        </ns0:nvSpPr>
        <ns0:spPr>
          <ns1:xfrm>
            <ns1:off x="6483096" y="2039112"/>
            <ns1:ext cx="31089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3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Shape 24"/>
          <ns0:cNvSpPr/>
          <ns0:nvPr/>
        </ns0:nvSpPr>
        <ns0:spPr>
          <ns1:xfrm>
            <ns1:off x="6830568" y="2148840"/>
            <ns1:ext cx="2148840" cy="0"/>
          </ns1:xfrm>
          <ns1:prstGeom prst="line">
            <ns1:avLst/>
          </ns1:prstGeom>
          <ns1:noFill/>
          <ns1:ln w="1524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Shape 25"/>
          <ns0:cNvSpPr/>
          <ns0:nvPr/>
        </ns0:nvSpPr>
        <ns0:spPr>
          <ns1:xfrm>
            <ns1:off x="6464808" y="2487168"/>
            <ns1:ext cx="2194560" cy="1965960"/>
          </ns1:xfrm>
          <ns1:prstGeom prst="roundRect">
            <ns1:avLst>
              <ns1:gd name="adj" fmla="val 6512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Shape 26"/>
          <ns0:cNvSpPr/>
          <ns0:nvPr/>
        </ns0:nvSpPr>
        <ns0:spPr>
          <ns1:xfrm>
            <ns1:off x="6464808" y="2487168"/>
            <ns1:ext cx="2194560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Text 27"/>
          <ns0:cNvSpPr/>
          <ns0:nvPr/>
        </ns0:nvSpPr>
        <ns0:spPr>
          <ns1:xfrm>
            <ns1:off x="6665976" y="2651760"/>
            <ns1:ext cx="17922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How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0" name="Text 28"/>
          <ns0:cNvSpPr/>
          <ns0:nvPr/>
        </ns0:nvSpPr>
        <ns0:spPr>
          <ns1:xfrm>
            <ns1:off x="6665976" y="2990088"/>
            <ns1:ext cx="1792224" cy="1307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어떻게 질문하고 구조화하고 점검할 것인가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1" name="Shape 29"/>
          <ns0:cNvSpPr/>
          <ns0:nvPr/>
        </ns0:nvSpPr>
        <ns0:spPr>
          <ns1:xfrm>
            <ns1:off x="9290304" y="1993392"/>
            <ns1:ext cx="310896" cy="310896"/>
          </ns1:xfrm>
          <ns1:prstGeom prst="ellipse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2" name="Text 30"/>
          <ns0:cNvSpPr/>
          <ns0:nvPr/>
        </ns0:nvSpPr>
        <ns0:spPr>
          <ns1:xfrm>
            <ns1:off x="9290304" y="2039112"/>
            <ns1:ext cx="310896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4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3" name="Shape 31"/>
          <ns0:cNvSpPr/>
          <ns0:nvPr/>
        </ns0:nvSpPr>
        <ns0:spPr>
          <ns1:xfrm>
            <ns1:off x="9637776" y="2148840"/>
            <ns1:ext cx="0" cy="0"/>
          </ns1:xfrm>
          <ns1:prstGeom prst="line">
            <ns1:avLst/>
          </ns1:prstGeom>
          <ns1:noFill/>
          <ns1:ln w="1524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4" name="Shape 32"/>
          <ns0:cNvSpPr/>
          <ns0:nvPr/>
        </ns0:nvSpPr>
        <ns0:spPr>
          <ns1:xfrm>
            <ns1:off x="9272016" y="2487168"/>
            <ns1:ext cx="2194560" cy="1965960"/>
          </ns1:xfrm>
          <ns1:prstGeom prst="roundRect">
            <ns1:avLst>
              <ns1:gd name="adj" fmla="val 6512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5" name="Shape 33"/>
          <ns0:cNvSpPr/>
          <ns0:nvPr/>
        </ns0:nvSpPr>
        <ns0:spPr>
          <ns1:xfrm>
            <ns1:off x="9272016" y="2487168"/>
            <ns1:ext cx="2194560" cy="109728"/>
          </ns1:xfrm>
          <ns1:prstGeom prst="rect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6" name="Text 34"/>
          <ns0:cNvSpPr/>
          <ns0:nvPr/>
        </ns0:nvSpPr>
        <ns0:spPr>
          <ns1:xfrm>
            <ns1:off x="9473184" y="2651760"/>
            <ns1:ext cx="17922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If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7" name="Text 35"/>
          <ns0:cNvSpPr/>
          <ns0:nvPr/>
        </ns0:nvSpPr>
        <ns0:spPr>
          <ns1:xfrm>
            <ns1:off x="9473184" y="2990088"/>
            <ns1:ext cx="1792224" cy="1307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그래서 내 업무에 무엇을 적용할 것인가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8" name="Shape 36"/>
          <ns0:cNvSpPr/>
          <ns0:nvPr/>
        </ns0:nvSpPr>
        <ns0:spPr>
          <ns1:xfrm>
            <ns1:off x="960120" y="4846320"/>
            <ns1:ext cx="10222992" cy="530352"/>
          </ns1:xfrm>
          <ns1:prstGeom prst="rect">
            <ns1:avLst/>
          </ns1:prstGeom>
          <ns1:solidFill>
            <ns1:srgbClr val="E7EDF4"/>
          </ns1:solidFill>
          <ns1:ln w="12700">
            <ns1:solidFill>
              <ns1:srgbClr val="E7EDF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9" name="Text 37"/>
          <ns0:cNvSpPr/>
          <ns0:nvPr/>
        </ns0:nvSpPr>
        <ns0:spPr>
          <ns1:xfrm>
            <ns1:off x="1170432" y="5020056"/>
            <ns1:ext cx="978408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02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작은 실습을 자주 넣고, 마지막에는 자기 업무 장면 하나로 종합하면 4시간 흐름이 안정적입니다.</ns1:t>
            </ns1:r>
            <ns1:endParaRPr lang="en-US" sz="102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 name="Slide 5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COMPARE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사례 비교 슬라이드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비유와 사례를 좌우로 비교할 때 쓰는 기본형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05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868680" y="1572768"/>
            <ns1:ext cx="5102352" cy="3611880"/>
          </ns1:xfrm>
          <ns1:prstGeom prst="roundRect">
            <ns1:avLst>
              <ns1:gd name="adj" fmla="val 3544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868680" y="1572768"/>
            <ns1:ext cx="5102352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1069848" y="1737360"/>
            <ns1:ext cx="4700016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사례 A  |  예쁜 집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Text 11"/>
          <ns0:cNvSpPr/>
          <ns0:nvPr/>
        </ns0:nvSpPr>
        <ns0:spPr>
          <ns1:xfrm>
            <ns1:off x="1069848" y="2075688"/>
            <ns1:ext cx="4700016" cy="29535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20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겉모습이 좋아 보여도</ns1:t>
            </ns1:r>
            <ns1:endParaRPr lang="en-US" sz="12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20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구조와 동선이 나쁘면 오래 쓰기 어렵다.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6217920" y="1572768"/>
            <ns1:ext cx="5102352" cy="3611880"/>
          </ns1:xfrm>
          <ns1:prstGeom prst="roundRect">
            <ns1:avLst>
              <ns1:gd name="adj" fmla="val 3544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6217920" y="1572768"/>
            <ns1:ext cx="5102352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6419088" y="1737360"/>
            <ns1:ext cx="4700016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사례 B  |  좋은 AI 답변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6419088" y="2075688"/>
            <ns1:ext cx="4700016" cy="29535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20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화려해 보여도</ns1:t>
            </ns1:r>
            <ns1:endParaRPr lang="en-US" sz="12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20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목적과 판단 기준이 없으면 현업에 남지 않는다.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1133856" y="3794760"/>
            <ns1:ext cx="10058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880" b="1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보이는 결과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Text 17"/>
          <ns0:cNvSpPr/>
          <ns0:nvPr/>
        </ns0:nvSpPr>
        <ns0:spPr>
          <ns1:xfrm>
            <ns1:off x="6455664" y="3794760"/>
            <ns1:ext cx="123444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880" b="1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지속되는 결과</ns1:t>
            </ns1:r>
            <ns1:endParaRPr lang="en-US" sz="88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Shape 18"/>
          <ns0:cNvSpPr/>
          <ns0:nvPr/>
        </ns0:nvSpPr>
        <ns0:spPr>
          <ns1:xfrm>
            <ns1:off x="1097280" y="4169664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1261872" y="4114800"/>
            <ns1:ext cx="331012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답은 빨리 나온다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Shape 20"/>
          <ns0:cNvSpPr/>
          <ns0:nvPr/>
        </ns0:nvSpPr>
        <ns0:spPr>
          <ns1:xfrm>
            <ns1:off x="1097280" y="4480560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Text 21"/>
          <ns0:cNvSpPr/>
          <ns0:nvPr/>
        </ns0:nvSpPr>
        <ns0:spPr>
          <ns1:xfrm>
            <ns1:off x="1261872" y="4425696"/>
            <ns1:ext cx="331012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그럴듯해 보인다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Shape 22"/>
          <ns0:cNvSpPr/>
          <ns0:nvPr/>
        </ns0:nvSpPr>
        <ns0:spPr>
          <ns1:xfrm>
            <ns1:off x="1097280" y="4791456"/>
            <ns1:ext cx="82296" cy="82296"/>
          </ns1:xfrm>
          <ns1:prstGeom prst="ellipse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Text 23"/>
          <ns0:cNvSpPr/>
          <ns0:nvPr/>
        </ns0:nvSpPr>
        <ns0:spPr>
          <ns1:xfrm>
            <ns1:off x="1261872" y="4736592"/>
            <ns1:ext cx="331012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설명은 쉬워 보인다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Shape 24"/>
          <ns0:cNvSpPr/>
          <ns0:nvPr/>
        </ns0:nvSpPr>
        <ns0:spPr>
          <ns1:xfrm>
            <ns1:off x="6419088" y="4169664"/>
            <ns1:ext cx="82296" cy="82296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Text 25"/>
          <ns0:cNvSpPr/>
          <ns0:nvPr/>
        </ns0:nvSpPr>
        <ns0:spPr>
          <ns1:xfrm>
            <ns1:off x="6583680" y="4114800"/>
            <ns1:ext cx="331012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의미가 맞춰진다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Shape 26"/>
          <ns0:cNvSpPr/>
          <ns0:nvPr/>
        </ns0:nvSpPr>
        <ns0:spPr>
          <ns1:xfrm>
            <ns1:off x="6419088" y="4480560"/>
            <ns1:ext cx="82296" cy="82296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Text 27"/>
          <ns0:cNvSpPr/>
          <ns0:nvPr/>
        </ns0:nvSpPr>
        <ns0:spPr>
          <ns1:xfrm>
            <ns1:off x="6583680" y="4425696"/>
            <ns1:ext cx="331012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판단 기준이 남는다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0" name="Shape 28"/>
          <ns0:cNvSpPr/>
          <ns0:nvPr/>
        </ns0:nvSpPr>
        <ns0:spPr>
          <ns1:xfrm>
            <ns1:off x="6419088" y="4791456"/>
            <ns1:ext cx="82296" cy="82296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1" name="Text 29"/>
          <ns0:cNvSpPr/>
          <ns0:nvPr/>
        </ns0:nvSpPr>
        <ns0:spPr>
          <ns1:xfrm>
            <ns1:off x="6583680" y="4736592"/>
            <ns1:ext cx="331012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팀에 다시 쓰기 쉽다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2" name="Shape 30"/>
          <ns0:cNvSpPr/>
          <ns0:nvPr/>
        </ns0:nvSpPr>
        <ns0:spPr>
          <ns1:xfrm>
            <ns1:off x="3986784" y="5394960"/>
            <ns1:ext cx="4206240" cy="475488"/>
          </ns1:xfrm>
          <ns1:prstGeom prst="roundRect">
            <ns1:avLst>
              <ns1:gd name="adj" fmla="val 23077"/>
            </ns1:avLst>
          </ns1:prstGeom>
          <ns1:solidFill>
            <ns1:srgbClr val="1F2933"/>
          </ns1:solidFill>
          <ns1:ln w="12700">
            <ns1:solidFill>
              <ns1:srgbClr val="1F2933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3" name="Text 31"/>
          <ns0:cNvSpPr/>
          <ns0:nvPr/>
        </ns0:nvSpPr>
        <ns0:spPr>
          <ns1:xfrm>
            <ns1:off x="4160520" y="5541264"/>
            <ns1:ext cx="384048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980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핵심 메시지: 보기 좋은 답보다, 다시 사용할 수 있는 사고 구조가 더 중요하다.</ns1:t>
            </ns1:r>
            <ns1:endParaRPr lang="en-US" sz="98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 name="Slide 6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JUDGMENT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잘못된 접근 vs 올바른 접근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의사 비유처럼 접근 방식의 차이를 선명하게 보여주는 화면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06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896112" y="1691640"/>
            <ns1:ext cx="4754880" cy="4069080"/>
          </ns1:xfrm>
          <ns1:prstGeom prst="roundRect">
            <ns1:avLst>
              <ns1:gd name="adj" fmla="val 3146"/>
            </ns1:avLst>
          </ns1:prstGeom>
          <ns1:solidFill>
            <ns1:srgbClr val="F5F7FA"/>
          </ns1:solidFill>
          <ns1:ln w="11430">
            <ns1:solidFill>
              <ns1:srgbClr val="D9E1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896112" y="1691640"/>
            <ns1:ext cx="4754880" cy="109728"/>
          </ns1:xfrm>
          <ns1:prstGeom prst="rect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1097280" y="1856232"/>
            <ns1:ext cx="435254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7B8897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잘못된 접근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Text 11"/>
          <ns0:cNvSpPr/>
          <ns0:nvPr/>
        </ns0:nvSpPr>
        <ns0:spPr>
          <ns1:xfrm>
            <ns1:off x="1097280" y="2194560"/>
            <ns1:ext cx="4352544" cy="3410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20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보고서를 바로 써달라고 한다</ns1:t>
            </ns1:r>
            <ns1:endParaRPr lang="en-US" sz="12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20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 없이 곧바로 답 생성</ns1:t>
            </ns1:r>
            <ns1:endParaRPr lang="en-US" sz="12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20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목적 · 청자 · 제약이 빠진다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6537960" y="1691640"/>
            <ns1:ext cx="4754880" cy="4069080"/>
          </ns1:xfrm>
          <ns1:prstGeom prst="roundRect">
            <ns1:avLst>
              <ns1:gd name="adj" fmla="val 3146"/>
            </ns1:avLst>
          </ns1:prstGeom>
          <ns1:solidFill>
            <ns1:srgbClr val="F7FAFC"/>
          </ns1:solidFill>
          <ns1:ln w="11430">
            <ns1:solidFill>
              <ns1:srgbClr val="D7E0E7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6537960" y="1691640"/>
            <ns1:ext cx="475488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6739128" y="1856232"/>
            <ns1:ext cx="435254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올바른 접근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6739128" y="2194560"/>
            <ns1:ext cx="4352544" cy="3410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20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목적 확인 -&gt; 상황 파악 -&gt; 질문 설계 -&gt; 초안 생성 -&gt; 판단과 수정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Shape 16"/>
          <ns0:cNvSpPr/>
          <ns0:nvPr/>
        </ns0:nvSpPr>
        <ns0:spPr>
          <ns1:xfrm>
            <ns1:off x="1170432" y="3364992"/>
            <ns1:ext cx="1261872" cy="310896"/>
          </ns1:xfrm>
          <ns1:prstGeom prst="roundRect">
            <ns1:avLst>
              <ns1:gd name="adj" fmla="val 44118"/>
            </ns1:avLst>
          </ns1:prstGeom>
          <ns1:solidFill>
            <ns1:srgbClr val="EEF2F6"/>
          </ns1:solidFill>
          <ns1:ln w="12700">
            <ns1:solidFill>
              <ns1:srgbClr val="EEF2F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Text 17"/>
          <ns0:cNvSpPr/>
          <ns0:nvPr/>
        </ns0:nvSpPr>
        <ns0:spPr>
          <ns1:xfrm>
            <ns1:off x="1170432" y="3410712"/>
            <ns1:ext cx="126187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7B8897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바로 답 요청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Shape 18"/>
          <ns0:cNvSpPr/>
          <ns0:nvPr/>
        </ns0:nvSpPr>
        <ns0:spPr>
          <ns1:xfrm>
            <ns1:off x="6803136" y="3364992"/>
            <ns1:ext cx="1572768" cy="310896"/>
          </ns1:xfrm>
          <ns1:prstGeom prst="roundRect">
            <ns1:avLst>
              <ns1:gd name="adj" fmla="val 44118"/>
            </ns1:avLst>
          </ns1:prstGeom>
          <ns1:solidFill>
            <ns1:srgbClr val="E8EEF3"/>
          </ns1:solidFill>
          <ns1:ln w="12700">
            <ns1:solidFill>
              <ns1:srgbClr val="E8EEF3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6803136" y="3410712"/>
            <ns1:ext cx="1572768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인터뷰 후 생성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Shape 20"/>
          <ns0:cNvSpPr/>
          <ns0:nvPr/>
        </ns0:nvSpPr>
        <ns0:spPr>
          <ns1:xfrm>
            <ns1:off x="1170432" y="3895344"/>
            <ns1:ext cx="82296" cy="82296"/>
          </ns1:xfrm>
          <ns1:prstGeom prst="ellipse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Text 21"/>
          <ns0:cNvSpPr/>
          <ns0:nvPr/>
        </ns0:nvSpPr>
        <ns0:spPr>
          <ns1:xfrm>
            <ns1:off x="1335024" y="3840480"/>
            <ns1:ext cx="32186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같은 말도 뜻이 다를 수 있음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Shape 22"/>
          <ns0:cNvSpPr/>
          <ns0:nvPr/>
        </ns0:nvSpPr>
        <ns0:spPr>
          <ns1:xfrm>
            <ns1:off x="1170432" y="4206240"/>
            <ns1:ext cx="82296" cy="82296"/>
          </ns1:xfrm>
          <ns1:prstGeom prst="ellipse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Text 23"/>
          <ns0:cNvSpPr/>
          <ns0:nvPr/>
        </ns0:nvSpPr>
        <ns0:spPr>
          <ns1:xfrm>
            <ns1:off x="1335024" y="4151376"/>
            <ns1:ext cx="32186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어긋난 답이 반복됨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Shape 24"/>
          <ns0:cNvSpPr/>
          <ns0:nvPr/>
        </ns0:nvSpPr>
        <ns0:spPr>
          <ns1:xfrm>
            <ns1:off x="1170432" y="4517136"/>
            <ns1:ext cx="82296" cy="82296"/>
          </ns1:xfrm>
          <ns1:prstGeom prst="ellipse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Text 25"/>
          <ns0:cNvSpPr/>
          <ns0:nvPr/>
        </ns0:nvSpPr>
        <ns0:spPr>
          <ns1:xfrm>
            <ns1:off x="1335024" y="4462272"/>
            <ns1:ext cx="32186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판단 기준이 남지 않음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Shape 26"/>
          <ns0:cNvSpPr/>
          <ns0:nvPr/>
        </ns0:nvSpPr>
        <ns0:spPr>
          <ns1:xfrm>
            <ns1:off x="6803136" y="3895344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Text 27"/>
          <ns0:cNvSpPr/>
          <ns0:nvPr/>
        </ns0:nvSpPr>
        <ns0:spPr>
          <ns1:xfrm>
            <ns1:off x="6967728" y="3840480"/>
            <ns1:ext cx="32186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의미 정렬이 가능해짐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0" name="Shape 28"/>
          <ns0:cNvSpPr/>
          <ns0:nvPr/>
        </ns0:nvSpPr>
        <ns0:spPr>
          <ns1:xfrm>
            <ns1:off x="6803136" y="4206240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1" name="Text 29"/>
          <ns0:cNvSpPr/>
          <ns0:nvPr/>
        </ns0:nvSpPr>
        <ns0:spPr>
          <ns1:xfrm>
            <ns1:off x="6967728" y="4151376"/>
            <ns1:ext cx="32186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다시 쓸 수 있는 질문 구조가 남음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2" name="Shape 30"/>
          <ns0:cNvSpPr/>
          <ns0:nvPr/>
        </ns0:nvSpPr>
        <ns0:spPr>
          <ns1:xfrm>
            <ns1:off x="6803136" y="4517136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3" name="Text 31"/>
          <ns0:cNvSpPr/>
          <ns0:nvPr/>
        </ns0:nvSpPr>
        <ns0:spPr>
          <ns1:xfrm>
            <ns1:off x="6967728" y="4462272"/>
            <ns1:ext cx="32186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실무 적용이 쉬워짐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 name="Slide 7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CANVAS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CRAFTO 6칸 그리드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실습과 정리에 자연스럽게 쓰이는 워크숍형 슬라이드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07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841248" y="1737360"/>
            <ns1:ext cx="3401568" cy="1700784"/>
          </ns1:xfrm>
          <ns1:prstGeom prst="roundRect">
            <ns1:avLst>
              <ns1:gd name="adj" fmla="val 7527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841248" y="1737360"/>
            <ns1:ext cx="3401568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1042416" y="1901952"/>
            <ns1:ext cx="299923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Context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Text 11"/>
          <ns0:cNvSpPr/>
          <ns0:nvPr/>
        </ns0:nvSpPr>
        <ns0:spPr>
          <ns1:xfrm>
            <ns1:off x="1042416" y="2240280"/>
            <ns1:ext cx="2999232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지금 어떤 상황인가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무엇을 하려는가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4608576" y="1737360"/>
            <ns1:ext cx="3401568" cy="1700784"/>
          </ns1:xfrm>
          <ns1:prstGeom prst="roundRect">
            <ns1:avLst>
              <ns1:gd name="adj" fmla="val 7527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4608576" y="1737360"/>
            <ns1:ext cx="3401568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4809744" y="1901952"/>
            <ns1:ext cx="299923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Role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4809744" y="2240280"/>
            <ns1:ext cx="2999232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AI는 어떤 역할을 해야 하는가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예: 질문하는 파트너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Shape 16"/>
          <ns0:cNvSpPr/>
          <ns0:nvPr/>
        </ns0:nvSpPr>
        <ns0:spPr>
          <ns1:xfrm>
            <ns1:off x="8375904" y="1737360"/>
            <ns1:ext cx="3401568" cy="1700784"/>
          </ns1:xfrm>
          <ns1:prstGeom prst="roundRect">
            <ns1:avLst>
              <ns1:gd name="adj" fmla="val 7527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8375904" y="1737360"/>
            <ns1:ext cx="3401568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Text 18"/>
          <ns0:cNvSpPr/>
          <ns0:nvPr/>
        </ns0:nvSpPr>
        <ns0:spPr>
          <ns1:xfrm>
            <ns1:off x="8577072" y="1901952"/>
            <ns1:ext cx="299923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Audience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8577072" y="2240280"/>
            <ns1:ext cx="2999232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누가 이 결과를 보는가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상사 / 고객 / 타부서 / 팀원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Shape 20"/>
          <ns0:cNvSpPr/>
          <ns0:nvPr/>
        </ns0:nvSpPr>
        <ns0:spPr>
          <ns1:xfrm>
            <ns1:off x="841248" y="3749040"/>
            <ns1:ext cx="3401568" cy="1700784"/>
          </ns1:xfrm>
          <ns1:prstGeom prst="roundRect">
            <ns1:avLst>
              <ns1:gd name="adj" fmla="val 7527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Shape 21"/>
          <ns0:cNvSpPr/>
          <ns0:nvPr/>
        </ns0:nvSpPr>
        <ns0:spPr>
          <ns1:xfrm>
            <ns1:off x="841248" y="3749040"/>
            <ns1:ext cx="3401568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Text 22"/>
          <ns0:cNvSpPr/>
          <ns0:nvPr/>
        </ns0:nvSpPr>
        <ns0:spPr>
          <ns1:xfrm>
            <ns1:off x="1042416" y="3913632"/>
            <ns1:ext cx="299923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Format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Text 23"/>
          <ns0:cNvSpPr/>
          <ns0:nvPr/>
        </ns0:nvSpPr>
        <ns0:spPr>
          <ns1:xfrm>
            <ns1:off x="1042416" y="4251960"/>
            <ns1:ext cx="2999232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어떤 형태로 받으면 바로 쓸 수 있는가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보고 / 브리프 / 비교표 / 질문리스트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Shape 24"/>
          <ns0:cNvSpPr/>
          <ns0:nvPr/>
        </ns0:nvSpPr>
        <ns0:spPr>
          <ns1:xfrm>
            <ns1:off x="4608576" y="3749040"/>
            <ns1:ext cx="3401568" cy="1700784"/>
          </ns1:xfrm>
          <ns1:prstGeom prst="roundRect">
            <ns1:avLst>
              <ns1:gd name="adj" fmla="val 7527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Shape 25"/>
          <ns0:cNvSpPr/>
          <ns0:nvPr/>
        </ns0:nvSpPr>
        <ns0:spPr>
          <ns1:xfrm>
            <ns1:off x="4608576" y="3749040"/>
            <ns1:ext cx="3401568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Text 26"/>
          <ns0:cNvSpPr/>
          <ns0:nvPr/>
        </ns0:nvSpPr>
        <ns0:spPr>
          <ns1:xfrm>
            <ns1:off x="4809744" y="3913632"/>
            <ns1:ext cx="299923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Tone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Text 27"/>
          <ns0:cNvSpPr/>
          <ns0:nvPr/>
        </ns0:nvSpPr>
        <ns0:spPr>
          <ns1:xfrm>
            <ns1:off x="4809744" y="4251960"/>
            <ns1:ext cx="2999232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어느 수준과 말투가 필요한가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비전공자 / 경영진 / 실무자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0" name="Shape 28"/>
          <ns0:cNvSpPr/>
          <ns0:nvPr/>
        </ns0:nvSpPr>
        <ns0:spPr>
          <ns1:xfrm>
            <ns1:off x="8375904" y="3749040"/>
            <ns1:ext cx="3401568" cy="1700784"/>
          </ns1:xfrm>
          <ns1:prstGeom prst="roundRect">
            <ns1:avLst>
              <ns1:gd name="adj" fmla="val 7527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1" name="Shape 29"/>
          <ns0:cNvSpPr/>
          <ns0:nvPr/>
        </ns0:nvSpPr>
        <ns0:spPr>
          <ns1:xfrm>
            <ns1:off x="8375904" y="3749040"/>
            <ns1:ext cx="3401568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2" name="Text 30"/>
          <ns0:cNvSpPr/>
          <ns0:nvPr/>
        </ns0:nvSpPr>
        <ns0:spPr>
          <ns1:xfrm>
            <ns1:off x="8577072" y="3913632"/>
            <ns1:ext cx="299923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Option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3" name="Text 31"/>
          <ns0:cNvSpPr/>
          <ns0:nvPr/>
        </ns0:nvSpPr>
        <ns0:spPr>
          <ns1:xfrm>
            <ns1:off x="8577072" y="4251960"/>
            <ns1:ext cx="2999232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제약, 금지선, 선택 기준은 무엇인가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추정 금지 / 근거 우선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4" name="Text 32"/>
          <ns0:cNvSpPr/>
          <ns0:nvPr/>
        </ns0:nvSpPr>
        <ns0:spPr>
          <ns1:xfrm>
            <ns1:off x="877824" y="5742432"/>
            <ns1:ext cx="749808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8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활용 팁: 각 칸은 1문장 또는 키워드 3개 이내로 제한하면 실습 집중도가 높습니다.</ns1:t>
            </ns1:r>
            <ns1:endParaRPr lang="en-US" sz="98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 name="Slide 8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FRAME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철학 / 프레임 / 노하우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3층 구조로 강의 메시지를 압축할 때 쓰는 도식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08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1828800" y="1719072"/>
            <ns1:ext cx="8549640" cy="1005840"/>
          </ns1:xfrm>
          <ns1:prstGeom prst="roundRect">
            <ns1:avLst>
              <ns1:gd name="adj" fmla="val 12727"/>
            </ns1:avLst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Text 9"/>
          <ns0:cNvSpPr/>
          <ns0:nvPr/>
        </ns0:nvSpPr>
        <ns0:spPr>
          <ns1:xfrm>
            <ns1:off x="2139696" y="1920240"/>
            <ns1:ext cx="10972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3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철학</ns1:t>
            </ns1:r>
            <ns1:endParaRPr lang="en-US" sz="13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3749040" y="1938528"/>
            <ns1:ext cx="598932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무엇을 기준으로 AI를 사용할 것인가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Shape 11"/>
          <ns0:cNvSpPr/>
          <ns0:nvPr/>
        </ns0:nvSpPr>
        <ns0:spPr>
          <ns1:xfrm>
            <ns1:off x="1828800" y="2816352"/>
            <ns1:ext cx="8549640" cy="1115568"/>
          </ns1:xfrm>
          <ns1:prstGeom prst="roundRect">
            <ns1:avLst>
              <ns1:gd name="adj" fmla="val 11475"/>
            </ns1:avLst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Text 12"/>
          <ns0:cNvSpPr/>
          <ns0:nvPr/>
        </ns0:nvSpPr>
        <ns0:spPr>
          <ns1:xfrm>
            <ns1:off x="2139696" y="3017520"/>
            <ns1:ext cx="10972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3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프레임</ns1:t>
            </ns1:r>
            <ns1:endParaRPr lang="en-US" sz="13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Text 13"/>
          <ns0:cNvSpPr/>
          <ns0:nvPr/>
        </ns0:nvSpPr>
        <ns0:spPr>
          <ns1:xfrm>
            <ns1:off x="3749040" y="3035808"/>
            <ns1:ext cx="598932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 설계 · 판단 기준 · 적용 절차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Shape 14"/>
          <ns0:cNvSpPr/>
          <ns0:nvPr/>
        </ns0:nvSpPr>
        <ns0:spPr>
          <ns1:xfrm>
            <ns1:off x="1828800" y="4041648"/>
            <ns1:ext cx="8549640" cy="1243584"/>
          </ns1:xfrm>
          <ns1:prstGeom prst="roundRect">
            <ns1:avLst>
              <ns1:gd name="adj" fmla="val 10294"/>
            </ns1:avLst>
          </ns1:prstGeom>
          <ns1:solidFill>
            <ns1:srgbClr val="E7EDF4"/>
          </ns1:solidFill>
          <ns1:ln w="12700">
            <ns1:solidFill>
              <ns1:srgbClr val="E7EDF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2139696" y="4242816"/>
            <ns1:ext cx="10972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3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노하우</ns1:t>
            </ns1:r>
            <ns1:endParaRPr lang="en-US" sz="13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3749040" y="4261104"/>
            <ns1:ext cx="598932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프롬프트 문장화 · 예시 비교 · 실습 팁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LAYOUT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10 - 80 - 10 가로 분할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도입 - 핵심 내용 - 정리 메시지를 한 장에 넣는 구조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09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914400" y="1965960"/>
            <ns1:ext cx="1005840" cy="2971800"/>
          </ns1:xfrm>
          <ns1:prstGeom prst="rect">
            <ns1:avLst/>
          </ns1:prstGeom>
          <ns1:solidFill>
            <ns1:srgbClr val="EAF1F6"/>
          </ns1:solidFill>
          <ns1:ln w="10160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920240" y="1965960"/>
            <ns1:ext cx="8183880" cy="2971800"/>
          </ns1:xfrm>
          <ns1:prstGeom prst="rect">
            <ns1:avLst/>
          </ns1:prstGeom>
          <ns1:solidFill>
            <ns1:srgbClr val="FFFFFF"/>
          </ns1:solidFill>
          <ns1:ln w="1016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Shape 10"/>
          <ns0:cNvSpPr/>
          <ns0:nvPr/>
        </ns0:nvSpPr>
        <ns0:spPr>
          <ns1:xfrm>
            <ns1:off x="10104120" y="1965960"/>
            <ns1:ext cx="1170432" cy="2971800"/>
          </ns1:xfrm>
          <ns1:prstGeom prst="rect">
            <ns1:avLst/>
          </ns1:prstGeom>
          <ns1:solidFill>
            <ns1:srgbClr val="E8EEF5"/>
          </ns1:solidFill>
          <ns1:ln w="10160">
            <ns1:solidFill>
              <ns1:srgbClr val="1E2C3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Text 11"/>
          <ns0:cNvSpPr/>
          <ns0:nvPr/>
        </ns0:nvSpPr>
        <ns0:spPr>
          <ns1:xfrm>
            <ns1:off x="914400" y="2157984"/>
            <ns1:ext cx="100584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20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처음 10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Text 12"/>
          <ns0:cNvSpPr/>
          <ns0:nvPr/>
        </ns0:nvSpPr>
        <ns0:spPr>
          <ns1:xfrm>
            <ns1:off x="2194560" y="2212848"/>
            <ns1:ext cx="763524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4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핵심 프레임 / 목적 / 기준</ns1:t>
            </ns1:r>
            <ns1:endParaRPr lang="en-US" sz="14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Text 13"/>
          <ns0:cNvSpPr/>
          <ns0:nvPr/>
        </ns0:nvSpPr>
        <ns0:spPr>
          <ns1:xfrm>
            <ns1:off x="10104120" y="2157984"/>
            <ns1:ext cx="11704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200" b="1" dirty="0">
                <ns1:solidFill>
                  <ns1:srgbClr val="1E2C3A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중간 80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Shape 14"/>
          <ns0:cNvSpPr/>
          <ns0:nvPr/>
        </ns0:nvSpPr>
        <ns0:spPr>
          <ns1:xfrm>
            <ns1:off x="2331720" y="2843784"/>
            <ns1:ext cx="82296" cy="82296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2496312" y="2788920"/>
            <ns1:ext cx="440740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질문, 정리, 비교, 초안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Shape 16"/>
          <ns0:cNvSpPr/>
          <ns0:nvPr/>
        </ns0:nvSpPr>
        <ns0:spPr>
          <ns1:xfrm>
            <ns1:off x="2331720" y="3154680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Text 17"/>
          <ns0:cNvSpPr/>
          <ns0:nvPr/>
        </ns0:nvSpPr>
        <ns0:spPr>
          <ns1:xfrm>
            <ns1:off x="2496312" y="3099816"/>
            <ns1:ext cx="440740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마지막 10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Shape 18"/>
          <ns0:cNvSpPr/>
          <ns0:nvPr/>
        </ns0:nvSpPr>
        <ns0:spPr>
          <ns1:xfrm>
            <ns1:off x="2331720" y="3465576"/>
            <ns1:ext cx="82296" cy="82296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2496312" y="3410712"/>
            <ns1:ext cx="440740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선택, 검증, 책임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Text 20"/>
          <ns0:cNvSpPr/>
          <ns0:nvPr/>
        </ns0:nvSpPr>
        <ns0:spPr>
          <ns1:xfrm>
            <ns1:off x="10259568" y="3675888"/>
            <ns1:ext cx="868680" cy="658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940" dirty="0">
                <ns1:solidFill>
                  <ns1:srgbClr val="1E2C3A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처음과 끝은 사람이 잡아야 한다.</ns1:t>
            </ns1:r>
            <ns1:endParaRPr lang="en-US" sz="94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 name="Slide 10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STRUCTURE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1 - 3 - 1 퍼널 구조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큰 질문 하나를 세 가지 기준으로 풀고 다시 하나의 판단으로 모으기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10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3913632" y="1609344"/>
            <ns1:ext cx="4389120" cy="786384"/>
          </ns1:xfrm>
          <ns1:prstGeom prst="roundRect">
            <ns1:avLst>
              <ns1:gd name="adj" fmla="val 16279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3913632" y="1609344"/>
            <ns1:ext cx="4389120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4114800" y="1773936"/>
            <ns1:ext cx="398678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핵심 질문 1개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Shape 11"/>
          <ns0:cNvSpPr/>
          <ns0:nvPr/>
        </ns0:nvSpPr>
        <ns0:spPr>
          <ns1:xfrm>
            <ns1:off x="987552" y="2743200"/>
            <ns1:ext cx="2834640" cy="1371600"/>
          </ns1:xfrm>
          <ns1:prstGeom prst="roundRect">
            <ns1:avLst>
              <ns1:gd name="adj" fmla="val 9333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987552" y="2743200"/>
            <ns1:ext cx="283464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Text 13"/>
          <ns0:cNvSpPr/>
          <ns0:nvPr/>
        </ns0:nvSpPr>
        <ns0:spPr>
          <ns1:xfrm>
            <ns1:off x="1188720" y="2907792"/>
            <ns1:ext cx="243230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기준 1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1188720" y="3246120"/>
            <ns1:ext cx="2432304" cy="7132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목적이 분명한가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Shape 15"/>
          <ns0:cNvSpPr/>
          <ns0:nvPr/>
        </ns0:nvSpPr>
        <ns0:spPr>
          <ns1:xfrm>
            <ns1:off x="4398264" y="2743200"/>
            <ns1:ext cx="2834640" cy="1371600"/>
          </ns1:xfrm>
          <ns1:prstGeom prst="roundRect">
            <ns1:avLst>
              <ns1:gd name="adj" fmla="val 9333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Shape 16"/>
          <ns0:cNvSpPr/>
          <ns0:nvPr/>
        </ns0:nvSpPr>
        <ns0:spPr>
          <ns1:xfrm>
            <ns1:off x="4398264" y="2743200"/>
            <ns1:ext cx="2834640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Text 17"/>
          <ns0:cNvSpPr/>
          <ns0:nvPr/>
        </ns0:nvSpPr>
        <ns0:spPr>
          <ns1:xfrm>
            <ns1:off x="4599432" y="2907792"/>
            <ns1:ext cx="243230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기준 2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Text 18"/>
          <ns0:cNvSpPr/>
          <ns0:nvPr/>
        </ns0:nvSpPr>
        <ns0:spPr>
          <ns1:xfrm>
            <ns1:off x="4599432" y="3246120"/>
            <ns1:ext cx="2432304" cy="7132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질문이 구체적인가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Shape 19"/>
          <ns0:cNvSpPr/>
          <ns0:nvPr/>
        </ns0:nvSpPr>
        <ns0:spPr>
          <ns1:xfrm>
            <ns1:off x="7808976" y="2743200"/>
            <ns1:ext cx="2834640" cy="1371600"/>
          </ns1:xfrm>
          <ns1:prstGeom prst="roundRect">
            <ns1:avLst>
              <ns1:gd name="adj" fmla="val 9333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Shape 20"/>
          <ns0:cNvSpPr/>
          <ns0:nvPr/>
        </ns0:nvSpPr>
        <ns0:spPr>
          <ns1:xfrm>
            <ns1:off x="7808976" y="2743200"/>
            <ns1:ext cx="2834640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Text 21"/>
          <ns0:cNvSpPr/>
          <ns0:nvPr/>
        </ns0:nvSpPr>
        <ns0:spPr>
          <ns1:xfrm>
            <ns1:off x="8010144" y="2907792"/>
            <ns1:ext cx="243230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기준 3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Text 22"/>
          <ns0:cNvSpPr/>
          <ns0:nvPr/>
        </ns0:nvSpPr>
        <ns0:spPr>
          <ns1:xfrm>
            <ns1:off x="8010144" y="3246120"/>
            <ns1:ext cx="2432304" cy="7132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판단이 가능한가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Shape 23"/>
          <ns0:cNvSpPr/>
          <ns0:nvPr/>
        </ns0:nvSpPr>
        <ns0:spPr>
          <ns1:xfrm>
            <ns1:off x="2404872" y="2578608"/>
            <ns1:ext cx="6821424" cy="0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Shape 24"/>
          <ns0:cNvSpPr/>
          <ns0:nvPr/>
        </ns0:nvSpPr>
        <ns0:spPr>
          <ns1:xfrm>
            <ns1:off x="2404872" y="2578608"/>
            <ns1:ext cx="0" cy="164592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Shape 25"/>
          <ns0:cNvSpPr/>
          <ns0:nvPr/>
        </ns0:nvSpPr>
        <ns0:spPr>
          <ns1:xfrm>
            <ns1:off x="5815584" y="2578608"/>
            <ns1:ext cx="0" cy="164592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Shape 26"/>
          <ns0:cNvSpPr/>
          <ns0:nvPr/>
        </ns0:nvSpPr>
        <ns0:spPr>
          <ns1:xfrm>
            <ns1:off x="9226296" y="2578608"/>
            <ns1:ext cx="0" cy="164592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Shape 27"/>
          <ns0:cNvSpPr/>
          <ns0:nvPr/>
        </ns0:nvSpPr>
        <ns0:spPr>
          <ns1:xfrm>
            <ns1:off x="2404872" y="4261104"/>
            <ns1:ext cx="6821424" cy="0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0" name="Shape 28"/>
          <ns0:cNvSpPr/>
          <ns0:nvPr/>
        </ns0:nvSpPr>
        <ns0:spPr>
          <ns1:xfrm>
            <ns1:off x="2404872" y="4114800"/>
            <ns1:ext cx="0" cy="146304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1" name="Shape 29"/>
          <ns0:cNvSpPr/>
          <ns0:nvPr/>
        </ns0:nvSpPr>
        <ns0:spPr>
          <ns1:xfrm>
            <ns1:off x="5815584" y="4114800"/>
            <ns1:ext cx="0" cy="621792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2" name="Shape 30"/>
          <ns0:cNvSpPr/>
          <ns0:nvPr/>
        </ns0:nvSpPr>
        <ns0:spPr>
          <ns1:xfrm>
            <ns1:off x="9226296" y="4114800"/>
            <ns1:ext cx="0" cy="146304"/>
          </ns1:xfrm>
          <ns1:prstGeom prst="line">
            <ns1:avLst/>
          </ns1:prstGeom>
          <ns1:noFill/>
          <ns1:ln w="1270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3" name="Shape 31"/>
          <ns0:cNvSpPr/>
          <ns0:nvPr/>
        </ns0:nvSpPr>
        <ns0:spPr>
          <ns1:xfrm>
            <ns1:off x="3749040" y="4736592"/>
            <ns1:ext cx="4681728" cy="859536"/>
          </ns1:xfrm>
          <ns1:prstGeom prst="roundRect">
            <ns1:avLst>
              <ns1:gd name="adj" fmla="val 14894"/>
            </ns1:avLst>
          </ns1:prstGeom>
          <ns1:solidFill>
            <ns1:srgbClr val="1F2933"/>
          </ns1:solidFill>
          <ns1:ln w="11430">
            <ns1:solidFill>
              <ns1:srgbClr val="1F2933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4" name="Text 32"/>
          <ns0:cNvSpPr/>
          <ns0:nvPr/>
        </ns0:nvSpPr>
        <ns0:spPr>
          <ns1:xfrm>
            <ns1:off x="3950208" y="4901184"/>
            <ns1:ext cx="427939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최종 판단 1개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5" name="Text 33"/>
          <ns0:cNvSpPr/>
          <ns0:nvPr/>
        </ns0:nvSpPr>
        <ns0:spPr>
          <ns1:xfrm>
            <ns1:off x="3950208" y="5239512"/>
            <ns1:ext cx="4279392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E6ECF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이 질문은 현업에서 다시 쓸 수 있는 구조인가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>
  <ns0:cSld name="Slide 11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LOOP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피드백 루프 4분면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입력-생성-검토-수정의 반복을 워크숍형으로 보여주는 도식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11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1847088" y="1828800"/>
            <ns1:ext cx="3063240" cy="1234440"/>
          </ns1:xfrm>
          <ns1:prstGeom prst="roundRect">
            <ns1:avLst>
              <ns1:gd name="adj" fmla="val 1037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1847088" y="1828800"/>
            <ns1:ext cx="3063240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2048256" y="1993392"/>
            <ns1:ext cx="266090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입력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Text 11"/>
          <ns0:cNvSpPr/>
          <ns0:nvPr/>
        </ns0:nvSpPr>
        <ns0:spPr>
          <ns1:xfrm>
            <ns1:off x="2048256" y="2331720"/>
            <ns1:ext cx="2660904" cy="5760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목적과 상황 정의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6272784" y="1828800"/>
            <ns1:ext cx="3063240" cy="1234440"/>
          </ns1:xfrm>
          <ns1:prstGeom prst="roundRect">
            <ns1:avLst>
              <ns1:gd name="adj" fmla="val 1037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6272784" y="1828800"/>
            <ns1:ext cx="306324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6473952" y="1993392"/>
            <ns1:ext cx="266090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생성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6473952" y="2331720"/>
            <ns1:ext cx="2660904" cy="5760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초안과 옵션 만들기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Shape 16"/>
          <ns0:cNvSpPr/>
          <ns0:nvPr/>
        </ns0:nvSpPr>
        <ns0:spPr>
          <ns1:xfrm>
            <ns1:off x="1847088" y="3867912"/>
            <ns1:ext cx="3063240" cy="1234440"/>
          </ns1:xfrm>
          <ns1:prstGeom prst="roundRect">
            <ns1:avLst>
              <ns1:gd name="adj" fmla="val 1037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1847088" y="3867912"/>
            <ns1:ext cx="3063240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Text 18"/>
          <ns0:cNvSpPr/>
          <ns0:nvPr/>
        </ns0:nvSpPr>
        <ns0:spPr>
          <ns1:xfrm>
            <ns1:off x="2048256" y="4032504"/>
            <ns1:ext cx="266090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검토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2048256" y="4370832"/>
            <ns1:ext cx="2660904" cy="5760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기준으로 평가하기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Shape 20"/>
          <ns0:cNvSpPr/>
          <ns0:nvPr/>
        </ns0:nvSpPr>
        <ns0:spPr>
          <ns1:xfrm>
            <ns1:off x="6272784" y="3867912"/>
            <ns1:ext cx="3063240" cy="1234440"/>
          </ns1:xfrm>
          <ns1:prstGeom prst="roundRect">
            <ns1:avLst>
              <ns1:gd name="adj" fmla="val 1037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Shape 21"/>
          <ns0:cNvSpPr/>
          <ns0:nvPr/>
        </ns0:nvSpPr>
        <ns0:spPr>
          <ns1:xfrm>
            <ns1:off x="6272784" y="3867912"/>
            <ns1:ext cx="3063240" cy="109728"/>
          </ns1:xfrm>
          <ns1:prstGeom prst="rect">
            <ns1:avLst/>
          </ns1:prstGeom>
          <ns1:solidFill>
            <ns1:srgbClr val="7B8897"/>
          </ns1:solidFill>
          <ns1:ln w="12700">
            <ns1:solidFill>
              <ns1:srgbClr val="7B8897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Text 22"/>
          <ns0:cNvSpPr/>
          <ns0:nvPr/>
        </ns0:nvSpPr>
        <ns0:spPr>
          <ns1:xfrm>
            <ns1:off x="6473952" y="4032504"/>
            <ns1:ext cx="266090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수정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Text 23"/>
          <ns0:cNvSpPr/>
          <ns0:nvPr/>
        </ns0:nvSpPr>
        <ns0:spPr>
          <ns1:xfrm>
            <ns1:off x="6473952" y="4370832"/>
            <ns1:ext cx="2660904" cy="5760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질문과 답을 다듬기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Shape 24"/>
          <ns0:cNvSpPr/>
          <ns0:nvPr/>
        </ns0:nvSpPr>
        <ns0:spPr>
          <ns1:xfrm>
            <ns1:off x="5074920" y="2788920"/>
            <ns1:ext cx="1051560" cy="1051560"/>
          </ns1:xfrm>
          <ns1:prstGeom prst="ellipse">
            <ns1:avLst/>
          </ns1:prstGeom>
          <ns1:solidFill>
            <ns1:srgbClr val="1F2933"/>
          </ns1:solidFill>
          <ns1:ln w="12700">
            <ns1:solidFill>
              <ns1:srgbClr val="1F2933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Text 25"/>
          <ns0:cNvSpPr/>
          <ns0:nvPr/>
        </ns0:nvSpPr>
        <ns0:spPr>
          <ns1:xfrm>
            <ns1:off x="5074920" y="3127248"/>
            <ns1:ext cx="1051560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12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판단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Shape 26"/>
          <ns0:cNvSpPr/>
          <ns0:nvPr/>
        </ns0:nvSpPr>
        <ns0:spPr>
          <ns1:xfrm>
            <ns1:off x="5065776" y="5413248"/>
            <ns1:ext cx="1060704" cy="310896"/>
          </ns1:xfrm>
          <ns1:prstGeom prst="roundRect">
            <ns1:avLst>
              <ns1:gd name="adj" fmla="val 44118"/>
            </ns1:avLst>
          </ns1:prstGeom>
          <ns1:solidFill>
            <ns1:srgbClr val="E7EDF4"/>
          </ns1:solidFill>
          <ns1:ln w="12700">
            <ns1:solidFill>
              <ns1:srgbClr val="E7EDF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Text 27"/>
          <ns0:cNvSpPr/>
          <ns0:nvPr/>
        </ns0:nvSpPr>
        <ns0:spPr>
          <ns1:xfrm>
            <ns1:off x="5065776" y="5458968"/>
            <ns1:ext cx="1060704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사람이 최종 선택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>
  <ns0:cSld name="Slide 12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ROADMAP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출발지점 - 목표지점 - 이동수단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길찾기 비유처럼 현재 상태와 이동 방식을 정리하는 슬라이드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12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1097280" y="2788920"/>
            <ns1:ext cx="1051560" cy="1051560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Text 9"/>
          <ns0:cNvSpPr/>
          <ns0:nvPr/>
        </ns0:nvSpPr>
        <ns0:spPr>
          <ns1:xfrm>
            <ns1:off x="594360" y="1874520"/>
            <ns1:ext cx="2103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출발지점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274320" y="4096512"/>
            <ns1:ext cx="2697480" cy="4206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0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지금은 질문이 막연한 상태</ns1:t>
            </ns1:r>
            <ns1:endParaRPr lang="en-US" sz="10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Shape 11"/>
          <ns0:cNvSpPr/>
          <ns0:nvPr/>
        </ns0:nvSpPr>
        <ns0:spPr>
          <ns1:xfrm>
            <ns1:off x="4663440" y="2788920"/>
            <ns1:ext cx="1051560" cy="1051560"/>
          </ns1:xfrm>
          <ns1:prstGeom prst="ellipse">
            <ns1:avLst/>
          </ns1:prstGeom>
          <ns1:solidFill>
            <ns1:srgbClr val="C9D5E4"/>
          </ns1:solidFill>
          <ns1:ln w="12700">
            <ns1:solidFill>
              <ns1:srgbClr val="C9D5E4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Text 12"/>
          <ns0:cNvSpPr/>
          <ns0:nvPr/>
        </ns0:nvSpPr>
        <ns0:spPr>
          <ns1:xfrm>
            <ns1:off x="4160520" y="1874520"/>
            <ns1:ext cx="2103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이동수단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Text 13"/>
          <ns0:cNvSpPr/>
          <ns0:nvPr/>
        </ns0:nvSpPr>
        <ns0:spPr>
          <ns1:xfrm>
            <ns1:off x="3840480" y="4096512"/>
            <ns1:ext cx="2697480" cy="4206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0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프레임 · 예시 · 실습 · 피드백</ns1:t>
            </ns1:r>
            <ns1:endParaRPr lang="en-US" sz="10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Shape 14"/>
          <ns0:cNvSpPr/>
          <ns0:nvPr/>
        </ns0:nvSpPr>
        <ns0:spPr>
          <ns1:xfrm>
            <ns1:off x="8229600" y="2788920"/>
            <ns1:ext cx="1051560" cy="1051560"/>
          </ns1:xfrm>
          <ns1:prstGeom prst="ellipse">
            <ns1:avLst/>
          </ns1:prstGeom>
          <ns1:solidFill>
            <ns1:srgbClr val="1E2C3A"/>
          </ns1:solidFill>
          <ns1:ln w="12700">
            <ns1:solidFill>
              <ns1:srgbClr val="1E2C3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7726680" y="1874520"/>
            <ns1:ext cx="210312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목표지점</ns1:t>
            </ns1:r>
            <ns1:endParaRPr lang="en-US" sz="1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7406640" y="4096512"/>
            <ns1:ext cx="2697480" cy="4206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10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판단 가능한 질문 구조를 갖춘 상태</ns1:t>
            </ns1:r>
            <ns1:endParaRPr lang="en-US" sz="10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2176272" y="3310128"/>
            <ns1:ext cx="2395728" cy="0"/>
          </ns1:xfrm>
          <ns1:prstGeom prst="line">
            <ns1:avLst/>
          </ns1:prstGeom>
          <ns1:noFill/>
          <ns1:ln w="27940">
            <ns1:solidFill>
              <ns1:srgbClr val="D8E0EA"/>
            </ns1:solidFill>
            <ns1:prstDash val="solid"/>
            <ns1:headEnd type="none"/>
            <ns1:tailEnd type="triangle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Shape 18"/>
          <ns0:cNvSpPr/>
          <ns0:nvPr/>
        </ns0:nvSpPr>
        <ns0:spPr>
          <ns1:xfrm>
            <ns1:off x="5760720" y="3310128"/>
            <ns1:ext cx="2359152" cy="0"/>
          </ns1:xfrm>
          <ns1:prstGeom prst="line">
            <ns1:avLst/>
          </ns1:prstGeom>
          <ns1:noFill/>
          <ns1:ln w="27940">
            <ns1:solidFill>
              <ns1:srgbClr val="D8E0EA"/>
            </ns1:solidFill>
            <ns1:prstDash val="solid"/>
            <ns1:headEnd type="none"/>
            <ns1:tailEnd type="triangle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Shape 19"/>
          <ns0:cNvSpPr/>
          <ns0:nvPr/>
        </ns0:nvSpPr>
        <ns0:spPr>
          <ns1:xfrm>
            <ns1:off x="4800600" y="1389888"/>
            <ns1:ext cx="1353312" cy="310896"/>
          </ns1:xfrm>
          <ns1:prstGeom prst="roundRect">
            <ns1:avLst>
              <ns1:gd name="adj" fmla="val 44118"/>
            </ns1:avLst>
          </ns1:prstGeom>
          <ns1:solidFill>
            <ns1:srgbClr val="E7EDF4"/>
          </ns1:solidFill>
          <ns1:ln w="12700">
            <ns1:solidFill>
              <ns1:srgbClr val="E7EDF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Text 20"/>
          <ns0:cNvSpPr/>
          <ns0:nvPr/>
        </ns0:nvSpPr>
        <ns0:spPr>
          <ns1:xfrm>
            <ns1:off x="4800600" y="1435608"/>
            <ns1:ext cx="135331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ctr">
              <ns1:buNone/>
            </ns1:pPr>
            <ns1:r>
              <ns1:rPr lang="en-US" sz="8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내 업무에 다시 쓸 수 있는 상태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>
  <ns0:cSld name="Slide 13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WORKSHOP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실습 안내 슬라이드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설명보다 참여를 유도하는 카드형 안내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13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896112" y="1627632"/>
            <ns1:ext cx="2880360" cy="4297680"/>
          </ns1:xfrm>
          <ns1:prstGeom prst="roundRect">
            <ns1:avLst>
              <ns1:gd name="adj" fmla="val 4444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896112" y="1627632"/>
            <ns1:ext cx="2880360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1097280" y="1792224"/>
            <ns1:ext cx="24780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이번 실습의 목표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Text 11"/>
          <ns0:cNvSpPr/>
          <ns0:nvPr/>
        </ns0:nvSpPr>
        <ns0:spPr>
          <ns1:xfrm>
            <ns1:off x="1097280" y="2130552"/>
            <ns1:ext cx="2478024" cy="36393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30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모호한 요청을</ns1:t>
            </ns1:r>
            <ns1:endParaRPr lang="en-US" sz="130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30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현업에서 쓸 수 있는 질문 구조로 바꿔본다.</ns1:t>
            </ns1:r>
            <ns1:endParaRPr lang="en-US" sz="13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4069080" y="1627632"/>
            <ns1:ext cx="3337560" cy="4297680"/>
          </ns1:xfrm>
          <ns1:prstGeom prst="roundRect">
            <ns1:avLst>
              <ns1:gd name="adj" fmla="val 3836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4069080" y="1627632"/>
            <ns1:ext cx="333756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4270248" y="1792224"/>
            <ns1:ext cx="293522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진행 순서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Shape 15"/>
          <ns0:cNvSpPr/>
          <ns0:nvPr/>
        </ns0:nvSpPr>
        <ns0:spPr>
          <ns1:xfrm>
            <ns1:off x="4315968" y="2295144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Text 16"/>
          <ns0:cNvSpPr/>
          <ns0:nvPr/>
        </ns0:nvSpPr>
        <ns0:spPr>
          <ns1:xfrm>
            <ns1:off x="4480560" y="2240280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상황 1개 고르기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4315968" y="2606040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Text 18"/>
          <ns0:cNvSpPr/>
          <ns0:nvPr/>
        </ns0:nvSpPr>
        <ns0:spPr>
          <ns1:xfrm>
            <ns1:off x="4480560" y="2551176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진짜 원하는 결과 찾기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Shape 19"/>
          <ns0:cNvSpPr/>
          <ns0:nvPr/>
        </ns0:nvSpPr>
        <ns0:spPr>
          <ns1:xfrm>
            <ns1:off x="4315968" y="2916936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Text 20"/>
          <ns0:cNvSpPr/>
          <ns0:nvPr/>
        </ns0:nvSpPr>
        <ns0:spPr>
          <ns1:xfrm>
            <ns1:off x="4480560" y="2862072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인터뷰형 요청문 만들기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Shape 21"/>
          <ns0:cNvSpPr/>
          <ns0:nvPr/>
        </ns0:nvSpPr>
        <ns0:spPr>
          <ns1:xfrm>
            <ns1:off x="4315968" y="3227832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Text 22"/>
          <ns0:cNvSpPr/>
          <ns0:nvPr/>
        </ns0:nvSpPr>
        <ns0:spPr>
          <ns1:xfrm>
            <ns1:off x="4480560" y="3172968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짝과 서로 피드백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5" name="Shape 23"/>
          <ns0:cNvSpPr/>
          <ns0:nvPr/>
        </ns0:nvSpPr>
        <ns0:spPr>
          <ns1:xfrm>
            <ns1:off x="4315968" y="3538728"/>
            <ns1:ext cx="82296" cy="82296"/>
          </ns1:xfrm>
          <ns1:prstGeom prst="ellipse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6" name="Text 24"/>
          <ns0:cNvSpPr/>
          <ns0:nvPr/>
        </ns0:nvSpPr>
        <ns0:spPr>
          <ns1:xfrm>
            <ns1:off x="4480560" y="3483864"/>
            <ns1:ext cx="2532888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최종 문장 다듬기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7" name="Shape 25"/>
          <ns0:cNvSpPr/>
          <ns0:nvPr/>
        </ns0:nvSpPr>
        <ns0:spPr>
          <ns1:xfrm>
            <ns1:off x="7680960" y="1627632"/>
            <ns1:ext cx="3611880" cy="1965960"/>
          </ns1:xfrm>
          <ns1:prstGeom prst="roundRect">
            <ns1:avLst>
              <ns1:gd name="adj" fmla="val 6512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8" name="Shape 26"/>
          <ns0:cNvSpPr/>
          <ns0:nvPr/>
        </ns0:nvSpPr>
        <ns0:spPr>
          <ns1:xfrm>
            <ns1:off x="7680960" y="1627632"/>
            <ns1:ext cx="3611880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9" name="Text 27"/>
          <ns0:cNvSpPr/>
          <ns0:nvPr/>
        </ns0:nvSpPr>
        <ns0:spPr>
          <ns1:xfrm>
            <ns1:off x="7882128" y="1792224"/>
            <ns1:ext cx="320954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체크포인트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0" name="Text 28"/>
          <ns0:cNvSpPr/>
          <ns0:nvPr/>
        </ns0:nvSpPr>
        <ns0:spPr>
          <ns1:xfrm>
            <ns1:off x="7882128" y="2130552"/>
            <ns1:ext cx="3209544" cy="1307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목적이 분명한가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누가 읽는가</ns1:t>
            </ns1:r>
            <ns1:endParaRPr lang="en-US" sz="112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2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무엇을 놓치면 안 되는가</ns1:t>
            </ns1:r>
            <ns1:endParaRPr lang="en-US" sz="112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1" name="Shape 29"/>
          <ns0:cNvSpPr/>
          <ns0:nvPr/>
        </ns0:nvSpPr>
        <ns0:spPr>
          <ns1:xfrm>
            <ns1:off x="7680960" y="3794760"/>
            <ns1:ext cx="3611880" cy="2130552"/>
          </ns1:xfrm>
          <ns1:prstGeom prst="roundRect">
            <ns1:avLst>
              <ns1:gd name="adj" fmla="val 6009"/>
            </ns1:avLst>
          </ns1:prstGeom>
          <ns1:solidFill>
            <ns1:srgbClr val="1F2933"/>
          </ns1:solidFill>
          <ns1:ln w="11430">
            <ns1:solidFill>
              <ns1:srgbClr val="1F2933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2" name="Text 30"/>
          <ns0:cNvSpPr/>
          <ns0:nvPr/>
        </ns0:nvSpPr>
        <ns0:spPr>
          <ns1:xfrm>
            <ns1:off x="7882128" y="3959352"/>
            <ns1:ext cx="320954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산출물 형태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3" name="Text 31"/>
          <ns0:cNvSpPr/>
          <ns0:nvPr/>
        </ns0:nvSpPr>
        <ns0:spPr>
          <ns1:xfrm>
            <ns1:off x="7882128" y="4297680"/>
            <ns1:ext cx="3209544" cy="147218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E6ECF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CRAFTO 1개 + 판단 기준 3개 + 수정 포인트 1개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>
  <ns0:cSld name="Slide 14">
    <ns0:bg>
      <ns0:bgPr>
        <ns1:solidFill>
          <ns1:srgbClr val="F2F5F9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2F5F9"/>
          </ns1:solidFill>
          <ns1:ln w="12700">
            <ns1:solidFill>
              <ns1:srgbClr val="F2F5F9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3" name="Shape 1"/>
          <ns0:cNvSpPr/>
          <ns0:nvPr/>
        </ns0:nvSpPr>
        <ns0:spPr>
          <ns1:xfrm>
            <ns1:off x="658368" y="475488"/>
            <ns1:ext cx="457200" cy="0"/>
          </ns1:xfrm>
          <ns1:prstGeom prst="line">
            <ns1:avLst/>
          </ns1:prstGeom>
          <ns1:noFill/>
          <ns1:ln w="22225">
            <ns1:solidFill>
              <ns1:srgbClr val="415666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4" name="Text 2"/>
          <ns0:cNvSpPr/>
          <ns0:nvPr/>
        </ns0:nvSpPr>
        <ns0:spPr>
          <ns1:xfrm>
            <ns1:off x="1170432" y="310896"/>
            <ns1:ext cx="20116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b="1" dirty="0">
                <ns1:solidFill>
                  <ns1:srgbClr val="415666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SYNTHESIS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5" name="Text 3"/>
          <ns0:cNvSpPr/>
          <ns0:nvPr/>
        </ns0:nvSpPr>
        <ns0:spPr>
          <ns1:xfrm>
            <ns1:off x="8458200" y="310896"/>
            <ns1:ext cx="2926080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93A0B1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Generative AI Collaboration / Foundation Course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6" name="Text 4"/>
          <ns0:cNvSpPr/>
          <ns0:nvPr/>
        </ns0:nvSpPr>
        <ns0:spPr>
          <ns1:xfrm>
            <ns1:off x="713232" y="713232"/>
            <ns1:ext cx="758952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220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마지막 종합실습 캔버스</ns1:t>
            </ns1:r>
            <ns1:endParaRPr lang="en-US" sz="220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7" name="Text 5"/>
          <ns0:cNvSpPr/>
          <ns0:nvPr/>
        </ns0:nvSpPr>
        <ns0:spPr>
          <ns1:xfrm>
            <ns1:off x="731520" y="1124712"/>
            <ns1:ext cx="80467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9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강의 전체를 한 화면에서 다시 조합하는 마무리형 슬라이드</ns1:t>
            </ns1:r>
            <ns1:endParaRPr lang="en-US" sz="9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8" name="Shape 6"/>
          <ns0:cNvSpPr/>
          <ns0:nvPr/>
        </ns0:nvSpPr>
        <ns0:spPr>
          <ns1:xfrm>
            <ns1:off x="713232" y="6419088"/>
            <ns1:ext cx="10744200" cy="0"/>
          </ns1:xfrm>
          <ns1:prstGeom prst="line">
            <ns1:avLst/>
          </ns1:prstGeom>
          <ns1:noFill/>
          <ns1:ln w="9525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9" name="Text 7"/>
          <ns0:cNvSpPr/>
          <ns0:nvPr/>
        </ns0:nvSpPr>
        <ns0:spPr>
          <ns1:xfrm>
            <ns1:off x="11082528" y="6473952"/>
            <ns1:ext cx="411480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r">
              <ns1:buNone/>
            </ns1:pPr>
            <ns1:r>
              <ns1:rPr lang="en-US" sz="8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14</ns1:t>
            </ns1:r>
            <ns1:endParaRPr lang="en-US" sz="8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0" name="Shape 8"/>
          <ns0:cNvSpPr/>
          <ns0:nvPr/>
        </ns0:nvSpPr>
        <ns0:spPr>
          <ns1:xfrm>
            <ns1:off x="868680" y="1627632"/>
            <ns1:ext cx="3657600" cy="4526280"/>
          </ns1:xfrm>
          <ns1:prstGeom prst="roundRect">
            <ns1:avLst>
              <ns1:gd name="adj" fmla="val 350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1" name="Shape 9"/>
          <ns0:cNvSpPr/>
          <ns0:nvPr/>
        </ns0:nvSpPr>
        <ns0:spPr>
          <ns1:xfrm>
            <ns1:off x="868680" y="1627632"/>
            <ns1:ext cx="3657600" cy="109728"/>
          </ns1:xfrm>
          <ns1:prstGeom prst="rect">
            <ns1:avLst/>
          </ns1:prstGeom>
          <ns1:solidFill>
            <ns1:srgbClr val="1E2C3A"/>
          </ns1:solidFill>
          <ns1:ln w="12700">
            <ns1:solidFill>
              <ns1:srgbClr val="1E2C3A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2" name="Text 10"/>
          <ns0:cNvSpPr/>
          <ns0:nvPr/>
        </ns0:nvSpPr>
        <ns0:spPr>
          <ns1:xfrm>
            <ns1:off x="1069848" y="1792224"/>
            <ns1:ext cx="325526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문제와 목적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3" name="Text 11"/>
          <ns0:cNvSpPr/>
          <ns0:nvPr/>
        </ns0:nvSpPr>
        <ns0:spPr>
          <ns1:xfrm>
            <ns1:off x="1069848" y="2130552"/>
            <ns1:ext cx="3255264" cy="38679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6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해결하고 싶은 실제 상황</ns1:t>
            </ns1:r>
            <ns1:endParaRPr lang="en-US" sz="116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6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진짜 원하는 결과</ns1:t>
            </ns1:r>
            <ns1:endParaRPr lang="en-US" sz="116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6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누가 결과를 사용할 것인가</ns1:t>
            </ns1:r>
            <ns1:endParaRPr lang="en-US" sz="116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4" name="Shape 12"/>
          <ns0:cNvSpPr/>
          <ns0:nvPr/>
        </ns0:nvSpPr>
        <ns0:spPr>
          <ns1:xfrm>
            <ns1:off x="4727448" y="1627632"/>
            <ns1:ext cx="2743200" cy="2084832"/>
          </ns1:xfrm>
          <ns1:prstGeom prst="roundRect">
            <ns1:avLst>
              <ns1:gd name="adj" fmla="val 614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5" name="Shape 13"/>
          <ns0:cNvSpPr/>
          <ns0:nvPr/>
        </ns0:nvSpPr>
        <ns0:spPr>
          <ns1:xfrm>
            <ns1:off x="4727448" y="1627632"/>
            <ns1:ext cx="2743200" cy="109728"/>
          </ns1:xfrm>
          <ns1:prstGeom prst="rect">
            <ns1:avLst/>
          </ns1:prstGeom>
          <ns1:solidFill>
            <ns1:srgbClr val="415666"/>
          </ns1:solidFill>
          <ns1:ln w="12700">
            <ns1:solidFill>
              <ns1:srgbClr val="415666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6" name="Text 14"/>
          <ns0:cNvSpPr/>
          <ns0:nvPr/>
        </ns0:nvSpPr>
        <ns0:spPr>
          <ns1:xfrm>
            <ns1:off x="4928616" y="1792224"/>
            <ns1:ext cx="234086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질문 구조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7" name="Text 15"/>
          <ns0:cNvSpPr/>
          <ns0:nvPr/>
        </ns0:nvSpPr>
        <ns0:spPr>
          <ns1:xfrm>
            <ns1:off x="4928616" y="2130552"/>
            <ns1:ext cx="2340864" cy="14264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Context</ns1:t>
            </ns1:r>
            <ns1:endParaRPr lang="en-US" sz="105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Role</ns1:t>
            </ns1:r>
            <ns1:endParaRPr lang="en-US" sz="105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Audience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8" name="Shape 16"/>
          <ns0:cNvSpPr/>
          <ns0:nvPr/>
        </ns0:nvSpPr>
        <ns0:spPr>
          <ns1:xfrm>
            <ns1:off x="7699248" y="1627632"/>
            <ns1:ext cx="3611880" cy="2084832"/>
          </ns1:xfrm>
          <ns1:prstGeom prst="roundRect">
            <ns1:avLst>
              <ns1:gd name="adj" fmla="val 6140"/>
            </ns1:avLst>
          </ns1:prstGeom>
          <ns1:solidFill>
            <ns1:srgbClr val="FFFFFF"/>
          </ns1:solidFill>
          <ns1:ln w="11430">
            <ns1:solidFill>
              <ns1:srgbClr val="D8E0EA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19" name="Shape 17"/>
          <ns0:cNvSpPr/>
          <ns0:nvPr/>
        </ns0:nvSpPr>
        <ns0:spPr>
          <ns1:xfrm>
            <ns1:off x="7699248" y="1627632"/>
            <ns1:ext cx="3611880" cy="109728"/>
          </ns1:xfrm>
          <ns1:prstGeom prst="rect">
            <ns1:avLst/>
          </ns1:prstGeom>
          <ns1:solidFill>
            <ns1:srgbClr val="C9D5E4"/>
          </ns1:solidFill>
          <ns1:ln w="12700">
            <ns1:solidFill>
              <ns1:srgbClr val="C9D5E4">
                <ns1:alpha val="0"/>
              </ns1:srgbClr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0" name="Text 18"/>
          <ns0:cNvSpPr/>
          <ns0:nvPr/>
        </ns0:nvSpPr>
        <ns0:spPr>
          <ns1:xfrm>
            <ns1:off x="7900416" y="1792224"/>
            <ns1:ext cx="320954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1F293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결과 형식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1" name="Text 19"/>
          <ns0:cNvSpPr/>
          <ns0:nvPr/>
        </ns0:nvSpPr>
        <ns0:spPr>
          <ns1:xfrm>
            <ns1:off x="7900416" y="2130552"/>
            <ns1:ext cx="3209544" cy="14264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Format</ns1:t>
            </ns1:r>
            <ns1:endParaRPr lang="en-US" sz="105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Tone</ns1:t>
            </ns1:r>
            <ns1:endParaRPr lang="en-US" sz="105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050" dirty="0">
                <ns1:solidFill>
                  <ns1:srgbClr val="5F6C7B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Option</ns1:t>
            </ns1:r>
            <ns1:endParaRPr lang="en-US" sz="10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2" name="Shape 20"/>
          <ns0:cNvSpPr/>
          <ns0:nvPr/>
        </ns0:nvSpPr>
        <ns0:spPr>
          <ns1:xfrm>
            <ns1:off x="4727448" y="3950208"/>
            <ns1:ext cx="6583680" cy="2203704"/>
          </ns1:xfrm>
          <ns1:prstGeom prst="roundRect">
            <ns1:avLst>
              <ns1:gd name="adj" fmla="val 5809"/>
            </ns1:avLst>
          </ns1:prstGeom>
          <ns1:solidFill>
            <ns1:srgbClr val="1F2933"/>
          </ns1:solidFill>
          <ns1:ln w="11430">
            <ns1:solidFill>
              <ns1:srgbClr val="1F2933"/>
            </ns1:solidFill>
            <ns1:prstDash val="solid"/>
          </ns1:ln>
        </ns0:spPr>
        <ns0:txBody>
          <ns1:bodyPr/>
          <ns1:lstStyle/>
          <ns1:p>
            <ns1:endParaRPr lang="ko-KR" altLang="en-US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3" name="Text 21"/>
          <ns0:cNvSpPr/>
          <ns0:nvPr/>
        </ns0:nvSpPr>
        <ns0:spPr>
          <ns1:xfrm>
            <ns1:off x="4928616" y="4114800"/>
            <ns1:ext cx="6181344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buNone/>
            </ns1:pPr>
            <ns1:r>
              <ns1:rPr lang="en-US" sz="1250" b="1" dirty="0">
                <ns1:solidFill>
                  <ns1:srgbClr val="FFFFFF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판단과 수정</ns1:t>
            </ns1:r>
            <ns1:endParaRPr lang="en-US" sz="1250" dirty="0">
              <ns1:latin typeface="Pretendard Variable" panose="02000003000000020004" pitchFamily="2" charset="-127"/>
            </ns1:endParaRPr>
          </ns1:p>
        </ns0:txBody>
      </ns0:sp>
      <ns0:sp>
        <ns0:nvSpPr>
          <ns0:cNvPr id="24" name="Text 22"/>
          <ns0:cNvSpPr/>
          <ns0:nvPr/>
        </ns0:nvSpPr>
        <ns0:spPr>
          <ns1:xfrm>
            <ns1:off x="4928616" y="4453128"/>
            <ns1:ext cx="6181344" cy="15453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>
              <ns1:buNone/>
            </ns1:pPr>
            <ns1:r>
              <ns1:rPr lang="en-US" sz="1160" dirty="0">
                <ns1:solidFill>
                  <ns1:srgbClr val="E6ECF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좋은 답인지 어떻게 판단할 것인가</ns1:t>
            </ns1:r>
            <ns1:endParaRPr lang="en-US" sz="116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60" dirty="0">
                <ns1:solidFill>
                  <ns1:srgbClr val="E6ECF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무엇을 다시 물어보면 더 좋아지는가</ns1:t>
            </ns1:r>
            <ns1:endParaRPr lang="en-US" sz="1160" dirty="0">
              <ns1:latin typeface="Pretendard Variable" panose="02000003000000020004" pitchFamily="2" charset="-127"/>
            </ns1:endParaRPr>
          </ns1:p>
          <ns1:p>
            <ns1:pPr marL="0" indent="0">
              <ns1:buNone/>
            </ns1:pPr>
            <ns1:r>
              <ns1:rPr lang="en-US" sz="1160" dirty="0">
                <ns1:solidFill>
                  <ns1:srgbClr val="E6ECF3"/>
                </ns1:solidFill>
                <ns1:latin typeface="Pretendard Variable" panose="02000003000000020004" pitchFamily="2" charset="-127"/>
                <ns1:ea typeface="Pretendard Variable" panose="02000003000000020004" pitchFamily="2" charset="-127"/>
                <ns1:cs typeface="Pretendard Variable" panose="02000003000000020004" pitchFamily="2" charset="-127"/>
              </ns1:rPr>
              <ns1:t>내가 직접 판단할 최종 항목</ns1:t>
            </ns1:r>
            <ns1:endParaRPr lang="en-US" sz="1160" dirty="0">
              <ns1:latin typeface="Pretendard Variable" panose="02000003000000020004" pitchFamily="2" charset="-127"/>
            </ns1:endParaRP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와이드스크린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 강의 템플릿</dc:title>
  <dc:subject>Generative AI Fundamentals lecture template</dc:subject>
  <dc:creator>OpenAI Codex</dc:creator>
  <cp:lastModifiedBy>종목 전</cp:lastModifiedBy>
  <cp:revision>2</cp:revision>
  <dcterms:created xsi:type="dcterms:W3CDTF">2026-04-08T11:35:59Z</dcterms:created>
  <dcterms:modified xsi:type="dcterms:W3CDTF">2026-04-08T11:38:15Z</dcterms:modified>
</cp:coreProperties>
</file>