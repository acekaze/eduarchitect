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2" r:id="rId1"/>
  </p:sldMasterIdLst>
  <p:sldIdLst>
    <p:sldId id="349" r:id="rId2"/>
    <p:sldId id="314" r:id="rId3"/>
    <p:sldId id="315" r:id="rId4"/>
    <p:sldId id="316" r:id="rId5"/>
    <p:sldId id="317" r:id="rId6"/>
    <p:sldId id="318" r:id="rId7"/>
    <p:sldId id="320" r:id="rId8"/>
    <p:sldId id="322" r:id="rId9"/>
    <p:sldId id="379" r:id="rId10"/>
    <p:sldId id="380" r:id="rId11"/>
    <p:sldId id="323" r:id="rId12"/>
    <p:sldId id="378" r:id="rId13"/>
    <p:sldId id="376" r:id="rId14"/>
    <p:sldId id="328" r:id="rId15"/>
    <p:sldId id="330" r:id="rId16"/>
    <p:sldId id="332" r:id="rId17"/>
    <p:sldId id="334" r:id="rId18"/>
    <p:sldId id="354" r:id="rId19"/>
    <p:sldId id="383" r:id="rId20"/>
    <p:sldId id="558" r:id="rId21"/>
    <p:sldId id="381" r:id="rId22"/>
    <p:sldId id="382" r:id="rId23"/>
    <p:sldId id="363" r:id="rId24"/>
    <p:sldId id="365" r:id="rId25"/>
    <p:sldId id="384" r:id="rId26"/>
    <p:sldId id="385" r:id="rId27"/>
    <p:sldId id="386" r:id="rId28"/>
    <p:sldId id="556" r:id="rId29"/>
    <p:sldId id="557" r:id="rId3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49E33-08BE-4F0E-AC49-903648679D03}" v="1" dt="2025-03-05T06:45:48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4" d="100"/>
          <a:sy n="74" d="100"/>
        </p:scale>
        <p:origin x="23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851CA772-7417-40F5-B5CE-872A854602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3"/>
          <p:cNvSpPr txBox="1">
            <a:spLocks noChangeArrowheads="1"/>
          </p:cNvSpPr>
          <p:nvPr userDrawn="1"/>
        </p:nvSpPr>
        <p:spPr bwMode="auto">
          <a:xfrm>
            <a:off x="1760538" y="2891889"/>
            <a:ext cx="33369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ko-KR" sz="4800" b="1" kern="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j-cs"/>
              </a:rPr>
              <a:t>Thank </a:t>
            </a:r>
            <a:r>
              <a:rPr lang="en-US" altLang="ko-KR" sz="4800" b="1" kern="0" spc="-150" dirty="0">
                <a:solidFill>
                  <a:schemeClr val="bg1">
                    <a:lumMod val="6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j-cs"/>
              </a:rPr>
              <a:t>You</a:t>
            </a:r>
            <a:endParaRPr lang="en-US" altLang="ko-KR" sz="3200" b="1" kern="0" spc="-150" dirty="0">
              <a:solidFill>
                <a:schemeClr val="bg1">
                  <a:lumMod val="6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  <a:cs typeface="+mj-cs"/>
            </a:endParaRPr>
          </a:p>
        </p:txBody>
      </p:sp>
      <p:pic>
        <p:nvPicPr>
          <p:cNvPr id="10" name="Picture 7" descr="D:\작업실\P&amp;M\CI\CI모음_png\Sym0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-713207">
            <a:off x="4600855" y="2101960"/>
            <a:ext cx="5810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2"/>
          <p:cNvSpPr txBox="1">
            <a:spLocks noChangeArrowheads="1"/>
          </p:cNvSpPr>
          <p:nvPr userDrawn="1"/>
        </p:nvSpPr>
        <p:spPr bwMode="auto">
          <a:xfrm>
            <a:off x="223838" y="7635255"/>
            <a:ext cx="6410325" cy="84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  <a:defRPr/>
            </a:pP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http://www.paulnmark.com</a:t>
            </a:r>
          </a:p>
          <a:p>
            <a:pPr marL="342900" indent="-342900" algn="ctr">
              <a:spcBef>
                <a:spcPct val="50000"/>
              </a:spcBef>
              <a:defRPr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경기도 성남시 분당구 황새울로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360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번길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21,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신영팰리스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902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호</a:t>
            </a:r>
          </a:p>
          <a:p>
            <a:pPr marL="342900" indent="-342900" algn="ctr"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Tel. 031-718-0199 / Fax. 031-718-0190</a:t>
            </a:r>
          </a:p>
        </p:txBody>
      </p:sp>
      <p:pic>
        <p:nvPicPr>
          <p:cNvPr id="12" name="그림 7" descr="SymLoSlgH01.png"/>
          <p:cNvPicPr>
            <a:picLocks noChangeAspect="1"/>
          </p:cNvPicPr>
          <p:nvPr userDrawn="1"/>
        </p:nvPicPr>
        <p:blipFill>
          <a:blip r:embed="rId3" cstate="print"/>
          <a:srcRect b="27837"/>
          <a:stretch>
            <a:fillRect/>
          </a:stretch>
        </p:blipFill>
        <p:spPr bwMode="auto">
          <a:xfrm>
            <a:off x="1758950" y="6868297"/>
            <a:ext cx="33401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44">
            <a:extLst>
              <a:ext uri="{FF2B5EF4-FFF2-40B4-BE49-F238E27FC236}">
                <a16:creationId xmlns:a16="http://schemas.microsoft.com/office/drawing/2014/main" id="{8223EE79-0B17-4350-8099-6E40F15EEBD5}"/>
              </a:ext>
            </a:extLst>
          </p:cNvPr>
          <p:cNvSpPr/>
          <p:nvPr userDrawn="1"/>
        </p:nvSpPr>
        <p:spPr>
          <a:xfrm>
            <a:off x="-1" y="9345487"/>
            <a:ext cx="6858001" cy="58837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4" name="Rectangle 44">
            <a:extLst>
              <a:ext uri="{FF2B5EF4-FFF2-40B4-BE49-F238E27FC236}">
                <a16:creationId xmlns:a16="http://schemas.microsoft.com/office/drawing/2014/main" id="{B2B16AC5-2EC7-4836-B8C0-377CBA602011}"/>
              </a:ext>
            </a:extLst>
          </p:cNvPr>
          <p:cNvSpPr/>
          <p:nvPr userDrawn="1"/>
        </p:nvSpPr>
        <p:spPr>
          <a:xfrm>
            <a:off x="-2" y="0"/>
            <a:ext cx="6858001" cy="58837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686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0263" y="756549"/>
            <a:ext cx="5544000" cy="3974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 b="1"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0263" y="1180004"/>
            <a:ext cx="5544000" cy="14049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83259CFA-F12C-4655-BB6C-B16FC21DAFF3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D185CD1-6508-491F-ACA7-D0248029EB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ext Box 19"/>
          <p:cNvSpPr txBox="1">
            <a:spLocks noChangeArrowheads="1"/>
          </p:cNvSpPr>
          <p:nvPr userDrawn="1"/>
        </p:nvSpPr>
        <p:spPr bwMode="auto">
          <a:xfrm>
            <a:off x="5177659" y="17016"/>
            <a:ext cx="1560042" cy="41242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휴먼신문명조" pitchFamily="2" charset="-127"/>
                <a:cs typeface="Arial" pitchFamily="34" charset="0"/>
              </a:rPr>
              <a:t>과정 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ea typeface="휴먼신문명조" pitchFamily="2" charset="-127"/>
                <a:cs typeface="Arial" pitchFamily="34" charset="0"/>
              </a:rPr>
              <a:t>Overview</a:t>
            </a: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0" y="3498"/>
            <a:ext cx="6606000" cy="432000"/>
          </a:xfrm>
          <a:prstGeom prst="rect">
            <a:avLst/>
          </a:prstGeom>
          <a:solidFill>
            <a:srgbClr val="C71C2D"/>
          </a:solidFill>
          <a:ln w="9525">
            <a:noFill/>
            <a:miter lim="800000"/>
            <a:headEnd/>
            <a:tailEnd/>
          </a:ln>
          <a:effectLst/>
        </p:spPr>
        <p:txBody>
          <a:bodyPr lIns="198000" rIns="198000" rtlCol="0" anchor="ctr"/>
          <a:lstStyle/>
          <a:p>
            <a:pPr marL="0" marR="0" indent="0" algn="just" defTabSz="91440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조선일보명조" panose="02030304000000000000" pitchFamily="18" charset="-127"/>
              <a:ea typeface="조선일보명조" panose="02030304000000000000" pitchFamily="18" charset="-127"/>
              <a:cs typeface="조선일보명조" panose="02030304000000000000" pitchFamily="18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112" y="3498"/>
            <a:ext cx="332308" cy="432000"/>
          </a:xfrm>
          <a:prstGeom prst="rect">
            <a:avLst/>
          </a:prstGeom>
        </p:spPr>
      </p:pic>
      <p:sp>
        <p:nvSpPr>
          <p:cNvPr id="13" name="Rectangle 22"/>
          <p:cNvSpPr>
            <a:spLocks noChangeArrowheads="1"/>
          </p:cNvSpPr>
          <p:nvPr userDrawn="1"/>
        </p:nvSpPr>
        <p:spPr bwMode="auto">
          <a:xfrm>
            <a:off x="836616" y="662524"/>
            <a:ext cx="865188" cy="69850"/>
          </a:xfrm>
          <a:prstGeom prst="rect">
            <a:avLst/>
          </a:prstGeom>
          <a:solidFill>
            <a:srgbClr val="C71C2D"/>
          </a:solidFill>
          <a:ln w="31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dirty="0">
              <a:solidFill>
                <a:srgbClr val="000000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836616" y="2904003"/>
            <a:ext cx="5544000" cy="3974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 b="1"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4"/>
          </p:nvPr>
        </p:nvSpPr>
        <p:spPr>
          <a:xfrm>
            <a:off x="836616" y="3327458"/>
            <a:ext cx="1177922" cy="13127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i="1">
                <a:solidFill>
                  <a:schemeClr val="bg1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 sz="1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dirty="0"/>
          </a:p>
        </p:txBody>
      </p:sp>
      <p:sp>
        <p:nvSpPr>
          <p:cNvPr id="16" name="Rectangle 22"/>
          <p:cNvSpPr>
            <a:spLocks noChangeArrowheads="1"/>
          </p:cNvSpPr>
          <p:nvPr userDrawn="1"/>
        </p:nvSpPr>
        <p:spPr bwMode="auto">
          <a:xfrm>
            <a:off x="822969" y="2809978"/>
            <a:ext cx="865188" cy="69850"/>
          </a:xfrm>
          <a:prstGeom prst="rect">
            <a:avLst/>
          </a:prstGeom>
          <a:solidFill>
            <a:srgbClr val="C71C2D"/>
          </a:solidFill>
          <a:ln w="31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dirty="0">
              <a:solidFill>
                <a:srgbClr val="000000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7" name="Content Placeholder 3"/>
          <p:cNvSpPr>
            <a:spLocks noGrp="1"/>
          </p:cNvSpPr>
          <p:nvPr>
            <p:ph sz="half" idx="15"/>
          </p:nvPr>
        </p:nvSpPr>
        <p:spPr>
          <a:xfrm>
            <a:off x="2036673" y="3327458"/>
            <a:ext cx="4343943" cy="13127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>
              <a:defRPr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3808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과 소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21616" y="841309"/>
            <a:ext cx="5915025" cy="53883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600"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71488" y="1726157"/>
            <a:ext cx="5915025" cy="71961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2pPr>
            <a:lvl3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3pPr>
            <a:lvl4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4pPr>
            <a:lvl5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26" name="Rectangle 62"/>
          <p:cNvSpPr>
            <a:spLocks noChangeArrowheads="1"/>
          </p:cNvSpPr>
          <p:nvPr userDrawn="1"/>
        </p:nvSpPr>
        <p:spPr bwMode="auto">
          <a:xfrm>
            <a:off x="332656" y="828278"/>
            <a:ext cx="288032" cy="302298"/>
          </a:xfrm>
          <a:prstGeom prst="rect">
            <a:avLst/>
          </a:prstGeom>
          <a:solidFill>
            <a:srgbClr val="C71C2D">
              <a:alpha val="40000"/>
            </a:srgbClr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Line 21"/>
          <p:cNvSpPr>
            <a:spLocks noChangeShapeType="1"/>
          </p:cNvSpPr>
          <p:nvPr userDrawn="1"/>
        </p:nvSpPr>
        <p:spPr bwMode="auto">
          <a:xfrm>
            <a:off x="1588" y="495296"/>
            <a:ext cx="687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>
              <a:solidFill>
                <a:srgbClr val="000000"/>
              </a:solidFill>
              <a:latin typeface="휴먼세엑스포" pitchFamily="18" charset="-127"/>
            </a:endParaRPr>
          </a:p>
        </p:txBody>
      </p: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757" y="89919"/>
            <a:ext cx="265639" cy="335571"/>
          </a:xfrm>
          <a:prstGeom prst="rect">
            <a:avLst/>
          </a:prstGeom>
        </p:spPr>
      </p:pic>
      <p:sp>
        <p:nvSpPr>
          <p:cNvPr id="11" name="Line 21">
            <a:extLst>
              <a:ext uri="{FF2B5EF4-FFF2-40B4-BE49-F238E27FC236}">
                <a16:creationId xmlns:a16="http://schemas.microsoft.com/office/drawing/2014/main" id="{1AB4A734-3587-4CAC-9D65-86BAEB6274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8000" y="9493224"/>
            <a:ext cx="687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dirty="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" name="Text Box 43">
            <a:extLst>
              <a:ext uri="{FF2B5EF4-FFF2-40B4-BE49-F238E27FC236}">
                <a16:creationId xmlns:a16="http://schemas.microsoft.com/office/drawing/2014/main" id="{4CAD7F70-D132-4F1E-9F1D-D90598AED9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6528" y="9608672"/>
            <a:ext cx="3205389" cy="21117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87213" tIns="43605" rIns="87213" bIns="43605">
            <a:spAutoFit/>
          </a:bodyPr>
          <a:lstStyle/>
          <a:p>
            <a:pPr algn="l" defTabSz="873088" latinLnBrk="0"/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© Copyright</a:t>
            </a:r>
            <a:r>
              <a:rPr lang="en-US" altLang="ko-KR" sz="80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 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2021</a:t>
            </a:r>
            <a:r>
              <a:rPr lang="en-US" altLang="ko-KR" sz="80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 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by </a:t>
            </a:r>
            <a:r>
              <a:rPr lang="en-US" altLang="ko-KR" sz="80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Paulnmark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  All  rights reserved.</a:t>
            </a: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72420A72-0514-4150-9820-2CF29EC1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55526" y="9450733"/>
            <a:ext cx="1543050" cy="52705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51CA772-7417-40F5-B5CE-872A854602D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C79B261-F30F-42B7-92EB-77DCD141BE0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36528" y="183039"/>
            <a:ext cx="5544000" cy="3974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100" b="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0015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과 소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21616" y="841309"/>
            <a:ext cx="5915025" cy="53883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600"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2pPr>
            <a:lvl3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3pPr>
            <a:lvl4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4pPr>
            <a:lvl5pPr>
              <a:defRPr sz="120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26" name="Rectangle 62"/>
          <p:cNvSpPr>
            <a:spLocks noChangeArrowheads="1"/>
          </p:cNvSpPr>
          <p:nvPr userDrawn="1"/>
        </p:nvSpPr>
        <p:spPr bwMode="auto">
          <a:xfrm>
            <a:off x="332656" y="828278"/>
            <a:ext cx="288032" cy="302298"/>
          </a:xfrm>
          <a:prstGeom prst="rect">
            <a:avLst/>
          </a:prstGeom>
          <a:solidFill>
            <a:srgbClr val="C71C2D">
              <a:alpha val="40000"/>
            </a:srgbClr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" name="Line 21"/>
          <p:cNvSpPr>
            <a:spLocks noChangeShapeType="1"/>
          </p:cNvSpPr>
          <p:nvPr userDrawn="1"/>
        </p:nvSpPr>
        <p:spPr bwMode="auto">
          <a:xfrm>
            <a:off x="1589" y="1628249"/>
            <a:ext cx="1700213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>
              <a:solidFill>
                <a:srgbClr val="000000"/>
              </a:solidFill>
              <a:latin typeface="휴먼세엑스포" pitchFamily="18" charset="-127"/>
            </a:endParaRPr>
          </a:p>
        </p:txBody>
      </p:sp>
      <p:sp>
        <p:nvSpPr>
          <p:cNvPr id="28" name="Rectangle 22"/>
          <p:cNvSpPr>
            <a:spLocks noChangeArrowheads="1"/>
          </p:cNvSpPr>
          <p:nvPr userDrawn="1"/>
        </p:nvSpPr>
        <p:spPr bwMode="auto">
          <a:xfrm>
            <a:off x="764704" y="1627932"/>
            <a:ext cx="936104" cy="64056"/>
          </a:xfrm>
          <a:prstGeom prst="rect">
            <a:avLst/>
          </a:prstGeom>
          <a:solidFill>
            <a:srgbClr val="C71C2D"/>
          </a:solidFill>
          <a:ln w="31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>
              <a:solidFill>
                <a:srgbClr val="000000"/>
              </a:solidFill>
              <a:latin typeface="휴먼세엑스포" pitchFamily="18" charset="-127"/>
            </a:endParaRPr>
          </a:p>
        </p:txBody>
      </p:sp>
      <p:sp>
        <p:nvSpPr>
          <p:cNvPr id="29" name="Line 21"/>
          <p:cNvSpPr>
            <a:spLocks noChangeShapeType="1"/>
          </p:cNvSpPr>
          <p:nvPr userDrawn="1"/>
        </p:nvSpPr>
        <p:spPr bwMode="auto">
          <a:xfrm>
            <a:off x="1588" y="495296"/>
            <a:ext cx="687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>
              <a:solidFill>
                <a:srgbClr val="000000"/>
              </a:solidFill>
              <a:latin typeface="휴먼세엑스포" pitchFamily="18" charset="-127"/>
            </a:endParaRPr>
          </a:p>
        </p:txBody>
      </p: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757" y="89919"/>
            <a:ext cx="265639" cy="335571"/>
          </a:xfrm>
          <a:prstGeom prst="rect">
            <a:avLst/>
          </a:prstGeom>
        </p:spPr>
      </p:pic>
      <p:sp>
        <p:nvSpPr>
          <p:cNvPr id="37" name="Text Placeholder 2"/>
          <p:cNvSpPr>
            <a:spLocks noGrp="1"/>
          </p:cNvSpPr>
          <p:nvPr>
            <p:ph type="body" idx="13"/>
          </p:nvPr>
        </p:nvSpPr>
        <p:spPr>
          <a:xfrm>
            <a:off x="779832" y="1701132"/>
            <a:ext cx="5544000" cy="3974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300" b="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1" name="Line 21">
            <a:extLst>
              <a:ext uri="{FF2B5EF4-FFF2-40B4-BE49-F238E27FC236}">
                <a16:creationId xmlns:a16="http://schemas.microsoft.com/office/drawing/2014/main" id="{1AB4A734-3587-4CAC-9D65-86BAEB6274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8000" y="9493224"/>
            <a:ext cx="687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dirty="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" name="Text Box 43">
            <a:extLst>
              <a:ext uri="{FF2B5EF4-FFF2-40B4-BE49-F238E27FC236}">
                <a16:creationId xmlns:a16="http://schemas.microsoft.com/office/drawing/2014/main" id="{4CAD7F70-D132-4F1E-9F1D-D90598AED9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6528" y="9608672"/>
            <a:ext cx="3205389" cy="21117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87213" tIns="43605" rIns="87213" bIns="43605">
            <a:spAutoFit/>
          </a:bodyPr>
          <a:lstStyle/>
          <a:p>
            <a:pPr algn="l" defTabSz="873088" latinLnBrk="0"/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© Copyright</a:t>
            </a:r>
            <a:r>
              <a:rPr lang="en-US" altLang="ko-KR" sz="80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 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2021</a:t>
            </a:r>
            <a:r>
              <a:rPr lang="en-US" altLang="ko-KR" sz="80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 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by </a:t>
            </a:r>
            <a:r>
              <a:rPr lang="en-US" altLang="ko-KR" sz="80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Paulnmark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Arial" pitchFamily="34" charset="0"/>
              </a:rPr>
              <a:t>  All  rights reserved.</a:t>
            </a: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72420A72-0514-4150-9820-2CF29EC1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55526" y="9450733"/>
            <a:ext cx="1543050" cy="52705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51CA772-7417-40F5-B5CE-872A854602D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C79B261-F30F-42B7-92EB-77DCD141BE0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36528" y="183039"/>
            <a:ext cx="5544000" cy="3974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100" b="0"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1941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A998-D03B-4B12-B99B-C0EA46FCEC56}" type="datetime1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892CD-321B-432A-A71E-0C1C7FCF4D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719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과 소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21616" y="841309"/>
            <a:ext cx="5915025" cy="53883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6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26" name="Rectangle 62"/>
          <p:cNvSpPr>
            <a:spLocks noChangeArrowheads="1"/>
          </p:cNvSpPr>
          <p:nvPr userDrawn="1"/>
        </p:nvSpPr>
        <p:spPr bwMode="auto">
          <a:xfrm>
            <a:off x="332656" y="828278"/>
            <a:ext cx="288032" cy="302298"/>
          </a:xfrm>
          <a:prstGeom prst="rect">
            <a:avLst/>
          </a:prstGeom>
          <a:solidFill>
            <a:srgbClr val="C71C2D">
              <a:alpha val="40000"/>
            </a:srgbClr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27" name="Line 21"/>
          <p:cNvSpPr>
            <a:spLocks noChangeShapeType="1"/>
          </p:cNvSpPr>
          <p:nvPr userDrawn="1"/>
        </p:nvSpPr>
        <p:spPr bwMode="auto">
          <a:xfrm>
            <a:off x="1589" y="1628249"/>
            <a:ext cx="1700213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28" name="Rectangle 22"/>
          <p:cNvSpPr>
            <a:spLocks noChangeArrowheads="1"/>
          </p:cNvSpPr>
          <p:nvPr userDrawn="1"/>
        </p:nvSpPr>
        <p:spPr bwMode="auto">
          <a:xfrm>
            <a:off x="764704" y="1627932"/>
            <a:ext cx="936104" cy="64056"/>
          </a:xfrm>
          <a:prstGeom prst="rect">
            <a:avLst/>
          </a:prstGeom>
          <a:solidFill>
            <a:srgbClr val="C71C2D"/>
          </a:solidFill>
          <a:ln w="31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29" name="Line 21"/>
          <p:cNvSpPr>
            <a:spLocks noChangeShapeType="1"/>
          </p:cNvSpPr>
          <p:nvPr userDrawn="1"/>
        </p:nvSpPr>
        <p:spPr bwMode="auto">
          <a:xfrm>
            <a:off x="1588" y="495296"/>
            <a:ext cx="687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757" y="89919"/>
            <a:ext cx="265639" cy="335571"/>
          </a:xfrm>
          <a:prstGeom prst="rect">
            <a:avLst/>
          </a:prstGeom>
        </p:spPr>
      </p:pic>
      <p:sp>
        <p:nvSpPr>
          <p:cNvPr id="32" name="Line 21"/>
          <p:cNvSpPr>
            <a:spLocks noChangeShapeType="1"/>
          </p:cNvSpPr>
          <p:nvPr userDrawn="1"/>
        </p:nvSpPr>
        <p:spPr bwMode="auto">
          <a:xfrm>
            <a:off x="-18000" y="9493224"/>
            <a:ext cx="687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90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5" name="Text Box 43"/>
          <p:cNvSpPr txBox="1">
            <a:spLocks noChangeArrowheads="1"/>
          </p:cNvSpPr>
          <p:nvPr userDrawn="1"/>
        </p:nvSpPr>
        <p:spPr bwMode="auto">
          <a:xfrm>
            <a:off x="136528" y="9608672"/>
            <a:ext cx="3205389" cy="21117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87213" tIns="43605" rIns="87213" bIns="43605">
            <a:spAutoFit/>
          </a:bodyPr>
          <a:lstStyle/>
          <a:p>
            <a:pPr algn="l" defTabSz="873088" latinLnBrk="0"/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itchFamily="34" charset="0"/>
              </a:rPr>
              <a:t>© Copyright</a:t>
            </a:r>
            <a:r>
              <a:rPr lang="en-US" altLang="ko-KR" sz="80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itchFamily="34" charset="0"/>
              </a:rPr>
              <a:t> 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itchFamily="34" charset="0"/>
              </a:rPr>
              <a:t>2021</a:t>
            </a:r>
            <a:r>
              <a:rPr lang="en-US" altLang="ko-KR" sz="80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itchFamily="34" charset="0"/>
              </a:rPr>
              <a:t> 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itchFamily="34" charset="0"/>
              </a:rPr>
              <a:t>by </a:t>
            </a:r>
            <a:r>
              <a:rPr lang="en-US" altLang="ko-KR" sz="800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itchFamily="34" charset="0"/>
              </a:rPr>
              <a:t>Paulnmark</a:t>
            </a:r>
            <a:r>
              <a:rPr lang="en-US" altLang="ko-KR" sz="8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itchFamily="34" charset="0"/>
              </a:rPr>
              <a:t>  All  rights reserved.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idx="13"/>
          </p:nvPr>
        </p:nvSpPr>
        <p:spPr>
          <a:xfrm>
            <a:off x="779832" y="1784648"/>
            <a:ext cx="5544000" cy="397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D7202-590D-40CA-9E8B-A9BD4077CBB6}"/>
              </a:ext>
            </a:extLst>
          </p:cNvPr>
          <p:cNvSpPr txBox="1"/>
          <p:nvPr userDrawn="1"/>
        </p:nvSpPr>
        <p:spPr>
          <a:xfrm>
            <a:off x="225458" y="140063"/>
            <a:ext cx="8996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4MAT</a:t>
            </a:r>
            <a:r>
              <a:rPr lang="ko-KR" altLang="en-US" sz="1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기획력</a:t>
            </a: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C6D7714F-2A14-4B96-8530-70C733A5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55526" y="9450733"/>
            <a:ext cx="1543050" cy="52705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51CA772-7417-40F5-B5CE-872A854602D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18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90410-A7D0-4311-B0FC-C33F5947EA5A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6575D-BAC3-4459-9D5F-F3BC99B5D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2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5" r:id="rId2"/>
    <p:sldLayoutId id="2147483697" r:id="rId3"/>
    <p:sldLayoutId id="2147483686" r:id="rId4"/>
    <p:sldLayoutId id="2147483698" r:id="rId5"/>
    <p:sldLayoutId id="2147483699" r:id="rId6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594555F-7B97-4CB5-BEC0-AAA7F7EBA11C}"/>
              </a:ext>
            </a:extLst>
          </p:cNvPr>
          <p:cNvSpPr txBox="1"/>
          <p:nvPr/>
        </p:nvSpPr>
        <p:spPr>
          <a:xfrm>
            <a:off x="1025737" y="2875732"/>
            <a:ext cx="4752528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[FST]</a:t>
            </a:r>
          </a:p>
          <a:p>
            <a:pPr algn="ctr"/>
            <a:endParaRPr lang="en-US" altLang="ko-KR" sz="500" b="1" dirty="0">
              <a:solidFill>
                <a:schemeClr val="bg1">
                  <a:lumMod val="50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algn="ctr"/>
            <a:r>
              <a:rPr lang="ko-KR" altLang="en-US" sz="3200" b="1" dirty="0">
                <a:solidFill>
                  <a:schemeClr val="bg1">
                    <a:lumMod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과장 </a:t>
            </a:r>
            <a:r>
              <a:rPr lang="ko-KR" altLang="en-US" sz="3200" b="1" dirty="0" err="1">
                <a:solidFill>
                  <a:schemeClr val="bg1">
                    <a:lumMod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승진자</a:t>
            </a:r>
            <a:endParaRPr lang="en-US" altLang="ko-KR" sz="3200" b="1" dirty="0">
              <a:solidFill>
                <a:schemeClr val="bg1">
                  <a:lumMod val="50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algn="ctr"/>
            <a:r>
              <a:rPr lang="ko-KR" altLang="en-US" sz="3200" b="1" dirty="0" err="1">
                <a:solidFill>
                  <a:schemeClr val="bg1">
                    <a:lumMod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기획적</a:t>
            </a:r>
            <a:r>
              <a:rPr lang="ko-KR" altLang="en-US" sz="3200" b="1" dirty="0">
                <a:solidFill>
                  <a:schemeClr val="bg1">
                    <a:lumMod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사고</a:t>
            </a:r>
            <a:endParaRPr lang="en-US" altLang="ko-KR" sz="3200" b="1" dirty="0">
              <a:solidFill>
                <a:schemeClr val="bg1">
                  <a:lumMod val="50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CC083B-4EA9-490B-9E60-804F1D6DBBAD}"/>
              </a:ext>
            </a:extLst>
          </p:cNvPr>
          <p:cNvSpPr/>
          <p:nvPr/>
        </p:nvSpPr>
        <p:spPr>
          <a:xfrm>
            <a:off x="1025736" y="2321958"/>
            <a:ext cx="4752528" cy="26310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1DB0D64D-2993-4239-8276-32BFE96AC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5807" y="1735071"/>
            <a:ext cx="606386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44">
            <a:extLst>
              <a:ext uri="{FF2B5EF4-FFF2-40B4-BE49-F238E27FC236}">
                <a16:creationId xmlns:a16="http://schemas.microsoft.com/office/drawing/2014/main" id="{D8C8F927-AF6C-4FE2-BD5D-BBB91FD89ABA}"/>
              </a:ext>
            </a:extLst>
          </p:cNvPr>
          <p:cNvSpPr/>
          <p:nvPr/>
        </p:nvSpPr>
        <p:spPr>
          <a:xfrm>
            <a:off x="-1" y="8409384"/>
            <a:ext cx="6858001" cy="9361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15" name="그림 12" descr="SymLoSlgH01.png">
            <a:extLst>
              <a:ext uri="{FF2B5EF4-FFF2-40B4-BE49-F238E27FC236}">
                <a16:creationId xmlns:a16="http://schemas.microsoft.com/office/drawing/2014/main" id="{56E1C8D7-DD3C-4C7B-8C22-049576DBE2C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8880" y="8553400"/>
            <a:ext cx="2308141" cy="62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주요내용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3EDF52B-16DD-C00A-093B-6930911AA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263" y="1180004"/>
            <a:ext cx="5544000" cy="1404907"/>
          </a:xfrm>
        </p:spPr>
        <p:txBody>
          <a:bodyPr/>
          <a:lstStyle/>
          <a:p>
            <a:r>
              <a:rPr lang="ko-KR" altLang="en-US" dirty="0"/>
              <a:t>이 과정을 통해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기획력</a:t>
            </a:r>
            <a:r>
              <a:rPr lang="en-US" altLang="ko-KR" dirty="0"/>
              <a:t> </a:t>
            </a:r>
            <a:r>
              <a:rPr lang="ko-KR" altLang="en-US" dirty="0"/>
              <a:t>향상을 위한 </a:t>
            </a:r>
            <a:r>
              <a:rPr lang="ko-KR" altLang="en-US" dirty="0" err="1"/>
              <a:t>기획적</a:t>
            </a:r>
            <a:r>
              <a:rPr lang="ko-KR" altLang="en-US" dirty="0"/>
              <a:t> 사고 능력을 배울 수 있습니다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기획력 향상을 위한 두뇌사고 기반 구조를 이해하고 적용할 수 있습니다</a:t>
            </a:r>
            <a:r>
              <a:rPr lang="en-US" altLang="ko-KR" dirty="0"/>
              <a:t>..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기획력 향상을 위한 다양한 기술을 배우고 적용할 수 있습니다</a:t>
            </a:r>
            <a:r>
              <a:rPr lang="en-US" altLang="ko-KR" dirty="0"/>
              <a:t>.</a:t>
            </a:r>
          </a:p>
        </p:txBody>
      </p:sp>
      <p:sp>
        <p:nvSpPr>
          <p:cNvPr id="16" name="내용 개체 틀 4">
            <a:extLst>
              <a:ext uri="{FF2B5EF4-FFF2-40B4-BE49-F238E27FC236}">
                <a16:creationId xmlns:a16="http://schemas.microsoft.com/office/drawing/2014/main" id="{213EA029-864B-6FB4-AA25-F90D60641B1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6616" y="3327459"/>
            <a:ext cx="1177922" cy="671336"/>
          </a:xfrm>
        </p:spPr>
        <p:txBody>
          <a:bodyPr/>
          <a:lstStyle/>
          <a:p>
            <a:r>
              <a:rPr lang="en-US" altLang="ko-KR" dirty="0"/>
              <a:t>Module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7" name="내용 개체 틀 5">
            <a:extLst>
              <a:ext uri="{FF2B5EF4-FFF2-40B4-BE49-F238E27FC236}">
                <a16:creationId xmlns:a16="http://schemas.microsoft.com/office/drawing/2014/main" id="{88035006-B45D-E183-C339-42CD7D5CCC6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036673" y="3327459"/>
            <a:ext cx="4343943" cy="671336"/>
          </a:xfrm>
        </p:spPr>
        <p:txBody>
          <a:bodyPr>
            <a:noAutofit/>
          </a:bodyPr>
          <a:lstStyle/>
          <a:p>
            <a:r>
              <a:rPr lang="en-US" altLang="ko-KR" b="1" dirty="0"/>
              <a:t>WHY </a:t>
            </a:r>
            <a:r>
              <a:rPr lang="ko-KR" altLang="en-US" b="1" dirty="0"/>
              <a:t>기획력</a:t>
            </a:r>
            <a:r>
              <a:rPr lang="en-US" altLang="ko-KR" b="1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왜 기획력이 필요한가</a:t>
            </a:r>
            <a:r>
              <a:rPr lang="en-US" altLang="ko-KR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조직의 언어로 소통하기 </a:t>
            </a:r>
            <a:r>
              <a:rPr lang="en-US" altLang="ko-KR" dirty="0"/>
              <a:t>Mind &amp; Attitude?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좋은 기획이란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335491D-02A1-DA64-2207-C963E2313EEB}"/>
              </a:ext>
            </a:extLst>
          </p:cNvPr>
          <p:cNvGrpSpPr/>
          <p:nvPr/>
        </p:nvGrpSpPr>
        <p:grpSpPr>
          <a:xfrm>
            <a:off x="850263" y="4523285"/>
            <a:ext cx="5544000" cy="934240"/>
            <a:chOff x="850263" y="4715789"/>
            <a:chExt cx="5544000" cy="934240"/>
          </a:xfrm>
        </p:grpSpPr>
        <p:sp>
          <p:nvSpPr>
            <p:cNvPr id="19" name="내용 개체 틀 4">
              <a:extLst>
                <a:ext uri="{FF2B5EF4-FFF2-40B4-BE49-F238E27FC236}">
                  <a16:creationId xmlns:a16="http://schemas.microsoft.com/office/drawing/2014/main" id="{2891E24A-B172-AD84-7FDB-F600DC29074A}"/>
                </a:ext>
              </a:extLst>
            </p:cNvPr>
            <p:cNvSpPr txBox="1">
              <a:spLocks/>
            </p:cNvSpPr>
            <p:nvPr/>
          </p:nvSpPr>
          <p:spPr>
            <a:xfrm>
              <a:off x="850263" y="4715789"/>
              <a:ext cx="1177922" cy="6713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685800" rtl="0" eaLnBrk="1" latinLnBrk="1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100" i="1" kern="1200">
                  <a:solidFill>
                    <a:schemeClr val="bg1">
                      <a:lumMod val="50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defRPr>
              </a:lvl1pPr>
              <a:lvl2pPr marL="5143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2pPr>
              <a:lvl3pPr marL="8572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3pPr>
              <a:lvl4pPr marL="12001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4pPr>
              <a:lvl5pPr marL="15430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5pPr>
              <a:lvl6pPr marL="18859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Module</a:t>
              </a:r>
              <a:r>
                <a:rPr lang="ko-KR" altLang="en-US" dirty="0"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lang="en-US" altLang="ko-KR" dirty="0"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2</a:t>
              </a:r>
              <a:endParaRPr lang="ko-KR" altLang="en-US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sp>
          <p:nvSpPr>
            <p:cNvPr id="20" name="내용 개체 틀 5">
              <a:extLst>
                <a:ext uri="{FF2B5EF4-FFF2-40B4-BE49-F238E27FC236}">
                  <a16:creationId xmlns:a16="http://schemas.microsoft.com/office/drawing/2014/main" id="{08288D6B-5707-3DEF-56EA-3FB02E7BCFEE}"/>
                </a:ext>
              </a:extLst>
            </p:cNvPr>
            <p:cNvSpPr txBox="1">
              <a:spLocks/>
            </p:cNvSpPr>
            <p:nvPr/>
          </p:nvSpPr>
          <p:spPr>
            <a:xfrm>
              <a:off x="2050320" y="4715789"/>
              <a:ext cx="4343943" cy="9342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685800" rtl="0" eaLnBrk="1" latinLnBrk="1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1pPr>
              <a:lvl2pPr marL="5143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2pPr>
              <a:lvl3pPr marL="8572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3pPr>
              <a:lvl4pPr marL="12001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4pPr>
              <a:lvl5pPr marL="15430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lvl5pPr>
              <a:lvl6pPr marL="18859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1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b="1" dirty="0"/>
                <a:t>두뇌에 심기는 기획을 위한 </a:t>
              </a:r>
              <a:r>
                <a:rPr lang="en-US" altLang="ko-KR" b="1" dirty="0"/>
                <a:t>Process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dirty="0"/>
                <a:t>두뇌</a:t>
              </a:r>
              <a:r>
                <a:rPr lang="en-US" altLang="ko-KR" dirty="0"/>
                <a:t> </a:t>
              </a:r>
              <a:r>
                <a:rPr lang="ko-KR" altLang="en-US" dirty="0"/>
                <a:t>사고 기반 사고방식 이해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dirty="0"/>
                <a:t>기획 </a:t>
              </a:r>
              <a:r>
                <a:rPr lang="en-US" altLang="ko-KR" dirty="0"/>
                <a:t>Cycle </a:t>
              </a:r>
              <a:r>
                <a:rPr lang="ko-KR" altLang="en-US" dirty="0"/>
                <a:t>이해 및 자기점검</a:t>
              </a:r>
              <a:endParaRPr lang="en-US" altLang="ko-KR" dirty="0"/>
            </a:p>
          </p:txBody>
        </p:sp>
      </p:grpSp>
      <p:sp>
        <p:nvSpPr>
          <p:cNvPr id="21" name="내용 개체 틀 4">
            <a:extLst>
              <a:ext uri="{FF2B5EF4-FFF2-40B4-BE49-F238E27FC236}">
                <a16:creationId xmlns:a16="http://schemas.microsoft.com/office/drawing/2014/main" id="{ECBB6F35-A6D2-F12E-1FE9-6A9954F86DEE}"/>
              </a:ext>
            </a:extLst>
          </p:cNvPr>
          <p:cNvSpPr txBox="1">
            <a:spLocks/>
          </p:cNvSpPr>
          <p:nvPr/>
        </p:nvSpPr>
        <p:spPr>
          <a:xfrm>
            <a:off x="850263" y="5618452"/>
            <a:ext cx="1177922" cy="671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 i="1" kern="120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Module</a:t>
            </a:r>
            <a:r>
              <a:rPr lang="ko-KR" altLang="en-US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3</a:t>
            </a:r>
            <a:endParaRPr lang="ko-KR" altLang="en-US" dirty="0"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5531E5DA-DA59-2C7B-7CE6-96DEEC1E1FCD}"/>
              </a:ext>
            </a:extLst>
          </p:cNvPr>
          <p:cNvSpPr txBox="1">
            <a:spLocks/>
          </p:cNvSpPr>
          <p:nvPr/>
        </p:nvSpPr>
        <p:spPr>
          <a:xfrm>
            <a:off x="2050320" y="5618452"/>
            <a:ext cx="4343943" cy="671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기획력 향상을 위한 기본기</a:t>
            </a:r>
            <a:endParaRPr lang="en-US" altLang="ko-K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기획의</a:t>
            </a:r>
            <a:r>
              <a:rPr lang="en-US" altLang="ko-KR" dirty="0"/>
              <a:t> </a:t>
            </a:r>
            <a:r>
              <a:rPr lang="ko-KR" altLang="en-US" dirty="0"/>
              <a:t>기초</a:t>
            </a:r>
            <a:r>
              <a:rPr lang="en-US" altLang="ko-KR" dirty="0"/>
              <a:t>_WHO &amp; WHY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기획력 향상을 위한 컨셉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기획력 향상을 위한 소통과 정리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378B6691-88A6-E0ED-BB09-9DB7973400EA}"/>
              </a:ext>
            </a:extLst>
          </p:cNvPr>
          <p:cNvSpPr txBox="1">
            <a:spLocks/>
          </p:cNvSpPr>
          <p:nvPr/>
        </p:nvSpPr>
        <p:spPr>
          <a:xfrm>
            <a:off x="850263" y="6863052"/>
            <a:ext cx="1177922" cy="671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 i="1" kern="120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Module</a:t>
            </a:r>
            <a:r>
              <a:rPr lang="ko-KR" altLang="en-US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4</a:t>
            </a:r>
            <a:endParaRPr lang="ko-KR" altLang="en-US" dirty="0"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24" name="내용 개체 틀 5">
            <a:extLst>
              <a:ext uri="{FF2B5EF4-FFF2-40B4-BE49-F238E27FC236}">
                <a16:creationId xmlns:a16="http://schemas.microsoft.com/office/drawing/2014/main" id="{F1766315-2922-AA7B-FB97-29B8B1B874C6}"/>
              </a:ext>
            </a:extLst>
          </p:cNvPr>
          <p:cNvSpPr txBox="1">
            <a:spLocks/>
          </p:cNvSpPr>
          <p:nvPr/>
        </p:nvSpPr>
        <p:spPr>
          <a:xfrm>
            <a:off x="2050320" y="6863052"/>
            <a:ext cx="4343943" cy="671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기획력 향상을 위한  기술</a:t>
            </a:r>
            <a:endParaRPr lang="en-US" altLang="ko-K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효과적 전달을 위한 기획의 기술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글쓰기와 시각화 기술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기획 실습과 성장을 위한 </a:t>
            </a:r>
            <a:r>
              <a:rPr lang="en-US" altLang="ko-KR" dirty="0"/>
              <a:t>Action 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17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4DB42-4019-4D14-99EA-F93351A3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주지사항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FC357-E8FE-4347-B312-1090FDB4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새로운 것을 배우고 접하게 될 때 불편하거나 혼란스러운 느낌이 드는 것은 일반적입니다</a:t>
            </a:r>
            <a:r>
              <a:rPr lang="en-US" altLang="ko-KR" dirty="0"/>
              <a:t>. </a:t>
            </a:r>
            <a:r>
              <a:rPr lang="ko-KR" altLang="en-US" dirty="0"/>
              <a:t>이러한 불편함이나 혼란을</a:t>
            </a:r>
            <a:r>
              <a:rPr lang="en-US" altLang="ko-KR" dirty="0"/>
              <a:t>, </a:t>
            </a:r>
            <a:r>
              <a:rPr lang="ko-KR" altLang="en-US" dirty="0"/>
              <a:t>변화를 위한 자연스러운 과정으로 받아들일 때 성장하게 될 것입니다</a:t>
            </a:r>
            <a:r>
              <a:rPr lang="en-US" altLang="ko-KR" dirty="0"/>
              <a:t>.</a:t>
            </a:r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학습은 새로 배운 개념을 멀지 않은 미래에 사용할 수 있는 실제적 적용법과 연결시킬 수 있을 때 가장 빠르게 이루어 집니다</a:t>
            </a:r>
            <a:r>
              <a:rPr lang="en-US" altLang="ko-KR" dirty="0"/>
              <a:t>. </a:t>
            </a:r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강사는 참가자 개개인의 모든 업무분야에 전문가일 수 없습니다</a:t>
            </a:r>
            <a:r>
              <a:rPr lang="en-US" altLang="ko-KR" dirty="0"/>
              <a:t>. </a:t>
            </a:r>
            <a:r>
              <a:rPr lang="ko-KR" altLang="en-US" dirty="0"/>
              <a:t>그렇기 때문에</a:t>
            </a:r>
            <a:r>
              <a:rPr lang="en-US" altLang="ko-KR" dirty="0"/>
              <a:t>, </a:t>
            </a:r>
            <a:r>
              <a:rPr lang="ko-KR" altLang="en-US" dirty="0"/>
              <a:t>강의가 진행되는 동안 참가자들이 강의 내용에 적합한 업무현장의 상황과 사례를 공유함으로 학습효과는 배가됩니다</a:t>
            </a:r>
            <a:r>
              <a:rPr lang="en-US" altLang="ko-KR" dirty="0"/>
              <a:t>. </a:t>
            </a:r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과정이 진행되는 동안의 참여도와 실제 업무 현장의 적용 수준은 비례합니다</a:t>
            </a:r>
            <a:r>
              <a:rPr lang="en-US" altLang="ko-KR" dirty="0"/>
              <a:t>.</a:t>
            </a:r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228600" indent="-2286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소속감을 가지고 성실하게 과정에 참여하며 즐길 때 최고의 학습결과를 얻을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B0F0F-BE13-4CDA-88C3-98905628DC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</p:spTree>
    <p:extLst>
      <p:ext uri="{BB962C8B-B14F-4D97-AF65-F5344CB8AC3E}">
        <p14:creationId xmlns:p14="http://schemas.microsoft.com/office/powerpoint/2010/main" val="364405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4DB42-4019-4D14-99EA-F93351A3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FC357-E8FE-4347-B312-1090FDB4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latinLnBrk="0">
              <a:lnSpc>
                <a:spcPct val="150000"/>
              </a:lnSpc>
            </a:pPr>
            <a:r>
              <a:rPr lang="ko-KR" altLang="en-US" dirty="0"/>
              <a:t>본 과정을 통해 가장 얻고 싶은 것은 무엇입니까</a:t>
            </a:r>
            <a:r>
              <a:rPr lang="en-US" altLang="ko-KR" dirty="0"/>
              <a:t>?</a:t>
            </a:r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  <a:p>
            <a:pPr algn="just" latinLnBrk="0">
              <a:lnSpc>
                <a:spcPct val="150000"/>
              </a:lnSpc>
            </a:pPr>
            <a:r>
              <a:rPr lang="ko-KR" altLang="en-US" dirty="0"/>
              <a:t>본 과정을 활용하여 도움을 주게 될 사람들을 떠올려 보십시오</a:t>
            </a:r>
            <a:r>
              <a:rPr lang="en-US" altLang="ko-KR" dirty="0"/>
              <a:t>.</a:t>
            </a:r>
          </a:p>
          <a:p>
            <a:pPr algn="just" latinLnBrk="0">
              <a:lnSpc>
                <a:spcPct val="150000"/>
              </a:lnSpc>
            </a:pPr>
            <a:r>
              <a:rPr lang="ko-KR" altLang="en-US" dirty="0"/>
              <a:t>주변 사람들은 당신이 본 과정을 통해 무엇을 배워 오길 기대하겠습니까</a:t>
            </a:r>
            <a:r>
              <a:rPr lang="en-US" altLang="ko-KR" dirty="0"/>
              <a:t>?</a:t>
            </a:r>
          </a:p>
          <a:p>
            <a:pPr algn="just" latinLnBrk="0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B0F0F-BE13-4CDA-88C3-98905628DC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</p:spTree>
    <p:extLst>
      <p:ext uri="{BB962C8B-B14F-4D97-AF65-F5344CB8AC3E}">
        <p14:creationId xmlns:p14="http://schemas.microsoft.com/office/powerpoint/2010/main" val="2397361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4DB42-4019-4D14-99EA-F93351A3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배경이론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B0F0F-BE13-4CDA-88C3-98905628DC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EA83CD-2B93-4E0D-C556-DAB932F4151C}"/>
              </a:ext>
            </a:extLst>
          </p:cNvPr>
          <p:cNvSpPr/>
          <p:nvPr/>
        </p:nvSpPr>
        <p:spPr>
          <a:xfrm>
            <a:off x="580554" y="1842157"/>
            <a:ext cx="5099974" cy="5601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Why? </a:t>
            </a:r>
          </a:p>
          <a:p>
            <a:pPr lvl="0" latinLnBrk="0">
              <a:lnSpc>
                <a:spcPct val="150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의미를 찾음으로 학습하는 사람들입니다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삶을 있는 그대로 받아들이고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현실과 비교하여 그 차이점을 일치 시킵니다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왜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라고 묻는 사람들은 주로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"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이걸 어떻게 사용할 수 있을까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?”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라는 질문을 던집니다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</a:br>
            <a:endParaRPr lang="en-US" altLang="ko-KR" sz="120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lvl="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What? </a:t>
            </a:r>
          </a:p>
          <a:p>
            <a:pPr lvl="0" latinLnBrk="0">
              <a:lnSpc>
                <a:spcPct val="150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생각이 많은 사람들입니다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사실을 찾으며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주어진 문제에 대한 전문가의 의견은 </a:t>
            </a:r>
            <a:r>
              <a:rPr lang="ko-KR" altLang="en-US" sz="120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어떠한지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알고 싶어 합니다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생각을 갖고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이를 반영합니다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 유형의 사람들은  “이 중 어떤 것들이 사실인가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?”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라는 질문을 던질 것입니다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b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</a:br>
            <a:endParaRPr lang="en-US" altLang="ko-KR" sz="120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lvl="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How? </a:t>
            </a:r>
          </a:p>
          <a:p>
            <a:pPr lvl="0" latinLnBrk="0">
              <a:lnSpc>
                <a:spcPct val="150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이론을 테스트하며 배우는 타입입니다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생각을 가지고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그 생각을 테스트합니다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어떤 물건의 작동원리 혹은 프로세스를 알고 싶어하며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실용성을 추구합니다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 유형의 사람들은 “어떻게 그렇게 되죠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?”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라는 질문을 던집니다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</a:p>
          <a:p>
            <a:pPr lvl="0" latinLnBrk="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20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lvl="0" latinLnBrk="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If? </a:t>
            </a:r>
          </a:p>
          <a:p>
            <a:pPr lvl="0" latinLnBrk="0">
              <a:lnSpc>
                <a:spcPct val="150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시행착오를 통해 배우며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숨겨진 가능성을 찾는 사람들입니다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 유형의 사람들은 그 가능성을 반영하여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자신을 발견합니다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“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어디에 적용할 수 있을까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?”</a:t>
            </a:r>
            <a:r>
              <a:rPr lang="ko-KR" altLang="en-US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라는 질문을 자주 던지는 사람들입니다</a:t>
            </a:r>
            <a:r>
              <a:rPr lang="en-US" altLang="ko-KR" sz="120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443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4DB42-4019-4D14-99EA-F93351A3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배경이론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FC357-E8FE-4347-B312-1090FDB4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latinLnBrk="0">
              <a:lnSpc>
                <a:spcPct val="100000"/>
              </a:lnSpc>
            </a:pPr>
            <a:r>
              <a:rPr lang="ko-KR" altLang="en-US" dirty="0"/>
              <a:t>가속학습법 </a:t>
            </a:r>
          </a:p>
          <a:p>
            <a:pPr algn="just" latinLnBrk="0">
              <a:lnSpc>
                <a:spcPct val="100000"/>
              </a:lnSpc>
            </a:pPr>
            <a:r>
              <a:rPr lang="en-US" altLang="ko-KR" dirty="0"/>
              <a:t>Accelerated Creative Learning</a:t>
            </a:r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r>
              <a:rPr lang="ko-KR" altLang="en-US" dirty="0"/>
              <a:t>조지 </a:t>
            </a:r>
            <a:r>
              <a:rPr lang="ko-KR" altLang="en-US" dirty="0" err="1"/>
              <a:t>라자노프</a:t>
            </a:r>
            <a:r>
              <a:rPr lang="en-US" altLang="ko-KR" dirty="0"/>
              <a:t>Georgi </a:t>
            </a:r>
            <a:r>
              <a:rPr lang="en-US" altLang="ko-KR" dirty="0" err="1"/>
              <a:t>Lozanov</a:t>
            </a:r>
            <a:r>
              <a:rPr lang="en-US" altLang="ko-KR" dirty="0"/>
              <a:t>  </a:t>
            </a:r>
            <a:r>
              <a:rPr lang="ko-KR" altLang="en-US" dirty="0"/>
              <a:t>박사의 가속학습이론은 학습내용에 의미를 부여하여 더 오래 기억되게 하는 학습방식에 관한 이론으로 </a:t>
            </a:r>
            <a:r>
              <a:rPr lang="en-US" altLang="ko-KR" dirty="0"/>
              <a:t>1970</a:t>
            </a:r>
            <a:r>
              <a:rPr lang="ko-KR" altLang="en-US" dirty="0"/>
              <a:t>년대에 </a:t>
            </a:r>
            <a:r>
              <a:rPr lang="ko-KR" altLang="en-US" dirty="0" err="1"/>
              <a:t>라자노프</a:t>
            </a:r>
            <a:r>
              <a:rPr lang="ko-KR" altLang="en-US" dirty="0"/>
              <a:t> 박사에 의해 정립되었습니다</a:t>
            </a:r>
            <a:r>
              <a:rPr lang="en-US" altLang="ko-KR" dirty="0"/>
              <a:t>. </a:t>
            </a:r>
          </a:p>
          <a:p>
            <a:pPr algn="just" latinLnBrk="0">
              <a:lnSpc>
                <a:spcPct val="100000"/>
              </a:lnSpc>
            </a:pPr>
            <a:r>
              <a:rPr lang="ko-KR" altLang="en-US" dirty="0"/>
              <a:t>참여자들이 더 효과적으로 재미있게</a:t>
            </a:r>
            <a:r>
              <a:rPr lang="en-US" altLang="ko-KR" dirty="0"/>
              <a:t>, </a:t>
            </a:r>
            <a:r>
              <a:rPr lang="ko-KR" altLang="en-US" dirty="0"/>
              <a:t>가속적으로 학습할 수 있도록 교육장 내의 음악과 색상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, </a:t>
            </a:r>
            <a:r>
              <a:rPr lang="ko-KR" altLang="en-US" dirty="0"/>
              <a:t>분위기</a:t>
            </a:r>
            <a:r>
              <a:rPr lang="en-US" altLang="ko-KR" dirty="0"/>
              <a:t>,</a:t>
            </a:r>
            <a:r>
              <a:rPr lang="ko-KR" altLang="en-US" dirty="0"/>
              <a:t>언어에 이르기까지 총체적인 학습모델의 인식을 </a:t>
            </a:r>
            <a:r>
              <a:rPr lang="ko-KR" altLang="en-US" dirty="0" err="1"/>
              <a:t>도와줌으로</a:t>
            </a:r>
            <a:r>
              <a:rPr lang="ko-KR" altLang="en-US" dirty="0"/>
              <a:t> 학습속도를 가속시킬 수 있다는 것이 가속학습이론의 주 내용입니다</a:t>
            </a:r>
            <a:r>
              <a:rPr lang="en-US" altLang="ko-KR" dirty="0"/>
              <a:t>. </a:t>
            </a:r>
            <a:r>
              <a:rPr lang="ko-KR" altLang="en-US" dirty="0" err="1"/>
              <a:t>라자노프</a:t>
            </a:r>
            <a:r>
              <a:rPr lang="ko-KR" altLang="en-US" dirty="0"/>
              <a:t> 박사는 참여자들의 자기 능력에 대한 믿음과 교수들의 모델링을 강조합니다</a:t>
            </a:r>
            <a:r>
              <a:rPr lang="en-US" altLang="ko-KR" dirty="0"/>
              <a:t>. </a:t>
            </a:r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r>
              <a:rPr lang="ko-KR" altLang="en-US" dirty="0"/>
              <a:t>경험학습 이론</a:t>
            </a:r>
            <a:endParaRPr lang="en-US" altLang="ko-KR" dirty="0"/>
          </a:p>
          <a:p>
            <a:pPr algn="just" latinLnBrk="0">
              <a:lnSpc>
                <a:spcPct val="100000"/>
              </a:lnSpc>
            </a:pPr>
            <a:r>
              <a:rPr lang="en-US" altLang="ko-KR" dirty="0"/>
              <a:t>Experiential Learning</a:t>
            </a:r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r>
              <a:rPr lang="ko-KR" altLang="en-US" dirty="0" err="1"/>
              <a:t>쿠르트</a:t>
            </a:r>
            <a:r>
              <a:rPr lang="ko-KR" altLang="en-US" dirty="0"/>
              <a:t> 한</a:t>
            </a:r>
            <a:r>
              <a:rPr lang="en-US" altLang="ko-KR" dirty="0"/>
              <a:t> Kurt Hahn </a:t>
            </a:r>
            <a:r>
              <a:rPr lang="ko-KR" altLang="en-US" dirty="0"/>
              <a:t>에 의해 개발된 경험학습이론의 내용은 학습이 개인적이며 비유적으로 이해될 때 가장 효과적이라는 것입니다</a:t>
            </a:r>
            <a:r>
              <a:rPr lang="en-US" altLang="ko-KR" dirty="0"/>
              <a:t>. </a:t>
            </a:r>
            <a:r>
              <a:rPr lang="ko-KR" altLang="en-US" dirty="0"/>
              <a:t>경험학습은 주로 소 그룹의 활동이나 게임</a:t>
            </a:r>
            <a:r>
              <a:rPr lang="en-US" altLang="ko-KR" dirty="0"/>
              <a:t>, </a:t>
            </a:r>
            <a:r>
              <a:rPr lang="ko-KR" altLang="en-US" dirty="0"/>
              <a:t>혹은 시뮬레이션 등을 통해 참여자들을 </a:t>
            </a:r>
            <a:r>
              <a:rPr lang="ko-KR" altLang="en-US" dirty="0" err="1"/>
              <a:t>몰입시키고</a:t>
            </a:r>
            <a:r>
              <a:rPr lang="ko-KR" altLang="en-US" dirty="0"/>
              <a:t> 깨닫도록 하는 </a:t>
            </a:r>
            <a:r>
              <a:rPr lang="ko-KR" altLang="en-US" dirty="0" err="1"/>
              <a:t>학습방식입니다</a:t>
            </a:r>
            <a:r>
              <a:rPr lang="en-US" altLang="ko-KR" dirty="0"/>
              <a:t>. </a:t>
            </a:r>
          </a:p>
          <a:p>
            <a:pPr algn="just" latinLnBrk="0">
              <a:lnSpc>
                <a:spcPct val="100000"/>
              </a:lnSpc>
            </a:pPr>
            <a:r>
              <a:rPr lang="ko-KR" altLang="en-US" dirty="0"/>
              <a:t>학습은 반드시 실용적이어야 한다는 것이 또 다른 경험학습의 주안점이기도 합니다</a:t>
            </a:r>
            <a:r>
              <a:rPr lang="en-US" altLang="ko-KR" dirty="0"/>
              <a:t>. </a:t>
            </a:r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marL="228600" lvl="0" indent="-228600" latinLnBrk="0"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  <a:p>
            <a:pPr algn="just" latinLnBrk="0">
              <a:lnSpc>
                <a:spcPct val="100000"/>
              </a:lnSpc>
            </a:pP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B0F0F-BE13-4CDA-88C3-98905628DC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</p:spTree>
    <p:extLst>
      <p:ext uri="{BB962C8B-B14F-4D97-AF65-F5344CB8AC3E}">
        <p14:creationId xmlns:p14="http://schemas.microsoft.com/office/powerpoint/2010/main" val="2016956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16" y="829242"/>
            <a:ext cx="5915025" cy="538836"/>
          </a:xfrm>
        </p:spPr>
        <p:txBody>
          <a:bodyPr/>
          <a:lstStyle/>
          <a:p>
            <a:r>
              <a:rPr lang="en-US" altLang="ko-KR" dirty="0"/>
              <a:t>WHY </a:t>
            </a:r>
            <a:r>
              <a:rPr lang="ko-KR" altLang="en-US" dirty="0"/>
              <a:t>기획력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65A3E-4C2B-49DD-86DA-697A83E5E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나의 점수는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(             /             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이유는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Ice Breaking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AA414DF-32DB-4952-926B-1B38E20120F0}"/>
              </a:ext>
            </a:extLst>
          </p:cNvPr>
          <p:cNvGrpSpPr/>
          <p:nvPr/>
        </p:nvGrpSpPr>
        <p:grpSpPr>
          <a:xfrm>
            <a:off x="2908528" y="5437548"/>
            <a:ext cx="2957509" cy="3100374"/>
            <a:chOff x="2798705" y="4860032"/>
            <a:chExt cx="2957509" cy="310037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C2EDFFD-315D-42B8-87CF-5681E009FA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068"/>
            <a:stretch/>
          </p:blipFill>
          <p:spPr>
            <a:xfrm>
              <a:off x="2798705" y="4860032"/>
              <a:ext cx="2594440" cy="310037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1D72F6-C52F-4678-89F8-68847D7877F6}"/>
                </a:ext>
              </a:extLst>
            </p:cNvPr>
            <p:cNvSpPr txBox="1"/>
            <p:nvPr/>
          </p:nvSpPr>
          <p:spPr>
            <a:xfrm>
              <a:off x="5393145" y="6912949"/>
              <a:ext cx="3630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7C63BC-99D2-4779-A80B-9A65BD167150}"/>
                </a:ext>
              </a:extLst>
            </p:cNvPr>
            <p:cNvSpPr txBox="1"/>
            <p:nvPr/>
          </p:nvSpPr>
          <p:spPr>
            <a:xfrm>
              <a:off x="5393144" y="5865492"/>
              <a:ext cx="3630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endPara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0FC0BB-9BB0-4C5D-8514-4341DED39321}"/>
                </a:ext>
              </a:extLst>
            </p:cNvPr>
            <p:cNvSpPr txBox="1"/>
            <p:nvPr/>
          </p:nvSpPr>
          <p:spPr>
            <a:xfrm>
              <a:off x="5393144" y="4865738"/>
              <a:ext cx="3630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9</a:t>
              </a:r>
              <a:endPara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230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</a:t>
            </a:r>
            <a:r>
              <a:rPr lang="ko-KR" altLang="en-US" dirty="0"/>
              <a:t>기획력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65A3E-4C2B-49DD-86DA-697A83E5E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좋은 결과를 만드는 경험과 믿음의 중요성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우리는</a:t>
            </a:r>
            <a:r>
              <a:rPr lang="en-US" altLang="ko-KR" dirty="0"/>
              <a:t> </a:t>
            </a:r>
            <a:r>
              <a:rPr lang="ko-KR" altLang="en-US" dirty="0"/>
              <a:t>좋은 결과를 위해 무엇을 해야 할까요</a:t>
            </a:r>
            <a:r>
              <a:rPr lang="en-US" altLang="ko-KR" dirty="0"/>
              <a:t>?</a:t>
            </a:r>
          </a:p>
          <a:p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좋은</a:t>
            </a:r>
            <a:r>
              <a:rPr lang="en-US" altLang="ko-KR" dirty="0"/>
              <a:t> </a:t>
            </a:r>
            <a:r>
              <a:rPr lang="ko-KR" altLang="en-US" dirty="0"/>
              <a:t>기획을 위해 우리는 어떤 마음과 태도가 중요할까요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Result Pyramid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20E83D0-C11C-44DF-99E9-2AFB4B5D3E23}"/>
              </a:ext>
            </a:extLst>
          </p:cNvPr>
          <p:cNvGrpSpPr/>
          <p:nvPr/>
        </p:nvGrpSpPr>
        <p:grpSpPr>
          <a:xfrm>
            <a:off x="1880679" y="5609912"/>
            <a:ext cx="3096642" cy="3312368"/>
            <a:chOff x="2034494" y="3621384"/>
            <a:chExt cx="3096642" cy="3312368"/>
          </a:xfrm>
        </p:grpSpPr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C3AF15C4-BDEE-417E-A190-4D110815E516}"/>
                </a:ext>
              </a:extLst>
            </p:cNvPr>
            <p:cNvSpPr/>
            <p:nvPr/>
          </p:nvSpPr>
          <p:spPr>
            <a:xfrm>
              <a:off x="2034494" y="3621384"/>
              <a:ext cx="3096642" cy="3312368"/>
            </a:xfrm>
            <a:prstGeom prst="triangle">
              <a:avLst/>
            </a:prstGeom>
            <a:gradFill flip="none" rotWithShape="1">
              <a:gsLst>
                <a:gs pos="0">
                  <a:schemeClr val="bg1">
                    <a:lumMod val="85000"/>
                    <a:shade val="30000"/>
                    <a:satMod val="11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B04081-BD1B-431E-9694-8F08FCE82AF3}"/>
                </a:ext>
              </a:extLst>
            </p:cNvPr>
            <p:cNvSpPr txBox="1"/>
            <p:nvPr/>
          </p:nvSpPr>
          <p:spPr>
            <a:xfrm>
              <a:off x="3237252" y="4216787"/>
              <a:ext cx="7200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결과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4B9983-C25C-4C5A-B36A-3BC6EA87FA0E}"/>
                </a:ext>
              </a:extLst>
            </p:cNvPr>
            <p:cNvSpPr txBox="1"/>
            <p:nvPr/>
          </p:nvSpPr>
          <p:spPr>
            <a:xfrm>
              <a:off x="3237252" y="4907081"/>
              <a:ext cx="7200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행동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1D30DA-7C33-470E-9168-D04AF20FFCD8}"/>
                </a:ext>
              </a:extLst>
            </p:cNvPr>
            <p:cNvSpPr txBox="1"/>
            <p:nvPr/>
          </p:nvSpPr>
          <p:spPr>
            <a:xfrm>
              <a:off x="3237252" y="5638141"/>
              <a:ext cx="7200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믿음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10071D-76EB-4ABC-AA31-7BB27DC4FF9F}"/>
                </a:ext>
              </a:extLst>
            </p:cNvPr>
            <p:cNvSpPr txBox="1"/>
            <p:nvPr/>
          </p:nvSpPr>
          <p:spPr>
            <a:xfrm>
              <a:off x="3237252" y="6369200"/>
              <a:ext cx="7200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경험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C94DE45-03C4-4B00-B3D6-C5E4C6E5E88D}"/>
                </a:ext>
              </a:extLst>
            </p:cNvPr>
            <p:cNvCxnSpPr>
              <a:cxnSpLocks/>
            </p:cNvCxnSpPr>
            <p:nvPr/>
          </p:nvCxnSpPr>
          <p:spPr>
            <a:xfrm>
              <a:off x="3096213" y="4722308"/>
              <a:ext cx="12962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587FFB5-D0B0-4EDB-956E-F57BCE2A69C6}"/>
                </a:ext>
              </a:extLst>
            </p:cNvPr>
            <p:cNvCxnSpPr>
              <a:cxnSpLocks/>
            </p:cNvCxnSpPr>
            <p:nvPr/>
          </p:nvCxnSpPr>
          <p:spPr>
            <a:xfrm>
              <a:off x="2592157" y="5442388"/>
              <a:ext cx="2160240" cy="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DC041649-A113-49F4-92CD-CA53BD56FE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4627" y="6150822"/>
              <a:ext cx="265589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737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</a:t>
            </a:r>
            <a:r>
              <a:rPr lang="ko-KR" altLang="en-US" dirty="0"/>
              <a:t>기획력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65A3E-4C2B-49DD-86DA-697A83E5E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5804342"/>
          </a:xfrm>
        </p:spPr>
        <p:txBody>
          <a:bodyPr/>
          <a:lstStyle/>
          <a:p>
            <a:r>
              <a:rPr lang="en-US" altLang="ko-KR" dirty="0"/>
              <a:t>WHAT We Learn?</a:t>
            </a:r>
          </a:p>
          <a:p>
            <a:endParaRPr lang="en-US" altLang="ko-KR" dirty="0"/>
          </a:p>
          <a:p>
            <a:r>
              <a:rPr lang="ko-KR" altLang="en-US" dirty="0"/>
              <a:t>조직이 나에게 무엇을 기대하는지를 이해하고 </a:t>
            </a:r>
          </a:p>
          <a:p>
            <a:endParaRPr lang="en-US" altLang="ko-KR" dirty="0"/>
          </a:p>
          <a:p>
            <a:r>
              <a:rPr lang="ko-KR" altLang="en-US" dirty="0"/>
              <a:t>이를 이루기 위한 전략적 사고 과정을 거쳐</a:t>
            </a:r>
          </a:p>
          <a:p>
            <a:endParaRPr lang="en-US" altLang="ko-KR" dirty="0"/>
          </a:p>
          <a:p>
            <a:r>
              <a:rPr lang="ko-KR" altLang="en-US" dirty="0"/>
              <a:t>조직이 기대하는 도구인 말하기와 글쓰기를 통해</a:t>
            </a:r>
          </a:p>
          <a:p>
            <a:endParaRPr lang="en-US" altLang="ko-KR" dirty="0"/>
          </a:p>
          <a:p>
            <a:r>
              <a:rPr lang="ko-KR" altLang="en-US" dirty="0"/>
              <a:t>조직이 기대하는 성과를 창출하며 나의 가치를 높인다</a:t>
            </a:r>
            <a:r>
              <a:rPr lang="en-US" altLang="ko-KR" dirty="0"/>
              <a:t>.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기획력 향상의 목적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</p:spTree>
    <p:extLst>
      <p:ext uri="{BB962C8B-B14F-4D97-AF65-F5344CB8AC3E}">
        <p14:creationId xmlns:p14="http://schemas.microsoft.com/office/powerpoint/2010/main" val="211443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</a:t>
            </a:r>
            <a:r>
              <a:rPr lang="ko-KR" altLang="en-US" dirty="0"/>
              <a:t>기획력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비즈니스 기획이란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45C2378-02FC-B0DA-26D0-0F360A465BF5}"/>
              </a:ext>
            </a:extLst>
          </p:cNvPr>
          <p:cNvGrpSpPr/>
          <p:nvPr/>
        </p:nvGrpSpPr>
        <p:grpSpPr>
          <a:xfrm>
            <a:off x="837522" y="2994304"/>
            <a:ext cx="5024402" cy="2459743"/>
            <a:chOff x="463550" y="1415709"/>
            <a:chExt cx="8640674" cy="4230123"/>
          </a:xfrm>
        </p:grpSpPr>
        <p:pic>
          <p:nvPicPr>
            <p:cNvPr id="16" name="그래픽 15" descr="계약 단색으로 채워진">
              <a:extLst>
                <a:ext uri="{FF2B5EF4-FFF2-40B4-BE49-F238E27FC236}">
                  <a16:creationId xmlns:a16="http://schemas.microsoft.com/office/drawing/2014/main" id="{994E5ED3-E8AA-91C2-D4F7-F2C37B760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23315" y="1494422"/>
              <a:ext cx="1473717" cy="1473717"/>
            </a:xfrm>
            <a:prstGeom prst="rect">
              <a:avLst/>
            </a:prstGeom>
          </p:spPr>
        </p:pic>
        <p:pic>
          <p:nvPicPr>
            <p:cNvPr id="17" name="그래픽 16" descr="프레젠테이션 막대형 차트 단색으로 채워진">
              <a:extLst>
                <a:ext uri="{FF2B5EF4-FFF2-40B4-BE49-F238E27FC236}">
                  <a16:creationId xmlns:a16="http://schemas.microsoft.com/office/drawing/2014/main" id="{C741FC0B-8EDE-825D-6047-7D4C95EBD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37398" y="1415709"/>
              <a:ext cx="1473717" cy="147371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882313-B74B-4C2E-660A-293674A937DD}"/>
                </a:ext>
              </a:extLst>
            </p:cNvPr>
            <p:cNvSpPr txBox="1"/>
            <p:nvPr/>
          </p:nvSpPr>
          <p:spPr>
            <a:xfrm>
              <a:off x="1912223" y="3059665"/>
              <a:ext cx="924065" cy="529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제안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11DDC7-AB0F-A05C-74C7-66D318B8DC36}"/>
                </a:ext>
              </a:extLst>
            </p:cNvPr>
            <p:cNvSpPr txBox="1"/>
            <p:nvPr/>
          </p:nvSpPr>
          <p:spPr>
            <a:xfrm>
              <a:off x="7098138" y="3059667"/>
              <a:ext cx="924066" cy="529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보고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3F89A6-A040-D6B2-E55C-8081740EF4DD}"/>
                </a:ext>
              </a:extLst>
            </p:cNvPr>
            <p:cNvSpPr txBox="1"/>
            <p:nvPr/>
          </p:nvSpPr>
          <p:spPr>
            <a:xfrm>
              <a:off x="6016113" y="4216732"/>
              <a:ext cx="3088111" cy="14291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cs"/>
                </a:rPr>
                <a:t>이렇게 진행했습니다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cs"/>
                </a:rPr>
                <a:t>.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보고서</a:t>
              </a:r>
              <a:r>
                <a:rPr lang="en-US" altLang="ko-KR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저렇게 진행예정 입니다</a:t>
              </a:r>
              <a:r>
                <a:rPr lang="en-US" altLang="ko-KR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.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계획서</a:t>
              </a:r>
              <a:r>
                <a:rPr lang="en-US" altLang="ko-KR" sz="1200" dirty="0">
                  <a:solidFill>
                    <a:prstClr val="black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8F634BD-8EB3-A191-57BC-CED6D396957A}"/>
                </a:ext>
              </a:extLst>
            </p:cNvPr>
            <p:cNvSpPr txBox="1"/>
            <p:nvPr/>
          </p:nvSpPr>
          <p:spPr>
            <a:xfrm>
              <a:off x="463550" y="4216732"/>
              <a:ext cx="3821409" cy="14291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이렇게 해보면 어떨까요</a:t>
              </a:r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?</a:t>
              </a:r>
            </a:p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기획안</a:t>
              </a:r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</a:p>
            <a:p>
              <a:pPr algn="ctr"/>
              <a:r>
                <a: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저렇게 해 보시는 게 어떠세요</a:t>
              </a:r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?</a:t>
              </a:r>
            </a:p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제안서</a:t>
              </a:r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735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나는 어떤 사고</a:t>
            </a:r>
            <a:r>
              <a:rPr lang="en-US" altLang="ko-KR" dirty="0"/>
              <a:t> Style</a:t>
            </a:r>
            <a:r>
              <a:rPr lang="ko-KR" altLang="en-US" dirty="0"/>
              <a:t>을 가지고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4MAT </a:t>
            </a:r>
            <a:r>
              <a:rPr lang="ko-KR" altLang="en-US" dirty="0"/>
              <a:t>기반 기획 </a:t>
            </a:r>
            <a:r>
              <a:rPr lang="en-US" altLang="ko-KR" dirty="0"/>
              <a:t>Cycle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81CC10F-844D-F8AB-1E2F-4C2E3C8F5D91}"/>
              </a:ext>
            </a:extLst>
          </p:cNvPr>
          <p:cNvSpPr txBox="1"/>
          <p:nvPr/>
        </p:nvSpPr>
        <p:spPr>
          <a:xfrm>
            <a:off x="3183511" y="7939576"/>
            <a:ext cx="1266715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99" marR="6480" indent="-810" algn="ctr"/>
            <a:r>
              <a:rPr sz="1400" spc="-115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Abstract </a:t>
            </a:r>
            <a:endParaRPr lang="en-US" altLang="ko-KR" sz="1400" spc="-115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indent="-810" algn="ctr"/>
            <a:r>
              <a:rPr sz="1400" spc="-115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 Conceptualizing  </a:t>
            </a:r>
            <a:endParaRPr lang="en-US" altLang="ko-KR" sz="1400" spc="-115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indent="-810" algn="ctr"/>
            <a:r>
              <a:rPr sz="1400" spc="-121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(Thinking)</a:t>
            </a:r>
            <a:endParaRPr sz="1400" dirty="0"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70284BD-3A19-54C5-E147-E80D3D953A80}"/>
              </a:ext>
            </a:extLst>
          </p:cNvPr>
          <p:cNvSpPr txBox="1"/>
          <p:nvPr/>
        </p:nvSpPr>
        <p:spPr>
          <a:xfrm>
            <a:off x="3295879" y="2098627"/>
            <a:ext cx="1042366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99" marR="6480" algn="ctr"/>
            <a:r>
              <a:rPr sz="1400" spc="-128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Direct  </a:t>
            </a:r>
            <a:endParaRPr lang="en-US" altLang="ko-KR" sz="1400" spc="-128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algn="ctr"/>
            <a:r>
              <a:rPr sz="1400" spc="-108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Experiencing  </a:t>
            </a:r>
            <a:endParaRPr lang="en-US" altLang="ko-KR" sz="1400" spc="-108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algn="ctr"/>
            <a:r>
              <a:rPr sz="1400" spc="-128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(Feeling)</a:t>
            </a:r>
            <a:endParaRPr sz="1400" dirty="0"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3F2245E-B106-B53F-CF71-1259615F6371}"/>
              </a:ext>
            </a:extLst>
          </p:cNvPr>
          <p:cNvSpPr/>
          <p:nvPr/>
        </p:nvSpPr>
        <p:spPr>
          <a:xfrm>
            <a:off x="1484784" y="2974150"/>
            <a:ext cx="4715356" cy="4689438"/>
          </a:xfrm>
          <a:custGeom>
            <a:avLst/>
            <a:gdLst/>
            <a:ahLst/>
            <a:cxnLst/>
            <a:rect l="l" t="t" r="r" b="b"/>
            <a:pathLst>
              <a:path w="3696970" h="3676650">
                <a:moveTo>
                  <a:pt x="3696690" y="1838083"/>
                </a:moveTo>
                <a:lnTo>
                  <a:pt x="3696067" y="1886275"/>
                </a:lnTo>
                <a:lnTo>
                  <a:pt x="3694208" y="1934162"/>
                </a:lnTo>
                <a:lnTo>
                  <a:pt x="3691129" y="1981727"/>
                </a:lnTo>
                <a:lnTo>
                  <a:pt x="3686844" y="2028957"/>
                </a:lnTo>
                <a:lnTo>
                  <a:pt x="3681370" y="2075835"/>
                </a:lnTo>
                <a:lnTo>
                  <a:pt x="3674720" y="2122348"/>
                </a:lnTo>
                <a:lnTo>
                  <a:pt x="3666911" y="2168479"/>
                </a:lnTo>
                <a:lnTo>
                  <a:pt x="3657957" y="2214213"/>
                </a:lnTo>
                <a:lnTo>
                  <a:pt x="3647874" y="2259536"/>
                </a:lnTo>
                <a:lnTo>
                  <a:pt x="3636677" y="2304432"/>
                </a:lnTo>
                <a:lnTo>
                  <a:pt x="3624381" y="2348886"/>
                </a:lnTo>
                <a:lnTo>
                  <a:pt x="3611002" y="2392884"/>
                </a:lnTo>
                <a:lnTo>
                  <a:pt x="3596554" y="2436409"/>
                </a:lnTo>
                <a:lnTo>
                  <a:pt x="3581053" y="2479446"/>
                </a:lnTo>
                <a:lnTo>
                  <a:pt x="3564514" y="2521982"/>
                </a:lnTo>
                <a:lnTo>
                  <a:pt x="3546952" y="2564000"/>
                </a:lnTo>
                <a:lnTo>
                  <a:pt x="3528383" y="2605485"/>
                </a:lnTo>
                <a:lnTo>
                  <a:pt x="3508822" y="2646422"/>
                </a:lnTo>
                <a:lnTo>
                  <a:pt x="3488283" y="2686796"/>
                </a:lnTo>
                <a:lnTo>
                  <a:pt x="3466783" y="2726592"/>
                </a:lnTo>
                <a:lnTo>
                  <a:pt x="3444336" y="2765795"/>
                </a:lnTo>
                <a:lnTo>
                  <a:pt x="3420958" y="2804390"/>
                </a:lnTo>
                <a:lnTo>
                  <a:pt x="3396663" y="2842361"/>
                </a:lnTo>
                <a:lnTo>
                  <a:pt x="3371468" y="2879693"/>
                </a:lnTo>
                <a:lnTo>
                  <a:pt x="3345386" y="2916372"/>
                </a:lnTo>
                <a:lnTo>
                  <a:pt x="3318435" y="2952381"/>
                </a:lnTo>
                <a:lnTo>
                  <a:pt x="3290628" y="2987707"/>
                </a:lnTo>
                <a:lnTo>
                  <a:pt x="3261980" y="3022333"/>
                </a:lnTo>
                <a:lnTo>
                  <a:pt x="3232508" y="3056245"/>
                </a:lnTo>
                <a:lnTo>
                  <a:pt x="3202227" y="3089428"/>
                </a:lnTo>
                <a:lnTo>
                  <a:pt x="3171150" y="3121866"/>
                </a:lnTo>
                <a:lnTo>
                  <a:pt x="3139295" y="3153544"/>
                </a:lnTo>
                <a:lnTo>
                  <a:pt x="3106676" y="3184448"/>
                </a:lnTo>
                <a:lnTo>
                  <a:pt x="3073308" y="3214561"/>
                </a:lnTo>
                <a:lnTo>
                  <a:pt x="3039206" y="3243870"/>
                </a:lnTo>
                <a:lnTo>
                  <a:pt x="3004386" y="3272358"/>
                </a:lnTo>
                <a:lnTo>
                  <a:pt x="2968863" y="3300010"/>
                </a:lnTo>
                <a:lnTo>
                  <a:pt x="2932652" y="3326812"/>
                </a:lnTo>
                <a:lnTo>
                  <a:pt x="2895768" y="3352749"/>
                </a:lnTo>
                <a:lnTo>
                  <a:pt x="2858227" y="3377804"/>
                </a:lnTo>
                <a:lnTo>
                  <a:pt x="2820043" y="3401964"/>
                </a:lnTo>
                <a:lnTo>
                  <a:pt x="2781233" y="3425213"/>
                </a:lnTo>
                <a:lnTo>
                  <a:pt x="2741810" y="3447535"/>
                </a:lnTo>
                <a:lnTo>
                  <a:pt x="2701791" y="3468916"/>
                </a:lnTo>
                <a:lnTo>
                  <a:pt x="2661191" y="3489340"/>
                </a:lnTo>
                <a:lnTo>
                  <a:pt x="2620025" y="3508793"/>
                </a:lnTo>
                <a:lnTo>
                  <a:pt x="2578307" y="3527259"/>
                </a:lnTo>
                <a:lnTo>
                  <a:pt x="2536054" y="3544724"/>
                </a:lnTo>
                <a:lnTo>
                  <a:pt x="2493281" y="3561171"/>
                </a:lnTo>
                <a:lnTo>
                  <a:pt x="2450002" y="3576586"/>
                </a:lnTo>
                <a:lnTo>
                  <a:pt x="2406233" y="3590953"/>
                </a:lnTo>
                <a:lnTo>
                  <a:pt x="2361989" y="3604259"/>
                </a:lnTo>
                <a:lnTo>
                  <a:pt x="2317285" y="3616486"/>
                </a:lnTo>
                <a:lnTo>
                  <a:pt x="2272138" y="3627621"/>
                </a:lnTo>
                <a:lnTo>
                  <a:pt x="2226560" y="3637648"/>
                </a:lnTo>
                <a:lnTo>
                  <a:pt x="2180569" y="3646553"/>
                </a:lnTo>
                <a:lnTo>
                  <a:pt x="2134180" y="3654319"/>
                </a:lnTo>
                <a:lnTo>
                  <a:pt x="2087406" y="3660931"/>
                </a:lnTo>
                <a:lnTo>
                  <a:pt x="2040265" y="3666376"/>
                </a:lnTo>
                <a:lnTo>
                  <a:pt x="1992770" y="3670637"/>
                </a:lnTo>
                <a:lnTo>
                  <a:pt x="1944937" y="3673699"/>
                </a:lnTo>
                <a:lnTo>
                  <a:pt x="1896782" y="3675547"/>
                </a:lnTo>
                <a:lnTo>
                  <a:pt x="1848319" y="3676167"/>
                </a:lnTo>
                <a:lnTo>
                  <a:pt x="1799859" y="3675547"/>
                </a:lnTo>
                <a:lnTo>
                  <a:pt x="1751706" y="3673699"/>
                </a:lnTo>
                <a:lnTo>
                  <a:pt x="1703876" y="3670637"/>
                </a:lnTo>
                <a:lnTo>
                  <a:pt x="1656383" y="3666376"/>
                </a:lnTo>
                <a:lnTo>
                  <a:pt x="1609244" y="3660931"/>
                </a:lnTo>
                <a:lnTo>
                  <a:pt x="1562472" y="3654319"/>
                </a:lnTo>
                <a:lnTo>
                  <a:pt x="1516084" y="3646553"/>
                </a:lnTo>
                <a:lnTo>
                  <a:pt x="1470095" y="3637648"/>
                </a:lnTo>
                <a:lnTo>
                  <a:pt x="1424520" y="3627621"/>
                </a:lnTo>
                <a:lnTo>
                  <a:pt x="1379374" y="3616486"/>
                </a:lnTo>
                <a:lnTo>
                  <a:pt x="1334672" y="3604259"/>
                </a:lnTo>
                <a:lnTo>
                  <a:pt x="1290430" y="3590953"/>
                </a:lnTo>
                <a:lnTo>
                  <a:pt x="1246663" y="3576586"/>
                </a:lnTo>
                <a:lnTo>
                  <a:pt x="1203385" y="3561171"/>
                </a:lnTo>
                <a:lnTo>
                  <a:pt x="1160613" y="3544724"/>
                </a:lnTo>
                <a:lnTo>
                  <a:pt x="1118361" y="3527259"/>
                </a:lnTo>
                <a:lnTo>
                  <a:pt x="1076645" y="3508793"/>
                </a:lnTo>
                <a:lnTo>
                  <a:pt x="1035480" y="3489340"/>
                </a:lnTo>
                <a:lnTo>
                  <a:pt x="994881" y="3468916"/>
                </a:lnTo>
                <a:lnTo>
                  <a:pt x="954863" y="3447535"/>
                </a:lnTo>
                <a:lnTo>
                  <a:pt x="915442" y="3425213"/>
                </a:lnTo>
                <a:lnTo>
                  <a:pt x="876632" y="3401964"/>
                </a:lnTo>
                <a:lnTo>
                  <a:pt x="838450" y="3377804"/>
                </a:lnTo>
                <a:lnTo>
                  <a:pt x="800910" y="3352749"/>
                </a:lnTo>
                <a:lnTo>
                  <a:pt x="764027" y="3326812"/>
                </a:lnTo>
                <a:lnTo>
                  <a:pt x="727817" y="3300010"/>
                </a:lnTo>
                <a:lnTo>
                  <a:pt x="692294" y="3272358"/>
                </a:lnTo>
                <a:lnTo>
                  <a:pt x="657475" y="3243870"/>
                </a:lnTo>
                <a:lnTo>
                  <a:pt x="623374" y="3214561"/>
                </a:lnTo>
                <a:lnTo>
                  <a:pt x="590007" y="3184448"/>
                </a:lnTo>
                <a:lnTo>
                  <a:pt x="557388" y="3153544"/>
                </a:lnTo>
                <a:lnTo>
                  <a:pt x="525533" y="3121866"/>
                </a:lnTo>
                <a:lnTo>
                  <a:pt x="494457" y="3089428"/>
                </a:lnTo>
                <a:lnTo>
                  <a:pt x="464176" y="3056245"/>
                </a:lnTo>
                <a:lnTo>
                  <a:pt x="434705" y="3022333"/>
                </a:lnTo>
                <a:lnTo>
                  <a:pt x="406058" y="2987707"/>
                </a:lnTo>
                <a:lnTo>
                  <a:pt x="378251" y="2952381"/>
                </a:lnTo>
                <a:lnTo>
                  <a:pt x="351300" y="2916372"/>
                </a:lnTo>
                <a:lnTo>
                  <a:pt x="325219" y="2879693"/>
                </a:lnTo>
                <a:lnTo>
                  <a:pt x="300024" y="2842361"/>
                </a:lnTo>
                <a:lnTo>
                  <a:pt x="275730" y="2804390"/>
                </a:lnTo>
                <a:lnTo>
                  <a:pt x="252352" y="2765795"/>
                </a:lnTo>
                <a:lnTo>
                  <a:pt x="229905" y="2726592"/>
                </a:lnTo>
                <a:lnTo>
                  <a:pt x="208405" y="2686796"/>
                </a:lnTo>
                <a:lnTo>
                  <a:pt x="187867" y="2646422"/>
                </a:lnTo>
                <a:lnTo>
                  <a:pt x="168306" y="2605485"/>
                </a:lnTo>
                <a:lnTo>
                  <a:pt x="149737" y="2564000"/>
                </a:lnTo>
                <a:lnTo>
                  <a:pt x="132175" y="2521982"/>
                </a:lnTo>
                <a:lnTo>
                  <a:pt x="115636" y="2479446"/>
                </a:lnTo>
                <a:lnTo>
                  <a:pt x="100135" y="2436409"/>
                </a:lnTo>
                <a:lnTo>
                  <a:pt x="85688" y="2392884"/>
                </a:lnTo>
                <a:lnTo>
                  <a:pt x="72308" y="2348886"/>
                </a:lnTo>
                <a:lnTo>
                  <a:pt x="60013" y="2304432"/>
                </a:lnTo>
                <a:lnTo>
                  <a:pt x="48816" y="2259536"/>
                </a:lnTo>
                <a:lnTo>
                  <a:pt x="38733" y="2214213"/>
                </a:lnTo>
                <a:lnTo>
                  <a:pt x="29779" y="2168479"/>
                </a:lnTo>
                <a:lnTo>
                  <a:pt x="21969" y="2122348"/>
                </a:lnTo>
                <a:lnTo>
                  <a:pt x="15320" y="2075835"/>
                </a:lnTo>
                <a:lnTo>
                  <a:pt x="9845" y="2028957"/>
                </a:lnTo>
                <a:lnTo>
                  <a:pt x="5560" y="1981727"/>
                </a:lnTo>
                <a:lnTo>
                  <a:pt x="2481" y="1934162"/>
                </a:lnTo>
                <a:lnTo>
                  <a:pt x="622" y="1886275"/>
                </a:lnTo>
                <a:lnTo>
                  <a:pt x="0" y="1838083"/>
                </a:lnTo>
                <a:lnTo>
                  <a:pt x="622" y="1789891"/>
                </a:lnTo>
                <a:lnTo>
                  <a:pt x="2481" y="1742004"/>
                </a:lnTo>
                <a:lnTo>
                  <a:pt x="5560" y="1694438"/>
                </a:lnTo>
                <a:lnTo>
                  <a:pt x="9845" y="1647207"/>
                </a:lnTo>
                <a:lnTo>
                  <a:pt x="15320" y="1600329"/>
                </a:lnTo>
                <a:lnTo>
                  <a:pt x="21969" y="1553816"/>
                </a:lnTo>
                <a:lnTo>
                  <a:pt x="29779" y="1507684"/>
                </a:lnTo>
                <a:lnTo>
                  <a:pt x="38733" y="1461950"/>
                </a:lnTo>
                <a:lnTo>
                  <a:pt x="48816" y="1416626"/>
                </a:lnTo>
                <a:lnTo>
                  <a:pt x="60013" y="1371730"/>
                </a:lnTo>
                <a:lnTo>
                  <a:pt x="72308" y="1327275"/>
                </a:lnTo>
                <a:lnTo>
                  <a:pt x="85688" y="1283278"/>
                </a:lnTo>
                <a:lnTo>
                  <a:pt x="100135" y="1239753"/>
                </a:lnTo>
                <a:lnTo>
                  <a:pt x="115636" y="1196715"/>
                </a:lnTo>
                <a:lnTo>
                  <a:pt x="132175" y="1154179"/>
                </a:lnTo>
                <a:lnTo>
                  <a:pt x="149737" y="1112161"/>
                </a:lnTo>
                <a:lnTo>
                  <a:pt x="168306" y="1070676"/>
                </a:lnTo>
                <a:lnTo>
                  <a:pt x="187867" y="1029739"/>
                </a:lnTo>
                <a:lnTo>
                  <a:pt x="208405" y="989365"/>
                </a:lnTo>
                <a:lnTo>
                  <a:pt x="229905" y="949569"/>
                </a:lnTo>
                <a:lnTo>
                  <a:pt x="252352" y="910366"/>
                </a:lnTo>
                <a:lnTo>
                  <a:pt x="275730" y="871771"/>
                </a:lnTo>
                <a:lnTo>
                  <a:pt x="300024" y="833800"/>
                </a:lnTo>
                <a:lnTo>
                  <a:pt x="325219" y="796468"/>
                </a:lnTo>
                <a:lnTo>
                  <a:pt x="351300" y="759789"/>
                </a:lnTo>
                <a:lnTo>
                  <a:pt x="378251" y="723780"/>
                </a:lnTo>
                <a:lnTo>
                  <a:pt x="406058" y="688454"/>
                </a:lnTo>
                <a:lnTo>
                  <a:pt x="434705" y="653828"/>
                </a:lnTo>
                <a:lnTo>
                  <a:pt x="464176" y="619916"/>
                </a:lnTo>
                <a:lnTo>
                  <a:pt x="494457" y="586733"/>
                </a:lnTo>
                <a:lnTo>
                  <a:pt x="525533" y="554295"/>
                </a:lnTo>
                <a:lnTo>
                  <a:pt x="557388" y="522617"/>
                </a:lnTo>
                <a:lnTo>
                  <a:pt x="590007" y="491714"/>
                </a:lnTo>
                <a:lnTo>
                  <a:pt x="623374" y="461601"/>
                </a:lnTo>
                <a:lnTo>
                  <a:pt x="657475" y="432293"/>
                </a:lnTo>
                <a:lnTo>
                  <a:pt x="692294" y="403805"/>
                </a:lnTo>
                <a:lnTo>
                  <a:pt x="727817" y="376152"/>
                </a:lnTo>
                <a:lnTo>
                  <a:pt x="764027" y="349350"/>
                </a:lnTo>
                <a:lnTo>
                  <a:pt x="800910" y="323414"/>
                </a:lnTo>
                <a:lnTo>
                  <a:pt x="838450" y="298359"/>
                </a:lnTo>
                <a:lnTo>
                  <a:pt x="876632" y="274199"/>
                </a:lnTo>
                <a:lnTo>
                  <a:pt x="915442" y="250951"/>
                </a:lnTo>
                <a:lnTo>
                  <a:pt x="954863" y="228629"/>
                </a:lnTo>
                <a:lnTo>
                  <a:pt x="994881" y="207248"/>
                </a:lnTo>
                <a:lnTo>
                  <a:pt x="1035480" y="186824"/>
                </a:lnTo>
                <a:lnTo>
                  <a:pt x="1076645" y="167371"/>
                </a:lnTo>
                <a:lnTo>
                  <a:pt x="1118361" y="148905"/>
                </a:lnTo>
                <a:lnTo>
                  <a:pt x="1160613" y="131441"/>
                </a:lnTo>
                <a:lnTo>
                  <a:pt x="1203385" y="114994"/>
                </a:lnTo>
                <a:lnTo>
                  <a:pt x="1246663" y="99579"/>
                </a:lnTo>
                <a:lnTo>
                  <a:pt x="1290430" y="85212"/>
                </a:lnTo>
                <a:lnTo>
                  <a:pt x="1334672" y="71907"/>
                </a:lnTo>
                <a:lnTo>
                  <a:pt x="1379374" y="59679"/>
                </a:lnTo>
                <a:lnTo>
                  <a:pt x="1424520" y="48544"/>
                </a:lnTo>
                <a:lnTo>
                  <a:pt x="1470095" y="38517"/>
                </a:lnTo>
                <a:lnTo>
                  <a:pt x="1516084" y="29613"/>
                </a:lnTo>
                <a:lnTo>
                  <a:pt x="1562472" y="21847"/>
                </a:lnTo>
                <a:lnTo>
                  <a:pt x="1609244" y="15235"/>
                </a:lnTo>
                <a:lnTo>
                  <a:pt x="1656383" y="9790"/>
                </a:lnTo>
                <a:lnTo>
                  <a:pt x="1703876" y="5530"/>
                </a:lnTo>
                <a:lnTo>
                  <a:pt x="1751706" y="2467"/>
                </a:lnTo>
                <a:lnTo>
                  <a:pt x="1799859" y="619"/>
                </a:lnTo>
                <a:lnTo>
                  <a:pt x="1848319" y="0"/>
                </a:lnTo>
                <a:lnTo>
                  <a:pt x="1896782" y="619"/>
                </a:lnTo>
                <a:lnTo>
                  <a:pt x="1944937" y="2467"/>
                </a:lnTo>
                <a:lnTo>
                  <a:pt x="1992770" y="5530"/>
                </a:lnTo>
                <a:lnTo>
                  <a:pt x="2040265" y="9790"/>
                </a:lnTo>
                <a:lnTo>
                  <a:pt x="2087406" y="15235"/>
                </a:lnTo>
                <a:lnTo>
                  <a:pt x="2134180" y="21847"/>
                </a:lnTo>
                <a:lnTo>
                  <a:pt x="2180569" y="29613"/>
                </a:lnTo>
                <a:lnTo>
                  <a:pt x="2226560" y="38517"/>
                </a:lnTo>
                <a:lnTo>
                  <a:pt x="2272138" y="48544"/>
                </a:lnTo>
                <a:lnTo>
                  <a:pt x="2317285" y="59679"/>
                </a:lnTo>
                <a:lnTo>
                  <a:pt x="2361989" y="71907"/>
                </a:lnTo>
                <a:lnTo>
                  <a:pt x="2406233" y="85212"/>
                </a:lnTo>
                <a:lnTo>
                  <a:pt x="2450002" y="99579"/>
                </a:lnTo>
                <a:lnTo>
                  <a:pt x="2493281" y="114994"/>
                </a:lnTo>
                <a:lnTo>
                  <a:pt x="2536054" y="131441"/>
                </a:lnTo>
                <a:lnTo>
                  <a:pt x="2578307" y="148905"/>
                </a:lnTo>
                <a:lnTo>
                  <a:pt x="2620025" y="167371"/>
                </a:lnTo>
                <a:lnTo>
                  <a:pt x="2661191" y="186824"/>
                </a:lnTo>
                <a:lnTo>
                  <a:pt x="2701791" y="207248"/>
                </a:lnTo>
                <a:lnTo>
                  <a:pt x="2741810" y="228629"/>
                </a:lnTo>
                <a:lnTo>
                  <a:pt x="2781233" y="250951"/>
                </a:lnTo>
                <a:lnTo>
                  <a:pt x="2820043" y="274199"/>
                </a:lnTo>
                <a:lnTo>
                  <a:pt x="2858227" y="298359"/>
                </a:lnTo>
                <a:lnTo>
                  <a:pt x="2895768" y="323414"/>
                </a:lnTo>
                <a:lnTo>
                  <a:pt x="2932652" y="349350"/>
                </a:lnTo>
                <a:lnTo>
                  <a:pt x="2968863" y="376152"/>
                </a:lnTo>
                <a:lnTo>
                  <a:pt x="3004386" y="403805"/>
                </a:lnTo>
                <a:lnTo>
                  <a:pt x="3039206" y="432293"/>
                </a:lnTo>
                <a:lnTo>
                  <a:pt x="3073308" y="461601"/>
                </a:lnTo>
                <a:lnTo>
                  <a:pt x="3106676" y="491714"/>
                </a:lnTo>
                <a:lnTo>
                  <a:pt x="3139295" y="522617"/>
                </a:lnTo>
                <a:lnTo>
                  <a:pt x="3171150" y="554295"/>
                </a:lnTo>
                <a:lnTo>
                  <a:pt x="3202227" y="586733"/>
                </a:lnTo>
                <a:lnTo>
                  <a:pt x="3232508" y="619916"/>
                </a:lnTo>
                <a:lnTo>
                  <a:pt x="3261980" y="653828"/>
                </a:lnTo>
                <a:lnTo>
                  <a:pt x="3290628" y="688454"/>
                </a:lnTo>
                <a:lnTo>
                  <a:pt x="3318435" y="723780"/>
                </a:lnTo>
                <a:lnTo>
                  <a:pt x="3345386" y="759789"/>
                </a:lnTo>
                <a:lnTo>
                  <a:pt x="3371468" y="796468"/>
                </a:lnTo>
                <a:lnTo>
                  <a:pt x="3396663" y="833800"/>
                </a:lnTo>
                <a:lnTo>
                  <a:pt x="3420958" y="871771"/>
                </a:lnTo>
                <a:lnTo>
                  <a:pt x="3444336" y="910366"/>
                </a:lnTo>
                <a:lnTo>
                  <a:pt x="3466783" y="949569"/>
                </a:lnTo>
                <a:lnTo>
                  <a:pt x="3488283" y="989365"/>
                </a:lnTo>
                <a:lnTo>
                  <a:pt x="3508822" y="1029739"/>
                </a:lnTo>
                <a:lnTo>
                  <a:pt x="3528383" y="1070676"/>
                </a:lnTo>
                <a:lnTo>
                  <a:pt x="3546952" y="1112161"/>
                </a:lnTo>
                <a:lnTo>
                  <a:pt x="3564514" y="1154179"/>
                </a:lnTo>
                <a:lnTo>
                  <a:pt x="3581053" y="1196715"/>
                </a:lnTo>
                <a:lnTo>
                  <a:pt x="3596554" y="1239753"/>
                </a:lnTo>
                <a:lnTo>
                  <a:pt x="3611002" y="1283278"/>
                </a:lnTo>
                <a:lnTo>
                  <a:pt x="3624381" y="1327275"/>
                </a:lnTo>
                <a:lnTo>
                  <a:pt x="3636677" y="1371730"/>
                </a:lnTo>
                <a:lnTo>
                  <a:pt x="3647874" y="1416626"/>
                </a:lnTo>
                <a:lnTo>
                  <a:pt x="3657957" y="1461950"/>
                </a:lnTo>
                <a:lnTo>
                  <a:pt x="3666911" y="1507684"/>
                </a:lnTo>
                <a:lnTo>
                  <a:pt x="3674720" y="1553816"/>
                </a:lnTo>
                <a:lnTo>
                  <a:pt x="3681370" y="1600329"/>
                </a:lnTo>
                <a:lnTo>
                  <a:pt x="3686844" y="1647207"/>
                </a:lnTo>
                <a:lnTo>
                  <a:pt x="3691129" y="1694438"/>
                </a:lnTo>
                <a:lnTo>
                  <a:pt x="3694208" y="1742004"/>
                </a:lnTo>
                <a:lnTo>
                  <a:pt x="3696067" y="1789891"/>
                </a:lnTo>
                <a:lnTo>
                  <a:pt x="3696690" y="1838083"/>
                </a:lnTo>
                <a:close/>
              </a:path>
            </a:pathLst>
          </a:custGeom>
          <a:ln w="1484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296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18C812E8-E3AC-41E5-B5D5-8A924FCE5590}"/>
              </a:ext>
            </a:extLst>
          </p:cNvPr>
          <p:cNvSpPr/>
          <p:nvPr/>
        </p:nvSpPr>
        <p:spPr>
          <a:xfrm>
            <a:off x="3462885" y="3051821"/>
            <a:ext cx="712730" cy="4572000"/>
          </a:xfrm>
          <a:custGeom>
            <a:avLst/>
            <a:gdLst/>
            <a:ahLst/>
            <a:cxnLst/>
            <a:rect l="l" t="t" r="r" b="b"/>
            <a:pathLst>
              <a:path w="558800" h="3584575">
                <a:moveTo>
                  <a:pt x="278955" y="3584092"/>
                </a:moveTo>
                <a:lnTo>
                  <a:pt x="558380" y="3103333"/>
                </a:lnTo>
                <a:lnTo>
                  <a:pt x="395211" y="3103283"/>
                </a:lnTo>
                <a:lnTo>
                  <a:pt x="395211" y="481596"/>
                </a:lnTo>
                <a:lnTo>
                  <a:pt x="558380" y="482650"/>
                </a:lnTo>
                <a:lnTo>
                  <a:pt x="282181" y="0"/>
                </a:lnTo>
                <a:lnTo>
                  <a:pt x="0" y="479132"/>
                </a:lnTo>
                <a:lnTo>
                  <a:pt x="163144" y="480174"/>
                </a:lnTo>
                <a:lnTo>
                  <a:pt x="163144" y="3103130"/>
                </a:lnTo>
                <a:lnTo>
                  <a:pt x="0" y="3103079"/>
                </a:lnTo>
                <a:lnTo>
                  <a:pt x="278955" y="3584092"/>
                </a:lnTo>
                <a:close/>
              </a:path>
            </a:pathLst>
          </a:custGeom>
          <a:ln w="1550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7520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나는 어떤 사고</a:t>
            </a:r>
            <a:r>
              <a:rPr lang="en-US" altLang="ko-KR" dirty="0"/>
              <a:t> Style</a:t>
            </a:r>
            <a:r>
              <a:rPr lang="ko-KR" altLang="en-US" dirty="0"/>
              <a:t>을 가지고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4MAT </a:t>
            </a:r>
            <a:r>
              <a:rPr lang="ko-KR" altLang="en-US" dirty="0"/>
              <a:t>기반 기획 </a:t>
            </a:r>
            <a:r>
              <a:rPr lang="en-US" altLang="ko-KR" dirty="0"/>
              <a:t>Cycle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2D62F1-EA79-375F-429F-1867DE24F092}"/>
              </a:ext>
            </a:extLst>
          </p:cNvPr>
          <p:cNvSpPr/>
          <p:nvPr/>
        </p:nvSpPr>
        <p:spPr>
          <a:xfrm>
            <a:off x="1412776" y="2936217"/>
            <a:ext cx="4689438" cy="4715356"/>
          </a:xfrm>
          <a:custGeom>
            <a:avLst/>
            <a:gdLst/>
            <a:ahLst/>
            <a:cxnLst/>
            <a:rect l="l" t="t" r="r" b="b"/>
            <a:pathLst>
              <a:path w="3676650" h="3696970">
                <a:moveTo>
                  <a:pt x="1838070" y="3696703"/>
                </a:moveTo>
                <a:lnTo>
                  <a:pt x="1789878" y="3696080"/>
                </a:lnTo>
                <a:lnTo>
                  <a:pt x="1741992" y="3694221"/>
                </a:lnTo>
                <a:lnTo>
                  <a:pt x="1694427" y="3691142"/>
                </a:lnTo>
                <a:lnTo>
                  <a:pt x="1647197" y="3686857"/>
                </a:lnTo>
                <a:lnTo>
                  <a:pt x="1600319" y="3681382"/>
                </a:lnTo>
                <a:lnTo>
                  <a:pt x="1553806" y="3674733"/>
                </a:lnTo>
                <a:lnTo>
                  <a:pt x="1507675" y="3666923"/>
                </a:lnTo>
                <a:lnTo>
                  <a:pt x="1461941" y="3657970"/>
                </a:lnTo>
                <a:lnTo>
                  <a:pt x="1416618" y="3647887"/>
                </a:lnTo>
                <a:lnTo>
                  <a:pt x="1371722" y="3636690"/>
                </a:lnTo>
                <a:lnTo>
                  <a:pt x="1327268" y="3624394"/>
                </a:lnTo>
                <a:lnTo>
                  <a:pt x="1283271" y="3611014"/>
                </a:lnTo>
                <a:lnTo>
                  <a:pt x="1239746" y="3596566"/>
                </a:lnTo>
                <a:lnTo>
                  <a:pt x="1196709" y="3581065"/>
                </a:lnTo>
                <a:lnTo>
                  <a:pt x="1154174" y="3564526"/>
                </a:lnTo>
                <a:lnTo>
                  <a:pt x="1112156" y="3546965"/>
                </a:lnTo>
                <a:lnTo>
                  <a:pt x="1070671" y="3528395"/>
                </a:lnTo>
                <a:lnTo>
                  <a:pt x="1029734" y="3508834"/>
                </a:lnTo>
                <a:lnTo>
                  <a:pt x="989360" y="3488296"/>
                </a:lnTo>
                <a:lnTo>
                  <a:pt x="949564" y="3466795"/>
                </a:lnTo>
                <a:lnTo>
                  <a:pt x="910362" y="3444348"/>
                </a:lnTo>
                <a:lnTo>
                  <a:pt x="871768" y="3420970"/>
                </a:lnTo>
                <a:lnTo>
                  <a:pt x="833797" y="3396675"/>
                </a:lnTo>
                <a:lnTo>
                  <a:pt x="796465" y="3371480"/>
                </a:lnTo>
                <a:lnTo>
                  <a:pt x="759786" y="3345398"/>
                </a:lnTo>
                <a:lnTo>
                  <a:pt x="723777" y="3318446"/>
                </a:lnTo>
                <a:lnTo>
                  <a:pt x="688452" y="3290639"/>
                </a:lnTo>
                <a:lnTo>
                  <a:pt x="653826" y="3261992"/>
                </a:lnTo>
                <a:lnTo>
                  <a:pt x="619914" y="3232520"/>
                </a:lnTo>
                <a:lnTo>
                  <a:pt x="586732" y="3202238"/>
                </a:lnTo>
                <a:lnTo>
                  <a:pt x="554294" y="3171162"/>
                </a:lnTo>
                <a:lnTo>
                  <a:pt x="522616" y="3139306"/>
                </a:lnTo>
                <a:lnTo>
                  <a:pt x="491713" y="3106687"/>
                </a:lnTo>
                <a:lnTo>
                  <a:pt x="461599" y="3073318"/>
                </a:lnTo>
                <a:lnTo>
                  <a:pt x="432291" y="3039216"/>
                </a:lnTo>
                <a:lnTo>
                  <a:pt x="403804" y="3004396"/>
                </a:lnTo>
                <a:lnTo>
                  <a:pt x="376151" y="2968873"/>
                </a:lnTo>
                <a:lnTo>
                  <a:pt x="349350" y="2932662"/>
                </a:lnTo>
                <a:lnTo>
                  <a:pt x="323414" y="2895778"/>
                </a:lnTo>
                <a:lnTo>
                  <a:pt x="298358" y="2858236"/>
                </a:lnTo>
                <a:lnTo>
                  <a:pt x="274199" y="2820052"/>
                </a:lnTo>
                <a:lnTo>
                  <a:pt x="250951" y="2781242"/>
                </a:lnTo>
                <a:lnTo>
                  <a:pt x="228628" y="2741819"/>
                </a:lnTo>
                <a:lnTo>
                  <a:pt x="207248" y="2701800"/>
                </a:lnTo>
                <a:lnTo>
                  <a:pt x="186824" y="2661199"/>
                </a:lnTo>
                <a:lnTo>
                  <a:pt x="167371" y="2620032"/>
                </a:lnTo>
                <a:lnTo>
                  <a:pt x="148905" y="2578315"/>
                </a:lnTo>
                <a:lnTo>
                  <a:pt x="131441" y="2536061"/>
                </a:lnTo>
                <a:lnTo>
                  <a:pt x="114994" y="2493287"/>
                </a:lnTo>
                <a:lnTo>
                  <a:pt x="99579" y="2450008"/>
                </a:lnTo>
                <a:lnTo>
                  <a:pt x="85212" y="2406239"/>
                </a:lnTo>
                <a:lnTo>
                  <a:pt x="71907" y="2361994"/>
                </a:lnTo>
                <a:lnTo>
                  <a:pt x="59679" y="2317291"/>
                </a:lnTo>
                <a:lnTo>
                  <a:pt x="48544" y="2272142"/>
                </a:lnTo>
                <a:lnTo>
                  <a:pt x="38517" y="2226565"/>
                </a:lnTo>
                <a:lnTo>
                  <a:pt x="29613" y="2180573"/>
                </a:lnTo>
                <a:lnTo>
                  <a:pt x="21847" y="2134183"/>
                </a:lnTo>
                <a:lnTo>
                  <a:pt x="15235" y="2087409"/>
                </a:lnTo>
                <a:lnTo>
                  <a:pt x="9790" y="2040267"/>
                </a:lnTo>
                <a:lnTo>
                  <a:pt x="5530" y="1992772"/>
                </a:lnTo>
                <a:lnTo>
                  <a:pt x="2467" y="1944939"/>
                </a:lnTo>
                <a:lnTo>
                  <a:pt x="619" y="1896783"/>
                </a:lnTo>
                <a:lnTo>
                  <a:pt x="0" y="1848319"/>
                </a:lnTo>
                <a:lnTo>
                  <a:pt x="619" y="1799858"/>
                </a:lnTo>
                <a:lnTo>
                  <a:pt x="2467" y="1751705"/>
                </a:lnTo>
                <a:lnTo>
                  <a:pt x="5530" y="1703874"/>
                </a:lnTo>
                <a:lnTo>
                  <a:pt x="9790" y="1656381"/>
                </a:lnTo>
                <a:lnTo>
                  <a:pt x="15235" y="1609241"/>
                </a:lnTo>
                <a:lnTo>
                  <a:pt x="21847" y="1562469"/>
                </a:lnTo>
                <a:lnTo>
                  <a:pt x="29613" y="1516081"/>
                </a:lnTo>
                <a:lnTo>
                  <a:pt x="38517" y="1470092"/>
                </a:lnTo>
                <a:lnTo>
                  <a:pt x="48544" y="1424516"/>
                </a:lnTo>
                <a:lnTo>
                  <a:pt x="59679" y="1379370"/>
                </a:lnTo>
                <a:lnTo>
                  <a:pt x="71907" y="1334668"/>
                </a:lnTo>
                <a:lnTo>
                  <a:pt x="85212" y="1290425"/>
                </a:lnTo>
                <a:lnTo>
                  <a:pt x="99579" y="1246658"/>
                </a:lnTo>
                <a:lnTo>
                  <a:pt x="114994" y="1203380"/>
                </a:lnTo>
                <a:lnTo>
                  <a:pt x="131441" y="1160608"/>
                </a:lnTo>
                <a:lnTo>
                  <a:pt x="148905" y="1118356"/>
                </a:lnTo>
                <a:lnTo>
                  <a:pt x="167371" y="1076640"/>
                </a:lnTo>
                <a:lnTo>
                  <a:pt x="186824" y="1035474"/>
                </a:lnTo>
                <a:lnTo>
                  <a:pt x="207248" y="994875"/>
                </a:lnTo>
                <a:lnTo>
                  <a:pt x="228628" y="954857"/>
                </a:lnTo>
                <a:lnTo>
                  <a:pt x="250951" y="915436"/>
                </a:lnTo>
                <a:lnTo>
                  <a:pt x="274199" y="876627"/>
                </a:lnTo>
                <a:lnTo>
                  <a:pt x="298358" y="838444"/>
                </a:lnTo>
                <a:lnTo>
                  <a:pt x="323414" y="800904"/>
                </a:lnTo>
                <a:lnTo>
                  <a:pt x="349350" y="764021"/>
                </a:lnTo>
                <a:lnTo>
                  <a:pt x="376151" y="727811"/>
                </a:lnTo>
                <a:lnTo>
                  <a:pt x="403804" y="692289"/>
                </a:lnTo>
                <a:lnTo>
                  <a:pt x="432291" y="657470"/>
                </a:lnTo>
                <a:lnTo>
                  <a:pt x="461599" y="623369"/>
                </a:lnTo>
                <a:lnTo>
                  <a:pt x="491713" y="590002"/>
                </a:lnTo>
                <a:lnTo>
                  <a:pt x="522616" y="557383"/>
                </a:lnTo>
                <a:lnTo>
                  <a:pt x="554294" y="525528"/>
                </a:lnTo>
                <a:lnTo>
                  <a:pt x="586732" y="494453"/>
                </a:lnTo>
                <a:lnTo>
                  <a:pt x="619914" y="464172"/>
                </a:lnTo>
                <a:lnTo>
                  <a:pt x="653826" y="434701"/>
                </a:lnTo>
                <a:lnTo>
                  <a:pt x="688452" y="406054"/>
                </a:lnTo>
                <a:lnTo>
                  <a:pt x="723777" y="378248"/>
                </a:lnTo>
                <a:lnTo>
                  <a:pt x="759786" y="351296"/>
                </a:lnTo>
                <a:lnTo>
                  <a:pt x="796465" y="325216"/>
                </a:lnTo>
                <a:lnTo>
                  <a:pt x="833797" y="300021"/>
                </a:lnTo>
                <a:lnTo>
                  <a:pt x="871768" y="275727"/>
                </a:lnTo>
                <a:lnTo>
                  <a:pt x="910362" y="252349"/>
                </a:lnTo>
                <a:lnTo>
                  <a:pt x="949564" y="229902"/>
                </a:lnTo>
                <a:lnTo>
                  <a:pt x="989360" y="208403"/>
                </a:lnTo>
                <a:lnTo>
                  <a:pt x="1029734" y="187865"/>
                </a:lnTo>
                <a:lnTo>
                  <a:pt x="1070671" y="168304"/>
                </a:lnTo>
                <a:lnTo>
                  <a:pt x="1112156" y="149735"/>
                </a:lnTo>
                <a:lnTo>
                  <a:pt x="1154174" y="132173"/>
                </a:lnTo>
                <a:lnTo>
                  <a:pt x="1196709" y="115635"/>
                </a:lnTo>
                <a:lnTo>
                  <a:pt x="1239746" y="100134"/>
                </a:lnTo>
                <a:lnTo>
                  <a:pt x="1283271" y="85687"/>
                </a:lnTo>
                <a:lnTo>
                  <a:pt x="1327268" y="72307"/>
                </a:lnTo>
                <a:lnTo>
                  <a:pt x="1371722" y="60012"/>
                </a:lnTo>
                <a:lnTo>
                  <a:pt x="1416618" y="48815"/>
                </a:lnTo>
                <a:lnTo>
                  <a:pt x="1461941" y="38732"/>
                </a:lnTo>
                <a:lnTo>
                  <a:pt x="1507675" y="29778"/>
                </a:lnTo>
                <a:lnTo>
                  <a:pt x="1553806" y="21969"/>
                </a:lnTo>
                <a:lnTo>
                  <a:pt x="1600319" y="15320"/>
                </a:lnTo>
                <a:lnTo>
                  <a:pt x="1647197" y="9845"/>
                </a:lnTo>
                <a:lnTo>
                  <a:pt x="1694427" y="5560"/>
                </a:lnTo>
                <a:lnTo>
                  <a:pt x="1741992" y="2481"/>
                </a:lnTo>
                <a:lnTo>
                  <a:pt x="1789878" y="622"/>
                </a:lnTo>
                <a:lnTo>
                  <a:pt x="1838070" y="0"/>
                </a:lnTo>
                <a:lnTo>
                  <a:pt x="1886264" y="622"/>
                </a:lnTo>
                <a:lnTo>
                  <a:pt x="1934151" y="2481"/>
                </a:lnTo>
                <a:lnTo>
                  <a:pt x="1981718" y="5560"/>
                </a:lnTo>
                <a:lnTo>
                  <a:pt x="2028948" y="9845"/>
                </a:lnTo>
                <a:lnTo>
                  <a:pt x="2075828" y="15320"/>
                </a:lnTo>
                <a:lnTo>
                  <a:pt x="2122341" y="21969"/>
                </a:lnTo>
                <a:lnTo>
                  <a:pt x="2168473" y="29778"/>
                </a:lnTo>
                <a:lnTo>
                  <a:pt x="2214208" y="38732"/>
                </a:lnTo>
                <a:lnTo>
                  <a:pt x="2259532" y="48815"/>
                </a:lnTo>
                <a:lnTo>
                  <a:pt x="2304429" y="60012"/>
                </a:lnTo>
                <a:lnTo>
                  <a:pt x="2348884" y="72307"/>
                </a:lnTo>
                <a:lnTo>
                  <a:pt x="2392882" y="85687"/>
                </a:lnTo>
                <a:lnTo>
                  <a:pt x="2436407" y="100134"/>
                </a:lnTo>
                <a:lnTo>
                  <a:pt x="2479446" y="115635"/>
                </a:lnTo>
                <a:lnTo>
                  <a:pt x="2521981" y="132173"/>
                </a:lnTo>
                <a:lnTo>
                  <a:pt x="2564000" y="149735"/>
                </a:lnTo>
                <a:lnTo>
                  <a:pt x="2605485" y="168304"/>
                </a:lnTo>
                <a:lnTo>
                  <a:pt x="2646423" y="187865"/>
                </a:lnTo>
                <a:lnTo>
                  <a:pt x="2686797" y="208403"/>
                </a:lnTo>
                <a:lnTo>
                  <a:pt x="2726594" y="229902"/>
                </a:lnTo>
                <a:lnTo>
                  <a:pt x="2765797" y="252349"/>
                </a:lnTo>
                <a:lnTo>
                  <a:pt x="2804392" y="275727"/>
                </a:lnTo>
                <a:lnTo>
                  <a:pt x="2842363" y="300021"/>
                </a:lnTo>
                <a:lnTo>
                  <a:pt x="2879696" y="325216"/>
                </a:lnTo>
                <a:lnTo>
                  <a:pt x="2916374" y="351296"/>
                </a:lnTo>
                <a:lnTo>
                  <a:pt x="2952384" y="378248"/>
                </a:lnTo>
                <a:lnTo>
                  <a:pt x="2987710" y="406054"/>
                </a:lnTo>
                <a:lnTo>
                  <a:pt x="3022336" y="434701"/>
                </a:lnTo>
                <a:lnTo>
                  <a:pt x="3056249" y="464172"/>
                </a:lnTo>
                <a:lnTo>
                  <a:pt x="3089431" y="494453"/>
                </a:lnTo>
                <a:lnTo>
                  <a:pt x="3121869" y="525528"/>
                </a:lnTo>
                <a:lnTo>
                  <a:pt x="3153548" y="557383"/>
                </a:lnTo>
                <a:lnTo>
                  <a:pt x="3184451" y="590002"/>
                </a:lnTo>
                <a:lnTo>
                  <a:pt x="3214564" y="623369"/>
                </a:lnTo>
                <a:lnTo>
                  <a:pt x="3243873" y="657470"/>
                </a:lnTo>
                <a:lnTo>
                  <a:pt x="3272361" y="692289"/>
                </a:lnTo>
                <a:lnTo>
                  <a:pt x="3300013" y="727811"/>
                </a:lnTo>
                <a:lnTo>
                  <a:pt x="3326815" y="764021"/>
                </a:lnTo>
                <a:lnTo>
                  <a:pt x="3352751" y="800904"/>
                </a:lnTo>
                <a:lnTo>
                  <a:pt x="3377807" y="838444"/>
                </a:lnTo>
                <a:lnTo>
                  <a:pt x="3401966" y="876627"/>
                </a:lnTo>
                <a:lnTo>
                  <a:pt x="3425215" y="915436"/>
                </a:lnTo>
                <a:lnTo>
                  <a:pt x="3447537" y="954857"/>
                </a:lnTo>
                <a:lnTo>
                  <a:pt x="3468918" y="994875"/>
                </a:lnTo>
                <a:lnTo>
                  <a:pt x="3489342" y="1035474"/>
                </a:lnTo>
                <a:lnTo>
                  <a:pt x="3508795" y="1076640"/>
                </a:lnTo>
                <a:lnTo>
                  <a:pt x="3527261" y="1118356"/>
                </a:lnTo>
                <a:lnTo>
                  <a:pt x="3544725" y="1160608"/>
                </a:lnTo>
                <a:lnTo>
                  <a:pt x="3561172" y="1203380"/>
                </a:lnTo>
                <a:lnTo>
                  <a:pt x="3576587" y="1246658"/>
                </a:lnTo>
                <a:lnTo>
                  <a:pt x="3590954" y="1290425"/>
                </a:lnTo>
                <a:lnTo>
                  <a:pt x="3604260" y="1334668"/>
                </a:lnTo>
                <a:lnTo>
                  <a:pt x="3616487" y="1379370"/>
                </a:lnTo>
                <a:lnTo>
                  <a:pt x="3627622" y="1424516"/>
                </a:lnTo>
                <a:lnTo>
                  <a:pt x="3637649" y="1470092"/>
                </a:lnTo>
                <a:lnTo>
                  <a:pt x="3646553" y="1516081"/>
                </a:lnTo>
                <a:lnTo>
                  <a:pt x="3654319" y="1562469"/>
                </a:lnTo>
                <a:lnTo>
                  <a:pt x="3660932" y="1609241"/>
                </a:lnTo>
                <a:lnTo>
                  <a:pt x="3666376" y="1656381"/>
                </a:lnTo>
                <a:lnTo>
                  <a:pt x="3670637" y="1703874"/>
                </a:lnTo>
                <a:lnTo>
                  <a:pt x="3673699" y="1751705"/>
                </a:lnTo>
                <a:lnTo>
                  <a:pt x="3675547" y="1799858"/>
                </a:lnTo>
                <a:lnTo>
                  <a:pt x="3676167" y="1848319"/>
                </a:lnTo>
                <a:lnTo>
                  <a:pt x="3675547" y="1896783"/>
                </a:lnTo>
                <a:lnTo>
                  <a:pt x="3673699" y="1944939"/>
                </a:lnTo>
                <a:lnTo>
                  <a:pt x="3670637" y="1992772"/>
                </a:lnTo>
                <a:lnTo>
                  <a:pt x="3666376" y="2040267"/>
                </a:lnTo>
                <a:lnTo>
                  <a:pt x="3660932" y="2087409"/>
                </a:lnTo>
                <a:lnTo>
                  <a:pt x="3654319" y="2134183"/>
                </a:lnTo>
                <a:lnTo>
                  <a:pt x="3646553" y="2180573"/>
                </a:lnTo>
                <a:lnTo>
                  <a:pt x="3637649" y="2226565"/>
                </a:lnTo>
                <a:lnTo>
                  <a:pt x="3627622" y="2272142"/>
                </a:lnTo>
                <a:lnTo>
                  <a:pt x="3616487" y="2317291"/>
                </a:lnTo>
                <a:lnTo>
                  <a:pt x="3604260" y="2361994"/>
                </a:lnTo>
                <a:lnTo>
                  <a:pt x="3590954" y="2406239"/>
                </a:lnTo>
                <a:lnTo>
                  <a:pt x="3576587" y="2450008"/>
                </a:lnTo>
                <a:lnTo>
                  <a:pt x="3561172" y="2493287"/>
                </a:lnTo>
                <a:lnTo>
                  <a:pt x="3544725" y="2536061"/>
                </a:lnTo>
                <a:lnTo>
                  <a:pt x="3527261" y="2578315"/>
                </a:lnTo>
                <a:lnTo>
                  <a:pt x="3508795" y="2620032"/>
                </a:lnTo>
                <a:lnTo>
                  <a:pt x="3489342" y="2661199"/>
                </a:lnTo>
                <a:lnTo>
                  <a:pt x="3468918" y="2701800"/>
                </a:lnTo>
                <a:lnTo>
                  <a:pt x="3447537" y="2741819"/>
                </a:lnTo>
                <a:lnTo>
                  <a:pt x="3425215" y="2781242"/>
                </a:lnTo>
                <a:lnTo>
                  <a:pt x="3401966" y="2820052"/>
                </a:lnTo>
                <a:lnTo>
                  <a:pt x="3377807" y="2858236"/>
                </a:lnTo>
                <a:lnTo>
                  <a:pt x="3352751" y="2895778"/>
                </a:lnTo>
                <a:lnTo>
                  <a:pt x="3326815" y="2932662"/>
                </a:lnTo>
                <a:lnTo>
                  <a:pt x="3300013" y="2968873"/>
                </a:lnTo>
                <a:lnTo>
                  <a:pt x="3272361" y="3004396"/>
                </a:lnTo>
                <a:lnTo>
                  <a:pt x="3243873" y="3039216"/>
                </a:lnTo>
                <a:lnTo>
                  <a:pt x="3214564" y="3073318"/>
                </a:lnTo>
                <a:lnTo>
                  <a:pt x="3184451" y="3106687"/>
                </a:lnTo>
                <a:lnTo>
                  <a:pt x="3153548" y="3139306"/>
                </a:lnTo>
                <a:lnTo>
                  <a:pt x="3121869" y="3171162"/>
                </a:lnTo>
                <a:lnTo>
                  <a:pt x="3089431" y="3202238"/>
                </a:lnTo>
                <a:lnTo>
                  <a:pt x="3056249" y="3232520"/>
                </a:lnTo>
                <a:lnTo>
                  <a:pt x="3022336" y="3261992"/>
                </a:lnTo>
                <a:lnTo>
                  <a:pt x="2987710" y="3290639"/>
                </a:lnTo>
                <a:lnTo>
                  <a:pt x="2952384" y="3318446"/>
                </a:lnTo>
                <a:lnTo>
                  <a:pt x="2916374" y="3345398"/>
                </a:lnTo>
                <a:lnTo>
                  <a:pt x="2879696" y="3371480"/>
                </a:lnTo>
                <a:lnTo>
                  <a:pt x="2842363" y="3396675"/>
                </a:lnTo>
                <a:lnTo>
                  <a:pt x="2804392" y="3420970"/>
                </a:lnTo>
                <a:lnTo>
                  <a:pt x="2765797" y="3444348"/>
                </a:lnTo>
                <a:lnTo>
                  <a:pt x="2726594" y="3466795"/>
                </a:lnTo>
                <a:lnTo>
                  <a:pt x="2686797" y="3488296"/>
                </a:lnTo>
                <a:lnTo>
                  <a:pt x="2646423" y="3508834"/>
                </a:lnTo>
                <a:lnTo>
                  <a:pt x="2605485" y="3528395"/>
                </a:lnTo>
                <a:lnTo>
                  <a:pt x="2564000" y="3546965"/>
                </a:lnTo>
                <a:lnTo>
                  <a:pt x="2521981" y="3564526"/>
                </a:lnTo>
                <a:lnTo>
                  <a:pt x="2479446" y="3581065"/>
                </a:lnTo>
                <a:lnTo>
                  <a:pt x="2436407" y="3596566"/>
                </a:lnTo>
                <a:lnTo>
                  <a:pt x="2392882" y="3611014"/>
                </a:lnTo>
                <a:lnTo>
                  <a:pt x="2348884" y="3624394"/>
                </a:lnTo>
                <a:lnTo>
                  <a:pt x="2304429" y="3636690"/>
                </a:lnTo>
                <a:lnTo>
                  <a:pt x="2259532" y="3647887"/>
                </a:lnTo>
                <a:lnTo>
                  <a:pt x="2214208" y="3657970"/>
                </a:lnTo>
                <a:lnTo>
                  <a:pt x="2168473" y="3666923"/>
                </a:lnTo>
                <a:lnTo>
                  <a:pt x="2122341" y="3674733"/>
                </a:lnTo>
                <a:lnTo>
                  <a:pt x="2075828" y="3681382"/>
                </a:lnTo>
                <a:lnTo>
                  <a:pt x="2028948" y="3686857"/>
                </a:lnTo>
                <a:lnTo>
                  <a:pt x="1981718" y="3691142"/>
                </a:lnTo>
                <a:lnTo>
                  <a:pt x="1934151" y="3694221"/>
                </a:lnTo>
                <a:lnTo>
                  <a:pt x="1886264" y="3696080"/>
                </a:lnTo>
                <a:lnTo>
                  <a:pt x="1838070" y="3696703"/>
                </a:lnTo>
                <a:close/>
              </a:path>
            </a:pathLst>
          </a:custGeom>
          <a:ln w="1484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EAA0F6DF-DDDB-352E-BBB8-0C9E16AB642E}"/>
              </a:ext>
            </a:extLst>
          </p:cNvPr>
          <p:cNvSpPr/>
          <p:nvPr/>
        </p:nvSpPr>
        <p:spPr>
          <a:xfrm>
            <a:off x="1452544" y="4914301"/>
            <a:ext cx="4572000" cy="712730"/>
          </a:xfrm>
          <a:custGeom>
            <a:avLst/>
            <a:gdLst/>
            <a:ahLst/>
            <a:cxnLst/>
            <a:rect l="l" t="t" r="r" b="b"/>
            <a:pathLst>
              <a:path w="3584575" h="558800">
                <a:moveTo>
                  <a:pt x="0" y="278942"/>
                </a:moveTo>
                <a:lnTo>
                  <a:pt x="480758" y="558393"/>
                </a:lnTo>
                <a:lnTo>
                  <a:pt x="480809" y="395211"/>
                </a:lnTo>
                <a:lnTo>
                  <a:pt x="3102495" y="395211"/>
                </a:lnTo>
                <a:lnTo>
                  <a:pt x="3101454" y="558393"/>
                </a:lnTo>
                <a:lnTo>
                  <a:pt x="3584105" y="282194"/>
                </a:lnTo>
                <a:lnTo>
                  <a:pt x="3104972" y="0"/>
                </a:lnTo>
                <a:lnTo>
                  <a:pt x="3103905" y="163131"/>
                </a:lnTo>
                <a:lnTo>
                  <a:pt x="480987" y="163131"/>
                </a:lnTo>
                <a:lnTo>
                  <a:pt x="481037" y="0"/>
                </a:lnTo>
                <a:lnTo>
                  <a:pt x="0" y="278942"/>
                </a:lnTo>
                <a:close/>
              </a:path>
            </a:pathLst>
          </a:custGeom>
          <a:ln w="1550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6F4C8A47-9110-F44F-CC3E-73EBBB876361}"/>
              </a:ext>
            </a:extLst>
          </p:cNvPr>
          <p:cNvSpPr txBox="1"/>
          <p:nvPr/>
        </p:nvSpPr>
        <p:spPr>
          <a:xfrm>
            <a:off x="4816078" y="4101337"/>
            <a:ext cx="966235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99" marR="6480" algn="ctr"/>
            <a:r>
              <a:rPr sz="1400" spc="-121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Reflective  </a:t>
            </a:r>
            <a:endParaRPr lang="en-US" altLang="ko-KR" sz="1400" spc="-121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algn="ctr"/>
            <a:r>
              <a:rPr sz="1400" spc="-115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Observation  </a:t>
            </a:r>
            <a:endParaRPr lang="en-US" altLang="ko-KR" sz="1400" spc="-115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algn="ctr"/>
            <a:r>
              <a:rPr sz="1400" spc="-140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(Watching)</a:t>
            </a:r>
            <a:endParaRPr sz="1400" dirty="0"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A2E67FF8-EDF2-AE81-B677-F977A823D88B}"/>
              </a:ext>
            </a:extLst>
          </p:cNvPr>
          <p:cNvSpPr txBox="1"/>
          <p:nvPr/>
        </p:nvSpPr>
        <p:spPr>
          <a:xfrm>
            <a:off x="1707085" y="4101337"/>
            <a:ext cx="1484762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99" marR="6480" algn="ctr"/>
            <a:r>
              <a:rPr sz="1400" spc="-102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Active  </a:t>
            </a:r>
            <a:endParaRPr lang="en-US" altLang="ko-KR" sz="1400" spc="-102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algn="ctr"/>
            <a:r>
              <a:rPr sz="1400" spc="-121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Experimentation  </a:t>
            </a:r>
            <a:endParaRPr lang="en-US" altLang="ko-KR" sz="1400" spc="-121" dirty="0">
              <a:solidFill>
                <a:srgbClr val="231F2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16199" marR="6480" algn="ctr"/>
            <a:r>
              <a:rPr sz="1400" spc="-145" dirty="0">
                <a:solidFill>
                  <a:srgbClr val="231F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(Doing)</a:t>
            </a:r>
            <a:endParaRPr sz="1400" dirty="0"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08482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나는 어떤 사고</a:t>
            </a:r>
            <a:r>
              <a:rPr lang="en-US" altLang="ko-KR" dirty="0"/>
              <a:t> Style</a:t>
            </a:r>
            <a:r>
              <a:rPr lang="ko-KR" altLang="en-US" dirty="0"/>
              <a:t>을 가지고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4MAT </a:t>
            </a:r>
            <a:r>
              <a:rPr lang="ko-KR" altLang="en-US" dirty="0"/>
              <a:t>기반 기획 </a:t>
            </a:r>
            <a:r>
              <a:rPr lang="en-US" altLang="ko-KR" dirty="0"/>
              <a:t>Cycle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916891A-DA4A-3D16-4770-1B207F421170}"/>
              </a:ext>
            </a:extLst>
          </p:cNvPr>
          <p:cNvGrpSpPr/>
          <p:nvPr/>
        </p:nvGrpSpPr>
        <p:grpSpPr>
          <a:xfrm>
            <a:off x="1043283" y="3250501"/>
            <a:ext cx="4771433" cy="3802445"/>
            <a:chOff x="1553164" y="905306"/>
            <a:chExt cx="6576404" cy="5240861"/>
          </a:xfrm>
        </p:grpSpPr>
        <p:pic>
          <p:nvPicPr>
            <p:cNvPr id="9" name="Picture 1">
              <a:extLst>
                <a:ext uri="{FF2B5EF4-FFF2-40B4-BE49-F238E27FC236}">
                  <a16:creationId xmlns:a16="http://schemas.microsoft.com/office/drawing/2014/main" id="{9797BF0E-073D-EB64-4B92-B27FC0A24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68233" y="1457314"/>
              <a:ext cx="4228361" cy="4207635"/>
            </a:xfrm>
            <a:prstGeom prst="rect">
              <a:avLst/>
            </a:prstGeom>
          </p:spPr>
        </p:pic>
        <p:sp>
          <p:nvSpPr>
            <p:cNvPr id="10" name="Rectangle 25">
              <a:extLst>
                <a:ext uri="{FF2B5EF4-FFF2-40B4-BE49-F238E27FC236}">
                  <a16:creationId xmlns:a16="http://schemas.microsoft.com/office/drawing/2014/main" id="{C20EA922-6D91-F64B-EE8C-A2045B61E8B9}"/>
                </a:ext>
              </a:extLst>
            </p:cNvPr>
            <p:cNvSpPr/>
            <p:nvPr/>
          </p:nvSpPr>
          <p:spPr>
            <a:xfrm>
              <a:off x="7209188" y="3332945"/>
              <a:ext cx="920380" cy="461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</a:rPr>
                <a:t>Reflecting</a:t>
              </a:r>
            </a:p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숙고</a:t>
              </a:r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endParaRPr lang="en-US" sz="1200" dirty="0">
                <a:solidFill>
                  <a:srgbClr val="000000"/>
                </a:solidFill>
                <a:effectLst/>
                <a:latin typeface="에스코어 드림 4 Regular" panose="020B0503030302020204" pitchFamily="34" charset="-127"/>
              </a:endParaRPr>
            </a:p>
          </p:txBody>
        </p:sp>
        <p:sp>
          <p:nvSpPr>
            <p:cNvPr id="11" name="Rectangle 26">
              <a:extLst>
                <a:ext uri="{FF2B5EF4-FFF2-40B4-BE49-F238E27FC236}">
                  <a16:creationId xmlns:a16="http://schemas.microsoft.com/office/drawing/2014/main" id="{1431A79A-8957-60EE-B515-97649330B839}"/>
                </a:ext>
              </a:extLst>
            </p:cNvPr>
            <p:cNvSpPr/>
            <p:nvPr/>
          </p:nvSpPr>
          <p:spPr>
            <a:xfrm>
              <a:off x="1553164" y="3288469"/>
              <a:ext cx="1432560" cy="461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</a:rPr>
                <a:t>Acting</a:t>
              </a:r>
            </a:p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행동</a:t>
              </a:r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endParaRPr lang="en-US" sz="1200" dirty="0">
                <a:solidFill>
                  <a:srgbClr val="000000"/>
                </a:solidFill>
                <a:effectLst/>
                <a:latin typeface="에스코어 드림 4 Regular" panose="020B0503030302020204" pitchFamily="34" charset="-127"/>
              </a:endParaRPr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BD95ABF-84C6-86CA-5B93-9A0288F785EA}"/>
                </a:ext>
              </a:extLst>
            </p:cNvPr>
            <p:cNvSpPr/>
            <p:nvPr/>
          </p:nvSpPr>
          <p:spPr>
            <a:xfrm>
              <a:off x="4604379" y="905306"/>
              <a:ext cx="69724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</a:rPr>
                <a:t>Feeling</a:t>
              </a:r>
            </a:p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느낌</a:t>
              </a:r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endParaRPr lang="en-US" sz="1200" dirty="0">
                <a:solidFill>
                  <a:srgbClr val="000000"/>
                </a:solidFill>
                <a:effectLst/>
                <a:latin typeface="에스코어 드림 4 Regular" panose="020B0503030302020204" pitchFamily="34" charset="-127"/>
              </a:endParaRPr>
            </a:p>
          </p:txBody>
        </p:sp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1620C1D0-FA9A-474C-FA46-8DD9C4F31032}"/>
                </a:ext>
              </a:extLst>
            </p:cNvPr>
            <p:cNvSpPr/>
            <p:nvPr/>
          </p:nvSpPr>
          <p:spPr>
            <a:xfrm>
              <a:off x="4557700" y="5684503"/>
              <a:ext cx="790601" cy="461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</a:rPr>
                <a:t>Thinking</a:t>
              </a:r>
            </a:p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생각</a:t>
              </a:r>
              <a:r>
                <a:rPr lang="en-US" altLang="ko-KR" sz="1200" dirty="0">
                  <a:solidFill>
                    <a:srgbClr val="0000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endParaRPr lang="en-US" sz="1200" dirty="0">
                <a:solidFill>
                  <a:srgbClr val="000000"/>
                </a:solidFill>
                <a:effectLst/>
                <a:latin typeface="에스코어 드림 4 Regular" panose="020B05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710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기획적</a:t>
            </a:r>
            <a:r>
              <a:rPr lang="ko-KR" altLang="en-US" dirty="0"/>
              <a:t> 사고 </a:t>
            </a:r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4MAT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72807E8-3979-4045-9204-9A492F12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WHY</a:t>
            </a:r>
            <a:br>
              <a:rPr lang="en-US" altLang="ko-KR" dirty="0"/>
            </a:b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프로젝트의 목적과 범위를 명확히 정의하고</a:t>
            </a:r>
            <a:r>
              <a:rPr lang="en-US" altLang="ko-KR" dirty="0"/>
              <a:t>, </a:t>
            </a:r>
            <a:r>
              <a:rPr lang="ko-KR" altLang="en-US" dirty="0"/>
              <a:t>실행 가능성을 검토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프로젝트 목표를 명확히 이해하고 문서화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핵심 이해관계자와 주요 기대사항 정리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프로젝트의 성공 기준 설정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계획서 초안 작성 </a:t>
            </a:r>
            <a:r>
              <a:rPr lang="en-US" altLang="ko-KR" dirty="0"/>
              <a:t>(</a:t>
            </a:r>
            <a:r>
              <a:rPr lang="ko-KR" altLang="en-US" dirty="0"/>
              <a:t>목적</a:t>
            </a:r>
            <a:r>
              <a:rPr lang="en-US" altLang="ko-KR" dirty="0"/>
              <a:t>, </a:t>
            </a:r>
            <a:r>
              <a:rPr lang="ko-KR" altLang="en-US" dirty="0"/>
              <a:t>목표 문서화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ko-KR" altLang="en-US" dirty="0"/>
              <a:t>이해관계자 목록 및 요구사항 정리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9853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기획적</a:t>
            </a:r>
            <a:r>
              <a:rPr lang="ko-KR" altLang="en-US" dirty="0"/>
              <a:t> 사고 </a:t>
            </a:r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4MAT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72807E8-3979-4045-9204-9A492F12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WHAT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프로젝트의 세부 계획을 수립하고</a:t>
            </a:r>
            <a:r>
              <a:rPr lang="en-US" altLang="ko-KR" dirty="0"/>
              <a:t>, </a:t>
            </a:r>
            <a:r>
              <a:rPr lang="ko-KR" altLang="en-US" dirty="0"/>
              <a:t>필요한 자원과 일정 설정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작업 단위</a:t>
            </a:r>
            <a:r>
              <a:rPr lang="en-US" altLang="ko-KR" dirty="0"/>
              <a:t>(Task)</a:t>
            </a:r>
            <a:r>
              <a:rPr lang="ko-KR" altLang="en-US" dirty="0"/>
              <a:t>로 세분화하고 </a:t>
            </a:r>
            <a:r>
              <a:rPr lang="en-US" altLang="ko-KR" dirty="0"/>
              <a:t>Due date </a:t>
            </a:r>
            <a:r>
              <a:rPr lang="ko-KR" altLang="en-US" dirty="0"/>
              <a:t>기반 일정 목표 수립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자원</a:t>
            </a:r>
            <a:r>
              <a:rPr lang="en-US" altLang="ko-KR" dirty="0"/>
              <a:t>(</a:t>
            </a:r>
            <a:r>
              <a:rPr lang="ko-KR" altLang="en-US" dirty="0"/>
              <a:t>인력</a:t>
            </a:r>
            <a:r>
              <a:rPr lang="en-US" altLang="ko-KR" dirty="0"/>
              <a:t>, </a:t>
            </a:r>
            <a:r>
              <a:rPr lang="ko-KR" altLang="en-US" dirty="0"/>
              <a:t>예산</a:t>
            </a:r>
            <a:r>
              <a:rPr lang="en-US" altLang="ko-KR" dirty="0"/>
              <a:t>, </a:t>
            </a:r>
            <a:r>
              <a:rPr lang="ko-KR" altLang="en-US" dirty="0"/>
              <a:t>도구 등</a:t>
            </a:r>
            <a:r>
              <a:rPr lang="en-US" altLang="ko-KR" dirty="0"/>
              <a:t>) </a:t>
            </a:r>
            <a:r>
              <a:rPr lang="ko-KR" altLang="en-US" dirty="0"/>
              <a:t>확인 및 필요시 협조요청 계획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리스크 식별 및 관리 계획 작성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중간 점검 체크포인트 및 완료 목표 설정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전체 프로젝트 일정표 작성 및 공유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자원 및 외부 협조 관련 요소 계획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역할 및 책임 정리와 리스크 관리</a:t>
            </a:r>
          </a:p>
        </p:txBody>
      </p:sp>
    </p:spTree>
    <p:extLst>
      <p:ext uri="{BB962C8B-B14F-4D97-AF65-F5344CB8AC3E}">
        <p14:creationId xmlns:p14="http://schemas.microsoft.com/office/powerpoint/2010/main" val="3600083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4MAT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72807E8-3979-4045-9204-9A492F12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HOW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계획된 작업을 실행하고</a:t>
            </a:r>
            <a:r>
              <a:rPr lang="en-US" altLang="ko-KR" dirty="0"/>
              <a:t>, </a:t>
            </a:r>
            <a:r>
              <a:rPr lang="ko-KR" altLang="en-US" dirty="0"/>
              <a:t>진행 상황을 효율화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지속적 의사소통과 실행 점검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문제 상황 확인과 문제 해결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Quality Control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</a:t>
            </a:r>
            <a:r>
              <a:rPr lang="ko-KR" altLang="en-US" dirty="0"/>
              <a:t>차 결과물 제출 및 피드백 수정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최종 결과물 완성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성과 측정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4E41550-E207-DBCF-3B9C-418CAACF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16" y="841309"/>
            <a:ext cx="5915025" cy="538836"/>
          </a:xfrm>
        </p:spPr>
        <p:txBody>
          <a:bodyPr/>
          <a:lstStyle/>
          <a:p>
            <a:r>
              <a:rPr lang="ko-KR" altLang="en-US" dirty="0" err="1"/>
              <a:t>기획적</a:t>
            </a:r>
            <a:r>
              <a:rPr lang="ko-KR" altLang="en-US" dirty="0"/>
              <a:t> 사고 </a:t>
            </a:r>
            <a:r>
              <a:rPr lang="en-US" altLang="ko-KR" dirty="0"/>
              <a:t>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648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기획적</a:t>
            </a:r>
            <a:r>
              <a:rPr lang="ko-KR" altLang="en-US" dirty="0"/>
              <a:t> 사고 </a:t>
            </a:r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4MAT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72807E8-3979-4045-9204-9A492F12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IF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프로젝트 진행 상황을 </a:t>
            </a:r>
            <a:r>
              <a:rPr lang="en-US" altLang="ko-KR" dirty="0"/>
              <a:t>Reflection</a:t>
            </a:r>
            <a:r>
              <a:rPr lang="ko-KR" altLang="en-US" dirty="0"/>
              <a:t>하며 계획 대비 성과를 점검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ko-KR" altLang="en-US" dirty="0"/>
              <a:t>필요시</a:t>
            </a:r>
            <a:r>
              <a:rPr lang="en-US" altLang="ko-KR" dirty="0"/>
              <a:t>) </a:t>
            </a:r>
            <a:r>
              <a:rPr lang="ko-KR" altLang="en-US" dirty="0"/>
              <a:t>결과 보고서 작성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계획 대비 일정</a:t>
            </a:r>
            <a:r>
              <a:rPr lang="en-US" altLang="ko-KR" dirty="0"/>
              <a:t>, </a:t>
            </a:r>
            <a:r>
              <a:rPr lang="ko-KR" altLang="en-US" dirty="0"/>
              <a:t>자원사용</a:t>
            </a:r>
            <a:r>
              <a:rPr lang="en-US" altLang="ko-KR" dirty="0"/>
              <a:t>, </a:t>
            </a:r>
            <a:r>
              <a:rPr lang="ko-KR" altLang="en-US" dirty="0"/>
              <a:t>결과물 점검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리더나 이해관계자에게 성과 보고</a:t>
            </a:r>
            <a:br>
              <a:rPr lang="ko-KR" altLang="en-US" dirty="0"/>
            </a:b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프로젝트 지속과 새로운 프로젝트 연결성을 위한 </a:t>
            </a:r>
            <a:r>
              <a:rPr lang="en-US" altLang="ko-KR" dirty="0"/>
              <a:t>Idea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Reflection &amp; Celebration</a:t>
            </a:r>
          </a:p>
        </p:txBody>
      </p:sp>
    </p:spTree>
    <p:extLst>
      <p:ext uri="{BB962C8B-B14F-4D97-AF65-F5344CB8AC3E}">
        <p14:creationId xmlns:p14="http://schemas.microsoft.com/office/powerpoint/2010/main" val="3582354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누구를 위한 기획인가</a:t>
            </a:r>
            <a:r>
              <a:rPr lang="en-US" altLang="ko-KR" dirty="0"/>
              <a:t>? </a:t>
            </a:r>
            <a:r>
              <a:rPr lang="ko-KR" altLang="en-US" dirty="0"/>
              <a:t>그리고 어떤 의미가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0E24D-4EDB-1EF8-ECCD-D963EB300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나의 기획은 누구의 관점으로 디자인  되어있는가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기획은 일방향이 아닌 양방향의 소통이 되어야 합니다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770B1-33BE-1B8C-8BA9-879E2C32AE4A}"/>
              </a:ext>
            </a:extLst>
          </p:cNvPr>
          <p:cNvSpPr txBox="1"/>
          <p:nvPr/>
        </p:nvSpPr>
        <p:spPr>
          <a:xfrm>
            <a:off x="3408113" y="4722167"/>
            <a:ext cx="32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&amp;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B3ADE73-C398-81EA-D147-84EA25CA71F6}"/>
              </a:ext>
            </a:extLst>
          </p:cNvPr>
          <p:cNvSpPr/>
          <p:nvPr/>
        </p:nvSpPr>
        <p:spPr>
          <a:xfrm>
            <a:off x="1424882" y="4276118"/>
            <a:ext cx="1598155" cy="15567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4E0B07F-8C92-621E-BE92-9C3EF5359B0D}"/>
              </a:ext>
            </a:extLst>
          </p:cNvPr>
          <p:cNvSpPr/>
          <p:nvPr/>
        </p:nvSpPr>
        <p:spPr>
          <a:xfrm>
            <a:off x="4072504" y="4276118"/>
            <a:ext cx="1598155" cy="1556750"/>
          </a:xfrm>
          <a:prstGeom prst="ellipse">
            <a:avLst/>
          </a:prstGeom>
          <a:solidFill>
            <a:srgbClr val="F41A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A0CCB-F738-0C84-18A5-ACC19735249E}"/>
              </a:ext>
            </a:extLst>
          </p:cNvPr>
          <p:cNvSpPr txBox="1"/>
          <p:nvPr/>
        </p:nvSpPr>
        <p:spPr>
          <a:xfrm>
            <a:off x="4043162" y="4592854"/>
            <a:ext cx="1656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WHY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어떤 욕구를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가지고 있는가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CB21F-E497-4322-8B8F-A121F959566B}"/>
              </a:ext>
            </a:extLst>
          </p:cNvPr>
          <p:cNvSpPr txBox="1"/>
          <p:nvPr/>
        </p:nvSpPr>
        <p:spPr>
          <a:xfrm>
            <a:off x="1506663" y="4568279"/>
            <a:ext cx="1520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WHO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누구와 소통할 것인가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7860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WHO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WHY</a:t>
            </a:r>
            <a:r>
              <a:rPr lang="ko-KR" altLang="en-US" dirty="0"/>
              <a:t>를 파악하기 위한 듣기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0E24D-4EDB-1EF8-ECCD-D963EB300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맥락 읽기 </a:t>
            </a:r>
            <a:r>
              <a:rPr lang="en-US" altLang="ko-KR" dirty="0"/>
              <a:t>– (</a:t>
            </a:r>
            <a:r>
              <a:rPr lang="ko-KR" altLang="en-US" dirty="0"/>
              <a:t>왜 나에게 이런 지시를</a:t>
            </a:r>
            <a:r>
              <a:rPr lang="en-US" altLang="ko-KR" dirty="0"/>
              <a:t>?)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문장 읽기 </a:t>
            </a:r>
            <a:r>
              <a:rPr lang="en-US" altLang="ko-KR" dirty="0"/>
              <a:t>– (</a:t>
            </a:r>
            <a:r>
              <a:rPr lang="ko-KR" altLang="en-US" dirty="0"/>
              <a:t>그래서 무슨 내용</a:t>
            </a:r>
            <a:r>
              <a:rPr lang="en-US" altLang="ko-KR" dirty="0"/>
              <a:t>?)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핵심 영역 정리 </a:t>
            </a:r>
            <a:r>
              <a:rPr lang="en-US" altLang="ko-KR" dirty="0"/>
              <a:t>– (</a:t>
            </a:r>
            <a:r>
              <a:rPr lang="ko-KR" altLang="en-US" dirty="0"/>
              <a:t>핵심적으로 정리하면</a:t>
            </a:r>
            <a:r>
              <a:rPr lang="en-US" altLang="ko-KR" dirty="0"/>
              <a:t>?)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피드백 </a:t>
            </a:r>
            <a:r>
              <a:rPr lang="en-US" altLang="ko-KR" dirty="0"/>
              <a:t>– (</a:t>
            </a:r>
            <a:r>
              <a:rPr lang="ko-KR" altLang="en-US" dirty="0"/>
              <a:t>맞나요</a:t>
            </a:r>
            <a:r>
              <a:rPr lang="en-US" altLang="ko-KR" dirty="0"/>
              <a:t>? </a:t>
            </a:r>
            <a:r>
              <a:rPr lang="ko-KR" altLang="en-US" dirty="0"/>
              <a:t>확인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자기화 </a:t>
            </a:r>
            <a:r>
              <a:rPr lang="en-US" altLang="ko-KR" dirty="0"/>
              <a:t>– (</a:t>
            </a:r>
            <a:r>
              <a:rPr lang="ko-KR" altLang="en-US" dirty="0"/>
              <a:t>어떻게 과제를 수행할 것인가</a:t>
            </a:r>
            <a:r>
              <a:rPr lang="en-US" altLang="ko-KR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3726953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1155-3DE2-D854-DCC8-7546A3B1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5F14A-AE7A-EDB4-B337-7A8C85A9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D9CB31-B3B4-BBFE-6CE2-84E04BFE852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자기화 과정을 위한 핵심 요소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72A432-0A18-A0C2-9835-FCB1B418B2B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3CC725-0C97-018C-0838-1A39F7AD3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목표</a:t>
            </a:r>
            <a:r>
              <a:rPr lang="en-US" altLang="ko-KR" dirty="0"/>
              <a:t>: "</a:t>
            </a:r>
            <a:r>
              <a:rPr lang="ko-KR" altLang="en-US" dirty="0"/>
              <a:t>우리는 무엇을 이루려 하는가</a:t>
            </a:r>
            <a:r>
              <a:rPr lang="en-US" altLang="ko-KR" dirty="0"/>
              <a:t>?"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의미</a:t>
            </a:r>
            <a:r>
              <a:rPr lang="en-US" altLang="ko-KR" dirty="0"/>
              <a:t>: "</a:t>
            </a:r>
            <a:r>
              <a:rPr lang="ko-KR" altLang="en-US" dirty="0"/>
              <a:t>이 프로젝트가 중요한 이유는 무엇인가</a:t>
            </a:r>
            <a:r>
              <a:rPr lang="en-US" altLang="ko-KR" dirty="0"/>
              <a:t>?"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일정</a:t>
            </a:r>
            <a:r>
              <a:rPr lang="en-US" altLang="ko-KR" dirty="0"/>
              <a:t>: "</a:t>
            </a:r>
            <a:r>
              <a:rPr lang="ko-KR" altLang="en-US" dirty="0"/>
              <a:t>우리는 언제까지 이 과정을 완료해야 하는가</a:t>
            </a:r>
            <a:r>
              <a:rPr lang="en-US" altLang="ko-KR" dirty="0"/>
              <a:t>?"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자원</a:t>
            </a:r>
            <a:r>
              <a:rPr lang="en-US" altLang="ko-KR" dirty="0"/>
              <a:t>: "</a:t>
            </a:r>
            <a:r>
              <a:rPr lang="ko-KR" altLang="en-US" dirty="0"/>
              <a:t>우리에게 필요한 자원은 무엇인가</a:t>
            </a:r>
            <a:r>
              <a:rPr lang="en-US" altLang="ko-KR" dirty="0"/>
              <a:t>?"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관계자</a:t>
            </a:r>
            <a:r>
              <a:rPr lang="en-US" altLang="ko-KR" dirty="0"/>
              <a:t>: "</a:t>
            </a:r>
            <a:r>
              <a:rPr lang="ko-KR" altLang="en-US" dirty="0"/>
              <a:t>우리는 누구와 협력하고 소통해야 하는가</a:t>
            </a:r>
            <a:r>
              <a:rPr lang="en-US" altLang="ko-KR" dirty="0"/>
              <a:t>?" </a:t>
            </a:r>
          </a:p>
        </p:txBody>
      </p:sp>
    </p:spTree>
    <p:extLst>
      <p:ext uri="{BB962C8B-B14F-4D97-AF65-F5344CB8AC3E}">
        <p14:creationId xmlns:p14="http://schemas.microsoft.com/office/powerpoint/2010/main" val="1457006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기획의 핵심 컨셉은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1AE02110-C7F0-BA06-93B1-0050E617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나의 기획을 한 마디로 요약하면 어떻게 표현 할 수 있을까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Pain Point </a:t>
            </a:r>
            <a:r>
              <a:rPr lang="ko-KR" altLang="en-US" dirty="0"/>
              <a:t>발견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Story Telling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Contents</a:t>
            </a:r>
            <a:r>
              <a:rPr lang="ko-KR" altLang="en-US" dirty="0"/>
              <a:t>를 포함하는 전체 내용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주제와 연결된 공감 되는 이야기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몰입과 흥미를  불러일으키는 내용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0532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기획의 구조는 어떻게 구성되는가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B2DF5D0B-B128-CE9C-8272-83979CDAD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97733"/>
              </p:ext>
            </p:extLst>
          </p:nvPr>
        </p:nvGraphicFramePr>
        <p:xfrm>
          <a:off x="779342" y="2824314"/>
          <a:ext cx="5599572" cy="56692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63458">
                  <a:extLst>
                    <a:ext uri="{9D8B030D-6E8A-4147-A177-3AD203B41FA5}">
                      <a16:colId xmlns:a16="http://schemas.microsoft.com/office/drawing/2014/main" val="2989362061"/>
                    </a:ext>
                  </a:extLst>
                </a:gridCol>
                <a:gridCol w="4536114">
                  <a:extLst>
                    <a:ext uri="{9D8B030D-6E8A-4147-A177-3AD203B41FA5}">
                      <a16:colId xmlns:a16="http://schemas.microsoft.com/office/drawing/2014/main" val="3377573196"/>
                    </a:ext>
                  </a:extLst>
                </a:gridCol>
              </a:tblGrid>
              <a:tr h="1121809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WHY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  <a:p>
                      <a:pPr algn="ctr" latinLnBrk="1"/>
                      <a:r>
                        <a:rPr lang="ko-KR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배경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buFontTx/>
                        <a:buChar char="-"/>
                      </a:pPr>
                      <a:r>
                        <a:rPr lang="en-US" sz="1200" kern="100" dirty="0">
                          <a:effectLst/>
                        </a:rPr>
                        <a:t>(IDEA) </a:t>
                      </a:r>
                      <a:r>
                        <a:rPr lang="ko-KR" altLang="en-US" sz="1200" kern="100" dirty="0">
                          <a:effectLst/>
                        </a:rPr>
                        <a:t>다루려는 아이디어는 무엇인가요</a:t>
                      </a:r>
                      <a:r>
                        <a:rPr lang="en-US" altLang="ko-KR" sz="1200" kern="100" dirty="0">
                          <a:effectLst/>
                        </a:rPr>
                        <a:t>?</a:t>
                      </a: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endParaRPr lang="en-US" sz="1200" kern="100" dirty="0">
                        <a:effectLst/>
                      </a:endParaRP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endParaRPr lang="en-US" sz="1200" kern="100" dirty="0">
                        <a:effectLst/>
                      </a:endParaRP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r>
                        <a:rPr lang="en-US" sz="1200" kern="100" dirty="0">
                          <a:effectLst/>
                        </a:rPr>
                        <a:t>(Target)</a:t>
                      </a:r>
                      <a:r>
                        <a:rPr lang="ko-KR" sz="1200" kern="100" dirty="0">
                          <a:effectLst/>
                        </a:rPr>
                        <a:t>누구를 위한 것인가요</a:t>
                      </a:r>
                      <a:r>
                        <a:rPr lang="en-US" sz="1200" kern="100" dirty="0">
                          <a:effectLst/>
                        </a:rPr>
                        <a:t>?</a:t>
                      </a: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endParaRPr lang="en-US" sz="1200" kern="100" dirty="0">
                        <a:effectLst/>
                      </a:endParaRP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endParaRPr lang="en-US" sz="1200" kern="100" dirty="0">
                        <a:effectLst/>
                      </a:endParaRP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r>
                        <a:rPr lang="en-US" sz="1200" kern="100" dirty="0">
                          <a:effectLst/>
                        </a:rPr>
                        <a:t>(Right Problem)</a:t>
                      </a:r>
                      <a:r>
                        <a:rPr lang="ko-KR" sz="1200" kern="100" dirty="0">
                          <a:effectLst/>
                        </a:rPr>
                        <a:t>대상에게 어떤 필요</a:t>
                      </a:r>
                      <a:r>
                        <a:rPr lang="en-US" sz="1200" kern="100" dirty="0">
                          <a:effectLst/>
                        </a:rPr>
                        <a:t>, </a:t>
                      </a:r>
                      <a:r>
                        <a:rPr lang="ko-KR" sz="1200" kern="100" dirty="0">
                          <a:effectLst/>
                        </a:rPr>
                        <a:t>또는 의미가 있나요</a:t>
                      </a:r>
                      <a:r>
                        <a:rPr lang="en-US" sz="1200" kern="100" dirty="0">
                          <a:effectLst/>
                        </a:rPr>
                        <a:t>?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 </a:t>
                      </a:r>
                    </a:p>
                    <a:p>
                      <a:pPr algn="just" latinLnBrk="1"/>
                      <a:endParaRPr lang="en-KR" sz="1200" kern="100" dirty="0">
                        <a:effectLst/>
                        <a:latin typeface="Noto Sans CJK KR Regular" panose="020B0500000000000000" pitchFamily="34" charset="-128"/>
                        <a:ea typeface="Noto Sans CJK KR Regular" panose="020B05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3706248"/>
                  </a:ext>
                </a:extLst>
              </a:tr>
              <a:tr h="1109779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WHAT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  <a:p>
                      <a:pPr algn="ctr" latinLnBrk="1"/>
                      <a:r>
                        <a:rPr lang="ko-KR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내용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buFontTx/>
                        <a:buChar char="-"/>
                      </a:pPr>
                      <a:endParaRPr lang="en-KR" sz="1200" kern="100" dirty="0">
                        <a:effectLst/>
                      </a:endParaRP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r>
                        <a:rPr lang="en-US" sz="1200" kern="100" dirty="0">
                          <a:effectLst/>
                        </a:rPr>
                        <a:t>(So what) </a:t>
                      </a:r>
                      <a:r>
                        <a:rPr lang="ko-KR" altLang="en-US" sz="1200" kern="100" dirty="0">
                          <a:effectLst/>
                        </a:rPr>
                        <a:t>그래서 뭘 해야 하나요</a:t>
                      </a:r>
                      <a:r>
                        <a:rPr lang="en-US" sz="1200" kern="100" dirty="0">
                          <a:effectLst/>
                        </a:rPr>
                        <a:t>?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endParaRPr lang="en-US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marL="11113" lvl="0" indent="-11113" algn="just" latinLnBrk="1">
                        <a:buFont typeface="Batang" panose="02030600000101010101" pitchFamily="18" charset="-127"/>
                        <a:buChar char="-"/>
                        <a:tabLst/>
                      </a:pP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  <a:latin typeface="Noto Sans CJK KR Regular" panose="020B0500000000000000" pitchFamily="34" charset="-128"/>
                        <a:ea typeface="Noto Sans CJK KR Regular" panose="020B05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4163407"/>
                  </a:ext>
                </a:extLst>
              </a:tr>
              <a:tr h="1009402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HOW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  <a:p>
                      <a:pPr algn="ctr" latinLnBrk="1"/>
                      <a:r>
                        <a:rPr lang="ko-KR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방안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buFontTx/>
                        <a:buChar char="-"/>
                      </a:pPr>
                      <a:endParaRPr lang="en-US" sz="1200" kern="100" dirty="0">
                        <a:effectLst/>
                      </a:endParaRP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r>
                        <a:rPr lang="en-US" sz="1200" kern="100" dirty="0">
                          <a:effectLst/>
                        </a:rPr>
                        <a:t>(5W</a:t>
                      </a:r>
                      <a:r>
                        <a:rPr lang="en-US" altLang="ko-KR" sz="1200" kern="100" dirty="0">
                          <a:effectLst/>
                        </a:rPr>
                        <a:t>1H</a:t>
                      </a:r>
                      <a:r>
                        <a:rPr lang="en-US" sz="1200" kern="100" dirty="0">
                          <a:effectLst/>
                        </a:rPr>
                        <a:t>) </a:t>
                      </a:r>
                      <a:r>
                        <a:rPr lang="ko-KR" sz="1200" kern="100" dirty="0">
                          <a:effectLst/>
                        </a:rPr>
                        <a:t>구체적으로 어떻게 할 것인가요</a:t>
                      </a:r>
                      <a:r>
                        <a:rPr lang="en-US" altLang="ko-KR" sz="1200" kern="100" dirty="0">
                          <a:effectLst/>
                        </a:rPr>
                        <a:t>?</a:t>
                      </a:r>
                    </a:p>
                    <a:p>
                      <a:pPr marL="0" indent="0" algn="just" latinLnBrk="1">
                        <a:buFontTx/>
                        <a:buNone/>
                      </a:pPr>
                      <a:r>
                        <a:rPr lang="ko-KR" altLang="en-US" sz="1200" kern="100" dirty="0">
                          <a:effectLst/>
                        </a:rPr>
                        <a:t>   누가</a:t>
                      </a:r>
                      <a:r>
                        <a:rPr lang="en-US" altLang="ko-KR" sz="1200" kern="100" dirty="0">
                          <a:effectLst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</a:rPr>
                        <a:t>무엇을</a:t>
                      </a:r>
                      <a:r>
                        <a:rPr lang="en-US" altLang="ko-KR" sz="1200" kern="100" dirty="0">
                          <a:effectLst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</a:rPr>
                        <a:t>언제</a:t>
                      </a: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ko-KR" sz="1200" kern="100" dirty="0">
                          <a:effectLst/>
                        </a:rPr>
                        <a:t>어디서</a:t>
                      </a: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ko-KR" sz="1200" kern="100" dirty="0">
                          <a:effectLst/>
                        </a:rPr>
                        <a:t>왜</a:t>
                      </a:r>
                      <a:r>
                        <a:rPr lang="en-US" altLang="ko-KR" sz="1200" kern="100" dirty="0">
                          <a:effectLst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</a:rPr>
                        <a:t>어떻게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  <a:latin typeface="Noto Sans CJK KR Regular" panose="020B0500000000000000" pitchFamily="34" charset="-128"/>
                        <a:ea typeface="Noto Sans CJK KR Regular" panose="020B05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243018"/>
                  </a:ext>
                </a:extLst>
              </a:tr>
              <a:tr h="1121809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IF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  <a:p>
                      <a:pPr algn="ctr" latinLnBrk="1"/>
                      <a:r>
                        <a:rPr lang="ko-KR" sz="1600" b="1" i="0" kern="100" dirty="0">
                          <a:effectLst/>
                          <a:latin typeface="S-Core Dream 6 Bold" panose="020B0503030302020204" pitchFamily="34" charset="-127"/>
                          <a:ea typeface="S-Core Dream 6 Bold" panose="020B0503030302020204" pitchFamily="34" charset="-127"/>
                        </a:rPr>
                        <a:t>효과</a:t>
                      </a:r>
                      <a:endParaRPr lang="en-KR" sz="1600" b="1" i="0" kern="100" dirty="0">
                        <a:effectLst/>
                        <a:latin typeface="S-Core Dream 6 Bold" panose="020B0503030302020204" pitchFamily="34" charset="-127"/>
                        <a:ea typeface="S-Core Dream 6 Bold" panose="020B05030303020202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buFontTx/>
                        <a:buChar char="-"/>
                      </a:pPr>
                      <a:endParaRPr lang="en-KR" sz="1200" kern="100" dirty="0">
                        <a:effectLst/>
                      </a:endParaRPr>
                    </a:p>
                    <a:p>
                      <a:pPr marL="171450" indent="-171450" algn="just" latinLnBrk="1">
                        <a:buFontTx/>
                        <a:buChar char="-"/>
                      </a:pPr>
                      <a:r>
                        <a:rPr lang="en-US" sz="1200" kern="100" dirty="0">
                          <a:effectLst/>
                        </a:rPr>
                        <a:t>(Expectation) </a:t>
                      </a:r>
                      <a:r>
                        <a:rPr lang="ko-KR" sz="1200" kern="100" dirty="0">
                          <a:effectLst/>
                        </a:rPr>
                        <a:t>기대하는 효과는 어떤 건가요</a:t>
                      </a:r>
                      <a:r>
                        <a:rPr lang="en-US" sz="1200" kern="100" dirty="0">
                          <a:effectLst/>
                        </a:rPr>
                        <a:t>?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</a:endParaRPr>
                    </a:p>
                    <a:p>
                      <a:pPr algn="just" latinLnBrk="1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KR" sz="1200" kern="100" dirty="0">
                        <a:effectLst/>
                        <a:latin typeface="Noto Sans CJK KR Regular" panose="020B0500000000000000" pitchFamily="34" charset="-128"/>
                        <a:ea typeface="Noto Sans CJK KR Regular" panose="020B05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218" marR="6821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5675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690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프로그램</a:t>
            </a:r>
            <a:r>
              <a:rPr lang="en-US" altLang="ko-KR" dirty="0"/>
              <a:t> </a:t>
            </a:r>
            <a:r>
              <a:rPr lang="ko-KR" altLang="en-US" dirty="0"/>
              <a:t>진행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0E24D-4EDB-1EF8-ECCD-D963EB300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핵심 문제 발견을 위한 기술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1. How Might We Statement </a:t>
            </a:r>
          </a:p>
          <a:p>
            <a:pPr>
              <a:lnSpc>
                <a:spcPct val="150000"/>
              </a:lnSpc>
            </a:pPr>
            <a:r>
              <a:rPr lang="ko-KR" altLang="en-US" dirty="0" err="1"/>
              <a:t>디자인씽킹에서</a:t>
            </a:r>
            <a:r>
              <a:rPr lang="ko-KR" altLang="en-US" dirty="0"/>
              <a:t> 활용하고 수많은 상황에서 문제 정의를 위해 활용되는 질문입니다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우리가 어떻게 하면 </a:t>
            </a:r>
            <a:r>
              <a:rPr lang="en-US" altLang="ko-KR" dirty="0"/>
              <a:t>(</a:t>
            </a:r>
            <a:r>
              <a:rPr lang="ko-KR" altLang="en-US" dirty="0"/>
              <a:t>누구</a:t>
            </a:r>
            <a:r>
              <a:rPr lang="en-US" altLang="ko-KR" dirty="0"/>
              <a:t>)</a:t>
            </a:r>
            <a:r>
              <a:rPr lang="ko-KR" altLang="en-US" dirty="0"/>
              <a:t>를 위한 기존의 </a:t>
            </a:r>
            <a:r>
              <a:rPr lang="en-US" altLang="ko-KR" dirty="0"/>
              <a:t>(</a:t>
            </a:r>
            <a:r>
              <a:rPr lang="ko-KR" altLang="en-US" dirty="0"/>
              <a:t>주제</a:t>
            </a:r>
            <a:r>
              <a:rPr lang="en-US" altLang="ko-KR" dirty="0"/>
              <a:t>)</a:t>
            </a:r>
            <a:r>
              <a:rPr lang="ko-KR" altLang="en-US" dirty="0"/>
              <a:t>를 보다 </a:t>
            </a:r>
            <a:r>
              <a:rPr lang="en-US" altLang="ko-KR" dirty="0"/>
              <a:t>(</a:t>
            </a:r>
            <a:r>
              <a:rPr lang="ko-KR" altLang="en-US" dirty="0"/>
              <a:t>방향성</a:t>
            </a:r>
            <a:r>
              <a:rPr lang="en-US" altLang="ko-KR" dirty="0"/>
              <a:t>) </a:t>
            </a:r>
            <a:r>
              <a:rPr lang="ko-KR" altLang="en-US" dirty="0"/>
              <a:t>할 것인가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문제를 가장 쉽게 정리하는 방식은 이 문제가 해결된 이상적인 상태에 대한 이미지를 가지고 있고 이와 비교한 현 상태의 차</a:t>
            </a:r>
            <a:r>
              <a:rPr lang="en-US" altLang="ko-KR" dirty="0"/>
              <a:t>1</a:t>
            </a:r>
            <a:r>
              <a:rPr lang="ko-KR" altLang="en-US" dirty="0"/>
              <a:t>이를 분석하는 것입니다</a:t>
            </a:r>
            <a:r>
              <a:rPr lang="en-US" altLang="ko-KR" dirty="0"/>
              <a:t>. </a:t>
            </a:r>
            <a:r>
              <a:rPr lang="ko-KR" altLang="en-US" dirty="0"/>
              <a:t>이를 위한 </a:t>
            </a:r>
            <a:r>
              <a:rPr lang="en-US" altLang="ko-KR" dirty="0"/>
              <a:t>Problem Templet</a:t>
            </a:r>
            <a:r>
              <a:rPr lang="ko-KR" altLang="en-US" dirty="0"/>
              <a:t>를 활용하면 더욱 쉽고 빠르게 문제를 정의할 수 있습니다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__________________ </a:t>
            </a:r>
            <a:r>
              <a:rPr lang="ko-KR" altLang="en-US" dirty="0"/>
              <a:t>이 필요한데 </a:t>
            </a:r>
            <a:r>
              <a:rPr lang="en-US" altLang="ko-KR" dirty="0"/>
              <a:t>(</a:t>
            </a:r>
            <a:r>
              <a:rPr lang="ko-KR" altLang="en-US" dirty="0"/>
              <a:t>사용자의 필요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__________________ </a:t>
            </a:r>
            <a:r>
              <a:rPr lang="ko-KR" altLang="en-US" dirty="0"/>
              <a:t>의 문제로 인해 </a:t>
            </a:r>
            <a:r>
              <a:rPr lang="en-US" altLang="ko-KR" dirty="0"/>
              <a:t>(</a:t>
            </a:r>
            <a:r>
              <a:rPr lang="ko-KR" altLang="en-US" dirty="0"/>
              <a:t>필요 충족을 저해하는 요인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__________________ </a:t>
            </a:r>
            <a:r>
              <a:rPr lang="ko-KR" altLang="en-US" dirty="0"/>
              <a:t>다 </a:t>
            </a:r>
            <a:r>
              <a:rPr lang="en-US" altLang="ko-KR" dirty="0"/>
              <a:t>(</a:t>
            </a:r>
            <a:r>
              <a:rPr lang="ko-KR" altLang="en-US" dirty="0"/>
              <a:t>사용자가 직접적으로 경험한 불편함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 Meaning Matrix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현상적인 이유를 찾는 것을 넘어 그 이상의 의미를 발견하는 질문입니다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어떤 의미가 있나요</a:t>
            </a:r>
            <a:r>
              <a:rPr lang="en-US" altLang="ko-KR" dirty="0"/>
              <a:t>? </a:t>
            </a:r>
            <a:r>
              <a:rPr lang="ko-KR" altLang="en-US" dirty="0"/>
              <a:t>어떻게 중요한가요</a:t>
            </a:r>
            <a:r>
              <a:rPr lang="en-US" altLang="ko-KR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8430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프로그램</a:t>
            </a:r>
            <a:r>
              <a:rPr lang="en-US" altLang="ko-KR" dirty="0"/>
              <a:t> </a:t>
            </a:r>
            <a:r>
              <a:rPr lang="ko-KR" altLang="en-US" dirty="0"/>
              <a:t>진행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0E24D-4EDB-1EF8-ECCD-D963EB300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핵심 문제 발견을 위한 기술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4. Essential</a:t>
            </a:r>
            <a:r>
              <a:rPr lang="ko-KR" altLang="en-US" dirty="0"/>
              <a:t> </a:t>
            </a:r>
            <a:r>
              <a:rPr lang="en-US" altLang="ko-KR" dirty="0"/>
              <a:t>Question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좋은 질문이 좋은 기획력을 만들 수 있습니다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1) </a:t>
            </a:r>
            <a:r>
              <a:rPr lang="ko-KR" altLang="en-US" dirty="0"/>
              <a:t>상황을 넓게 바라볼 수 있는 질문 </a:t>
            </a:r>
            <a:r>
              <a:rPr lang="en-US" altLang="ko-KR" dirty="0"/>
              <a:t>(</a:t>
            </a:r>
            <a:r>
              <a:rPr lang="ko-KR" altLang="en-US" dirty="0"/>
              <a:t>고정된 시각을 확장하는 질문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2) </a:t>
            </a:r>
            <a:r>
              <a:rPr lang="ko-KR" altLang="en-US" dirty="0"/>
              <a:t>다른 관점으로 바라볼 수 있게 돕는 질문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3) </a:t>
            </a:r>
            <a:r>
              <a:rPr lang="ko-KR" altLang="en-US" dirty="0"/>
              <a:t>문제를 깊게 바라볼 수 있게 돕는 질문 </a:t>
            </a:r>
            <a:r>
              <a:rPr lang="en-US" altLang="ko-KR" dirty="0"/>
              <a:t>(</a:t>
            </a:r>
            <a:r>
              <a:rPr lang="ko-KR" altLang="en-US" dirty="0"/>
              <a:t>현상에서 이면의 메시지로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4) </a:t>
            </a:r>
            <a:r>
              <a:rPr lang="ko-KR" altLang="en-US" dirty="0"/>
              <a:t>깨달음을 줄 수 있는 질문 </a:t>
            </a:r>
            <a:r>
              <a:rPr lang="en-US" altLang="ko-KR" dirty="0"/>
              <a:t>(</a:t>
            </a:r>
            <a:r>
              <a:rPr lang="ko-KR" altLang="en-US" dirty="0"/>
              <a:t>질문을 통한 메시지  전달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5) </a:t>
            </a:r>
            <a:r>
              <a:rPr lang="ko-KR" altLang="en-US" dirty="0"/>
              <a:t>구체화 과정을 돕는 질문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6769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보고서 작성 </a:t>
            </a:r>
            <a:r>
              <a:rPr lang="en-US" altLang="ko-KR" dirty="0"/>
              <a:t>Tip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0E24D-4EDB-1EF8-ECCD-D963EB300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상황을 그대로 알리는 것에 목적 </a:t>
            </a:r>
            <a:r>
              <a:rPr lang="en-US" altLang="ko-KR" dirty="0"/>
              <a:t>(</a:t>
            </a:r>
            <a:r>
              <a:rPr lang="ko-KR" altLang="en-US" dirty="0"/>
              <a:t>추측 </a:t>
            </a:r>
            <a:r>
              <a:rPr lang="en-US" altLang="ko-KR" dirty="0"/>
              <a:t>x </a:t>
            </a:r>
            <a:r>
              <a:rPr lang="ko-KR" altLang="en-US" dirty="0"/>
              <a:t>객관성 정확성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~</a:t>
            </a:r>
            <a:r>
              <a:rPr lang="ko-KR" altLang="en-US" dirty="0"/>
              <a:t>로 생각된다</a:t>
            </a:r>
            <a:r>
              <a:rPr lang="en-US" altLang="ko-KR" dirty="0"/>
              <a:t>. ~</a:t>
            </a:r>
            <a:r>
              <a:rPr lang="ko-KR" altLang="en-US" dirty="0"/>
              <a:t>일 것이다</a:t>
            </a:r>
            <a:r>
              <a:rPr lang="en-US" altLang="ko-KR" dirty="0"/>
              <a:t>. </a:t>
            </a:r>
            <a:r>
              <a:rPr lang="ko-KR" altLang="en-US" dirty="0"/>
              <a:t>등의 추측을 넣지 않기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상황에 따른 자신의 주관을 구분하여 적어라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ko-KR" altLang="en-US" dirty="0"/>
              <a:t>비판을 적으면 대안도 함께 적어라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긴 문장보다는 구조화가 더 효과적이다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ko-KR" altLang="en-US" dirty="0"/>
              <a:t>필요시 단락별 제목도 좋다</a:t>
            </a:r>
            <a:r>
              <a:rPr lang="en-US" altLang="ko-KR" dirty="0"/>
              <a:t>)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보고서를 통해 자신의 역량을 드러내라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9525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기획안 작성 </a:t>
            </a:r>
            <a:r>
              <a:rPr lang="en-US" altLang="ko-KR" dirty="0"/>
              <a:t>Tip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0E24D-4EDB-1EF8-ECCD-D963EB300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기획안은 명확한 목표와 구체적 실행방안 정리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왜 프로젝트가 필요한지에 대한 공감을 불러일으킬 수 있는 당위성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프로젝트의 명확한 목표 및 예상 결과 </a:t>
            </a:r>
            <a:r>
              <a:rPr lang="en-US" altLang="ko-KR" dirty="0"/>
              <a:t>(</a:t>
            </a:r>
            <a:r>
              <a:rPr lang="ko-KR" altLang="en-US" dirty="0"/>
              <a:t>설득가능한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실현 가능하고 효과적인 아이디어 및 논리적 근거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목표를 달성하기 위한 자원 및 구체적 실시 계획 </a:t>
            </a:r>
            <a:r>
              <a:rPr lang="en-US" altLang="ko-KR" dirty="0"/>
              <a:t>(</a:t>
            </a:r>
            <a:r>
              <a:rPr lang="ko-KR" altLang="en-US" dirty="0"/>
              <a:t>일정</a:t>
            </a:r>
            <a:r>
              <a:rPr lang="en-US" altLang="ko-KR" dirty="0"/>
              <a:t>, </a:t>
            </a:r>
            <a:r>
              <a:rPr lang="ko-KR" altLang="en-US" dirty="0"/>
              <a:t>담당</a:t>
            </a:r>
            <a:r>
              <a:rPr lang="en-US" altLang="ko-KR" dirty="0"/>
              <a:t>, </a:t>
            </a:r>
            <a:r>
              <a:rPr lang="ko-KR" altLang="en-US" dirty="0"/>
              <a:t>방법</a:t>
            </a:r>
            <a:r>
              <a:rPr lang="en-US" altLang="ko-KR" dirty="0"/>
              <a:t>, </a:t>
            </a:r>
            <a:r>
              <a:rPr lang="ko-KR" altLang="en-US" dirty="0"/>
              <a:t>예산 등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전체를 보여줄 수 있는 하나의 컨셉 잡기</a:t>
            </a:r>
          </a:p>
        </p:txBody>
      </p:sp>
    </p:spTree>
    <p:extLst>
      <p:ext uri="{BB962C8B-B14F-4D97-AF65-F5344CB8AC3E}">
        <p14:creationId xmlns:p14="http://schemas.microsoft.com/office/powerpoint/2010/main" val="2591981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29EC-09C3-492D-991E-D063BF9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 기술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78FBD3-A0C3-4766-AE57-863DDFC254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89D379-58FC-411B-8AAE-26561180741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678792-6F03-63FD-A078-EDDAE981417D}"/>
              </a:ext>
            </a:extLst>
          </p:cNvPr>
          <p:cNvSpPr/>
          <p:nvPr/>
        </p:nvSpPr>
        <p:spPr>
          <a:xfrm>
            <a:off x="136528" y="2607289"/>
            <a:ext cx="1260000" cy="6546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나는</a:t>
            </a:r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어떤</a:t>
            </a:r>
            <a:endParaRPr lang="en-US" altLang="ko-KR" sz="14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강점</a:t>
            </a:r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보완점이 있는가</a:t>
            </a:r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4MAT 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유형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+ 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강의 기반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나의 기획사고 강점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보완점 정리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ko-KR" altLang="en-US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FE2172-3227-6546-1977-6664E33012D2}"/>
              </a:ext>
            </a:extLst>
          </p:cNvPr>
          <p:cNvSpPr/>
          <p:nvPr/>
        </p:nvSpPr>
        <p:spPr>
          <a:xfrm>
            <a:off x="1467764" y="2607279"/>
            <a:ext cx="1260000" cy="6546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결론적으로</a:t>
            </a:r>
            <a:endParaRPr lang="en-US" altLang="ko-KR" sz="14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그래서 어떤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역량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기술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을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향상 시키고 싶은가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&amp;</a:t>
            </a: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WHY?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왜 향상하고</a:t>
            </a:r>
            <a:endParaRPr lang="en-US" altLang="ko-KR" sz="14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싶은가</a:t>
            </a:r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나에게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조직에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어떤 의미가 있는가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ACDC8A-BA5D-33F3-6BC6-128CBC998D9E}"/>
              </a:ext>
            </a:extLst>
          </p:cNvPr>
          <p:cNvSpPr/>
          <p:nvPr/>
        </p:nvSpPr>
        <p:spPr>
          <a:xfrm>
            <a:off x="2799000" y="2607279"/>
            <a:ext cx="1260000" cy="6546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제안 내용</a:t>
            </a:r>
            <a:endParaRPr lang="en-US" altLang="ko-KR" sz="14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(WHAT)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구체적으로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무엇을 하면 좋을까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그런 외부 사례가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있는가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벤치마킹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명확하고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자세하게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3AC613-402C-3292-188F-CBED01036BF2}"/>
              </a:ext>
            </a:extLst>
          </p:cNvPr>
          <p:cNvSpPr/>
          <p:nvPr/>
        </p:nvSpPr>
        <p:spPr>
          <a:xfrm>
            <a:off x="4130236" y="2607279"/>
            <a:ext cx="1260000" cy="6546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실행방안</a:t>
            </a:r>
            <a:endParaRPr lang="en-US" altLang="ko-KR" sz="14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(HOW)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이런 방식으로 실행해보면 될 것 같아요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구체적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실행방안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시간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장소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예산</a:t>
            </a:r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사람 등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E3CB52-C4C6-3F36-FAE2-29E8779D9606}"/>
              </a:ext>
            </a:extLst>
          </p:cNvPr>
          <p:cNvSpPr/>
          <p:nvPr/>
        </p:nvSpPr>
        <p:spPr>
          <a:xfrm>
            <a:off x="5461472" y="2607279"/>
            <a:ext cx="1260000" cy="6546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기대효과</a:t>
            </a:r>
            <a:endParaRPr lang="en-US" altLang="ko-KR" sz="14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(IF)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기대하는 변화 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새로운 가능성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기대하는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Outcome </a:t>
            </a:r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추가적인 확장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방향성 가능성</a:t>
            </a:r>
            <a:endParaRPr lang="en-US" altLang="ko-KR" sz="1100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041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기획의</a:t>
            </a:r>
            <a:r>
              <a:rPr lang="en-US" altLang="ko-KR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기술</a:t>
            </a:r>
            <a:r>
              <a:rPr lang="en-US" altLang="ko-KR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</a:t>
            </a:r>
            <a:r>
              <a:rPr lang="ko-KR" altLang="en-US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자료</a:t>
            </a:r>
            <a:r>
              <a:rPr lang="en-US" altLang="ko-KR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64B980-7E02-405B-BC21-A810A860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A772-7417-40F5-B5CE-872A854602D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5D3259FC-71DE-4A5A-7CC1-1BDE2860D33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F8CD110-9D3C-4A90-A99E-CA6B98656A4C}"/>
              </a:ext>
            </a:extLst>
          </p:cNvPr>
          <p:cNvGrpSpPr/>
          <p:nvPr/>
        </p:nvGrpSpPr>
        <p:grpSpPr>
          <a:xfrm>
            <a:off x="313862" y="2975212"/>
            <a:ext cx="6230276" cy="4406723"/>
            <a:chOff x="368300" y="2521924"/>
            <a:chExt cx="9091678" cy="486001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183417E-4467-40D3-84EC-6BDEC014CD66}"/>
                </a:ext>
              </a:extLst>
            </p:cNvPr>
            <p:cNvSpPr/>
            <p:nvPr/>
          </p:nvSpPr>
          <p:spPr>
            <a:xfrm>
              <a:off x="368300" y="2521934"/>
              <a:ext cx="1764000" cy="48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주요 현안</a:t>
              </a:r>
              <a:endPara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-</a:t>
              </a: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해결하거나</a:t>
              </a:r>
              <a:endParaRPr lang="en-US" altLang="ko-KR" sz="14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다룰 문제가 있습니다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BC49015-A995-4785-9ABE-C63B210B1C07}"/>
                </a:ext>
              </a:extLst>
            </p:cNvPr>
            <p:cNvSpPr/>
            <p:nvPr/>
          </p:nvSpPr>
          <p:spPr>
            <a:xfrm>
              <a:off x="2200220" y="2521934"/>
              <a:ext cx="1764000" cy="48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제안 배경</a:t>
              </a:r>
              <a:endPara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-</a:t>
              </a: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이런 상황</a:t>
              </a:r>
              <a:endPara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</a:t>
              </a:r>
              <a:r>
                <a:rPr lang="ko-KR" altLang="en-US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문제</a:t>
              </a:r>
              <a:r>
                <a:rPr lang="en-US" altLang="ko-KR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/</a:t>
              </a:r>
              <a:r>
                <a:rPr lang="ko-KR" altLang="en-US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배경</a:t>
              </a:r>
              <a:r>
                <a:rPr lang="en-US" altLang="ko-KR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</a:t>
              </a:r>
              <a:r>
                <a:rPr lang="ko-KR" altLang="en-US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이 있는데요</a:t>
              </a:r>
              <a:endPara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C288C26-DFA9-4ED9-ACD0-9099E14F7A7C}"/>
                </a:ext>
              </a:extLst>
            </p:cNvPr>
            <p:cNvSpPr/>
            <p:nvPr/>
          </p:nvSpPr>
          <p:spPr>
            <a:xfrm>
              <a:off x="4032140" y="2521935"/>
              <a:ext cx="1764000" cy="48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제안 내용</a:t>
              </a:r>
              <a:endPara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-</a:t>
              </a: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이렇게 해보면 어떨까요</a:t>
              </a:r>
              <a:r>
                <a:rPr lang="en-US" altLang="ko-KR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?</a:t>
              </a:r>
              <a:endParaRPr lang="ko-KR" altLang="en-US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91BD3E5-FF44-4A57-8A3F-D4A8B4537344}"/>
                </a:ext>
              </a:extLst>
            </p:cNvPr>
            <p:cNvSpPr/>
            <p:nvPr/>
          </p:nvSpPr>
          <p:spPr>
            <a:xfrm>
              <a:off x="5864060" y="2521924"/>
              <a:ext cx="1764000" cy="48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실행방안</a:t>
              </a:r>
              <a:endPara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-</a:t>
              </a: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구체적으로 이렇게 실행 하려합니다</a:t>
              </a:r>
              <a:endParaRPr lang="en-US" altLang="ko-KR" sz="14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FA51D3E-2C4D-4CDC-88CE-4C3AABCE7626}"/>
                </a:ext>
              </a:extLst>
            </p:cNvPr>
            <p:cNvSpPr/>
            <p:nvPr/>
          </p:nvSpPr>
          <p:spPr>
            <a:xfrm>
              <a:off x="7695978" y="2521924"/>
              <a:ext cx="1764000" cy="48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기대효과</a:t>
              </a:r>
              <a:endPara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-</a:t>
              </a: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향후 이런 변화를 예상합니다</a:t>
              </a:r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201E4D8B-4D1A-42A6-BBCC-37CB68A975E5}"/>
                </a:ext>
              </a:extLst>
            </p:cNvPr>
            <p:cNvSpPr/>
            <p:nvPr/>
          </p:nvSpPr>
          <p:spPr>
            <a:xfrm rot="5400000">
              <a:off x="2021532" y="4435949"/>
              <a:ext cx="348288" cy="300248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FB39C606-7A27-4769-9D47-1D889784E364}"/>
                </a:ext>
              </a:extLst>
            </p:cNvPr>
            <p:cNvSpPr/>
            <p:nvPr/>
          </p:nvSpPr>
          <p:spPr>
            <a:xfrm rot="5400000">
              <a:off x="3854966" y="4435949"/>
              <a:ext cx="348288" cy="300248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5E7DE4E3-F5AC-4D08-92BD-837835037D9C}"/>
                </a:ext>
              </a:extLst>
            </p:cNvPr>
            <p:cNvSpPr/>
            <p:nvPr/>
          </p:nvSpPr>
          <p:spPr>
            <a:xfrm rot="5400000">
              <a:off x="5688400" y="4435949"/>
              <a:ext cx="348288" cy="300248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290F4446-56FA-4118-B44F-6A22BD49C34C}"/>
                </a:ext>
              </a:extLst>
            </p:cNvPr>
            <p:cNvSpPr/>
            <p:nvPr/>
          </p:nvSpPr>
          <p:spPr>
            <a:xfrm rot="5400000">
              <a:off x="7521834" y="4473614"/>
              <a:ext cx="348288" cy="300248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0211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488D217E-E62B-6ED8-A5EC-9D2315DA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기획의</a:t>
            </a:r>
            <a:r>
              <a:rPr lang="en-US" altLang="ko-KR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기술</a:t>
            </a:r>
            <a:r>
              <a:rPr lang="en-US" altLang="ko-KR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_</a:t>
            </a:r>
            <a:r>
              <a:rPr lang="ko-KR" altLang="en-US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자료</a:t>
            </a:r>
            <a:r>
              <a:rPr lang="en-US" altLang="ko-KR" b="1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64B980-7E02-405B-BC21-A810A860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A772-7417-40F5-B5CE-872A854602D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27DF013-6057-B242-1DFD-6EEC0516205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dirty="0"/>
              <a:t>뇌에 심기는 기획력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5FDB83C-0915-4153-A345-CED985D542BE}"/>
              </a:ext>
            </a:extLst>
          </p:cNvPr>
          <p:cNvGrpSpPr/>
          <p:nvPr/>
        </p:nvGrpSpPr>
        <p:grpSpPr>
          <a:xfrm>
            <a:off x="344830" y="2521934"/>
            <a:ext cx="6168340" cy="6281809"/>
            <a:chOff x="344830" y="2521934"/>
            <a:chExt cx="6168340" cy="6281809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EE1268D-5644-4632-AC08-C438639CDBE4}"/>
                </a:ext>
              </a:extLst>
            </p:cNvPr>
            <p:cNvSpPr/>
            <p:nvPr/>
          </p:nvSpPr>
          <p:spPr>
            <a:xfrm>
              <a:off x="344830" y="2521934"/>
              <a:ext cx="6168335" cy="6025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안건</a:t>
              </a:r>
              <a:r>
                <a:rPr lang="en-US" altLang="ko-KR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: </a:t>
              </a:r>
              <a:endParaRPr lang="ko-KR" altLang="en-US" sz="16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1D319F3-DF8A-4008-A0D3-CAA9FA9B68E9}"/>
                </a:ext>
              </a:extLst>
            </p:cNvPr>
            <p:cNvGrpSpPr/>
            <p:nvPr/>
          </p:nvGrpSpPr>
          <p:grpSpPr>
            <a:xfrm>
              <a:off x="344830" y="3236275"/>
              <a:ext cx="6168339" cy="923897"/>
              <a:chOff x="434797" y="1881310"/>
              <a:chExt cx="9036406" cy="941691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04B49FB-6F1F-4862-B990-07D30C1C43C3}"/>
                  </a:ext>
                </a:extLst>
              </p:cNvPr>
              <p:cNvSpPr/>
              <p:nvPr/>
            </p:nvSpPr>
            <p:spPr>
              <a:xfrm>
                <a:off x="434797" y="1881310"/>
                <a:ext cx="2952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WHY 1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CAAA960-8D59-49FC-8FB6-82D788CB3AE3}"/>
                  </a:ext>
                </a:extLst>
              </p:cNvPr>
              <p:cNvSpPr/>
              <p:nvPr/>
            </p:nvSpPr>
            <p:spPr>
              <a:xfrm>
                <a:off x="3477000" y="1881310"/>
                <a:ext cx="2952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WHY 2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20F9C7E-12A3-4965-A5F9-AED224C3B781}"/>
                  </a:ext>
                </a:extLst>
              </p:cNvPr>
              <p:cNvSpPr/>
              <p:nvPr/>
            </p:nvSpPr>
            <p:spPr>
              <a:xfrm>
                <a:off x="6519203" y="1881310"/>
                <a:ext cx="2952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WHY 3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</p:grp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2BFC4EB-6908-44D4-BE24-F3845CEB962D}"/>
                </a:ext>
              </a:extLst>
            </p:cNvPr>
            <p:cNvSpPr/>
            <p:nvPr/>
          </p:nvSpPr>
          <p:spPr>
            <a:xfrm>
              <a:off x="344830" y="4271972"/>
              <a:ext cx="6168337" cy="6025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WHAT(</a:t>
              </a:r>
              <a:r>
                <a: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핵심 메시지</a:t>
              </a:r>
              <a:r>
                <a:rPr lang="en-US" altLang="ko-KR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) </a:t>
              </a:r>
              <a:endParaRPr lang="ko-KR" altLang="en-US" sz="1600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892DFB4-C215-495E-A31E-876E3D712AEE}"/>
                </a:ext>
              </a:extLst>
            </p:cNvPr>
            <p:cNvGrpSpPr/>
            <p:nvPr/>
          </p:nvGrpSpPr>
          <p:grpSpPr>
            <a:xfrm>
              <a:off x="344830" y="6022010"/>
              <a:ext cx="6168337" cy="1746038"/>
              <a:chOff x="434797" y="4002480"/>
              <a:chExt cx="9036404" cy="941691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78C94A9C-1ED4-4910-9065-BF3F4C7C0CED}"/>
                  </a:ext>
                </a:extLst>
              </p:cNvPr>
              <p:cNvSpPr/>
              <p:nvPr/>
            </p:nvSpPr>
            <p:spPr>
              <a:xfrm>
                <a:off x="434797" y="4002480"/>
                <a:ext cx="1476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HOW </a:t>
                </a:r>
              </a:p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(Who) 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348384B-BD1A-4FE8-A55C-829C05113BBE}"/>
                  </a:ext>
                </a:extLst>
              </p:cNvPr>
              <p:cNvSpPr/>
              <p:nvPr/>
            </p:nvSpPr>
            <p:spPr>
              <a:xfrm>
                <a:off x="1946878" y="4002480"/>
                <a:ext cx="1476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HOW </a:t>
                </a:r>
              </a:p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(When) 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0D33AD33-3FF9-4EC8-A495-20AA788D80DD}"/>
                  </a:ext>
                </a:extLst>
              </p:cNvPr>
              <p:cNvSpPr/>
              <p:nvPr/>
            </p:nvSpPr>
            <p:spPr>
              <a:xfrm>
                <a:off x="3458959" y="4002480"/>
                <a:ext cx="1476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HOW </a:t>
                </a:r>
              </a:p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(where) 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4825BA7-0FE3-445C-9BE2-91A565310799}"/>
                  </a:ext>
                </a:extLst>
              </p:cNvPr>
              <p:cNvSpPr/>
              <p:nvPr/>
            </p:nvSpPr>
            <p:spPr>
              <a:xfrm>
                <a:off x="4971040" y="4002480"/>
                <a:ext cx="1476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HOW </a:t>
                </a:r>
              </a:p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(What) 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72A1C1E-AF16-4BC9-9FD4-8B37FE9BCCFB}"/>
                  </a:ext>
                </a:extLst>
              </p:cNvPr>
              <p:cNvSpPr/>
              <p:nvPr/>
            </p:nvSpPr>
            <p:spPr>
              <a:xfrm>
                <a:off x="7995201" y="4002480"/>
                <a:ext cx="1476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HOW </a:t>
                </a:r>
              </a:p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(Why) 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BEE7174-927E-4A1A-A66B-70CE56851631}"/>
                  </a:ext>
                </a:extLst>
              </p:cNvPr>
              <p:cNvSpPr/>
              <p:nvPr/>
            </p:nvSpPr>
            <p:spPr>
              <a:xfrm>
                <a:off x="6483121" y="4002480"/>
                <a:ext cx="1476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HOW </a:t>
                </a:r>
              </a:p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(How) 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1D0BB6AA-36E5-468E-92A7-C056BB32B65A}"/>
                </a:ext>
              </a:extLst>
            </p:cNvPr>
            <p:cNvGrpSpPr/>
            <p:nvPr/>
          </p:nvGrpSpPr>
          <p:grpSpPr>
            <a:xfrm>
              <a:off x="344830" y="4986313"/>
              <a:ext cx="6168339" cy="923897"/>
              <a:chOff x="434797" y="1881310"/>
              <a:chExt cx="9036406" cy="941691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2194272F-5742-4E0B-90C2-7D192AC2997A}"/>
                  </a:ext>
                </a:extLst>
              </p:cNvPr>
              <p:cNvSpPr/>
              <p:nvPr/>
            </p:nvSpPr>
            <p:spPr>
              <a:xfrm>
                <a:off x="434797" y="1881310"/>
                <a:ext cx="2952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WHAT(Point) 1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4169ED42-002B-4923-9AC4-52A4DB19640B}"/>
                  </a:ext>
                </a:extLst>
              </p:cNvPr>
              <p:cNvSpPr/>
              <p:nvPr/>
            </p:nvSpPr>
            <p:spPr>
              <a:xfrm>
                <a:off x="3477000" y="1881310"/>
                <a:ext cx="2952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WHAT(Point) 2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CE722404-0AD4-48D4-8AB3-613AF0CC8353}"/>
                  </a:ext>
                </a:extLst>
              </p:cNvPr>
              <p:cNvSpPr/>
              <p:nvPr/>
            </p:nvSpPr>
            <p:spPr>
              <a:xfrm>
                <a:off x="6519203" y="1881310"/>
                <a:ext cx="2952000" cy="9416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WHAT(Point) 3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A2DD33BA-46BF-459E-A647-D08F08253C79}"/>
                </a:ext>
              </a:extLst>
            </p:cNvPr>
            <p:cNvGrpSpPr/>
            <p:nvPr/>
          </p:nvGrpSpPr>
          <p:grpSpPr>
            <a:xfrm>
              <a:off x="344830" y="7879846"/>
              <a:ext cx="6168340" cy="923897"/>
              <a:chOff x="434797" y="5392303"/>
              <a:chExt cx="9036408" cy="828000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8E20A0B9-9D78-43BD-8EDE-AF993C7B1BAC}"/>
                  </a:ext>
                </a:extLst>
              </p:cNvPr>
              <p:cNvSpPr/>
              <p:nvPr/>
            </p:nvSpPr>
            <p:spPr>
              <a:xfrm>
                <a:off x="434797" y="5392303"/>
                <a:ext cx="4428000" cy="82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IF 1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29201A4-5561-4906-9400-1D95EB487A1E}"/>
                  </a:ext>
                </a:extLst>
              </p:cNvPr>
              <p:cNvSpPr/>
              <p:nvPr/>
            </p:nvSpPr>
            <p:spPr>
              <a:xfrm>
                <a:off x="5043205" y="5392303"/>
                <a:ext cx="4428000" cy="82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IF 2</a:t>
                </a:r>
                <a:endParaRPr lang="ko-KR" altLang="en-US" sz="1600" dirty="0">
                  <a:solidFill>
                    <a:schemeClr val="tx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074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1276</TotalTime>
  <Words>1850</Words>
  <Application>Microsoft Office PowerPoint</Application>
  <PresentationFormat>A4 용지(210x297mm)</PresentationFormat>
  <Paragraphs>467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50" baseType="lpstr">
      <vt:lpstr>Noto Sans CJK KR Bold</vt:lpstr>
      <vt:lpstr>Noto Sans CJK KR Regular</vt:lpstr>
      <vt:lpstr>S-Core Dream 5 Medium</vt:lpstr>
      <vt:lpstr>S-Core Dream 6 Bold</vt:lpstr>
      <vt:lpstr>나눔바른고딕</vt:lpstr>
      <vt:lpstr>나눔스퀘어</vt:lpstr>
      <vt:lpstr>나눔스퀘어 ExtraBold</vt:lpstr>
      <vt:lpstr>나눔스퀘어 네오 Heavy</vt:lpstr>
      <vt:lpstr>Batang</vt:lpstr>
      <vt:lpstr>에스코어 드림 3 Light</vt:lpstr>
      <vt:lpstr>에스코어 드림 4 Regular</vt:lpstr>
      <vt:lpstr>에스코어 드림 6 Bold</vt:lpstr>
      <vt:lpstr>에스코어 드림 7 ExtraBold</vt:lpstr>
      <vt:lpstr>조선일보명조</vt:lpstr>
      <vt:lpstr>휴먼세엑스포</vt:lpstr>
      <vt:lpstr>Arial</vt:lpstr>
      <vt:lpstr>Calibri</vt:lpstr>
      <vt:lpstr>Calibri Light</vt:lpstr>
      <vt:lpstr>맑은 고딕</vt:lpstr>
      <vt:lpstr>에스코어 드림 5 Medium</vt:lpstr>
      <vt:lpstr>Office 테마</vt:lpstr>
      <vt:lpstr>PowerPoint 프레젠테이션</vt:lpstr>
      <vt:lpstr>PowerPoint 프레젠테이션</vt:lpstr>
      <vt:lpstr>주지사항</vt:lpstr>
      <vt:lpstr>기대사항</vt:lpstr>
      <vt:lpstr>배경이론</vt:lpstr>
      <vt:lpstr>배경이론</vt:lpstr>
      <vt:lpstr>WHY 기획력?</vt:lpstr>
      <vt:lpstr>WHY 기획력?</vt:lpstr>
      <vt:lpstr>WHY 기획력?</vt:lpstr>
      <vt:lpstr>WHY 기획력?</vt:lpstr>
      <vt:lpstr>나는 어떤 사고 Style을 가지고 있을까?</vt:lpstr>
      <vt:lpstr>나는 어떤 사고 Style을 가지고 있을까?</vt:lpstr>
      <vt:lpstr>나는 어떤 사고 Style을 가지고 있을까?</vt:lpstr>
      <vt:lpstr>기획적 사고 Process</vt:lpstr>
      <vt:lpstr>기획적 사고 Process</vt:lpstr>
      <vt:lpstr>기획적 사고 Process</vt:lpstr>
      <vt:lpstr>기획적 사고 Process</vt:lpstr>
      <vt:lpstr>기획의 기초</vt:lpstr>
      <vt:lpstr>기획의 기초</vt:lpstr>
      <vt:lpstr>기획의 기초</vt:lpstr>
      <vt:lpstr>기획의 기초</vt:lpstr>
      <vt:lpstr>기획의 기초</vt:lpstr>
      <vt:lpstr>기획의 기술</vt:lpstr>
      <vt:lpstr>기획의 기술</vt:lpstr>
      <vt:lpstr>기획의 기술</vt:lpstr>
      <vt:lpstr>기획의 기술</vt:lpstr>
      <vt:lpstr>기획의 기술</vt:lpstr>
      <vt:lpstr>기획의 기술_자료 </vt:lpstr>
      <vt:lpstr>기획의 기술_자료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량</dc:creator>
  <cp:lastModifiedBy>MyungHoon Woo</cp:lastModifiedBy>
  <cp:revision>238</cp:revision>
  <dcterms:created xsi:type="dcterms:W3CDTF">2021-03-03T23:54:59Z</dcterms:created>
  <dcterms:modified xsi:type="dcterms:W3CDTF">2025-03-05T06:46:46Z</dcterms:modified>
</cp:coreProperties>
</file>