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8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C60"/>
          </a:solidFill>
          <a:ln w="12700">
            <a:solidFill>
              <a:srgbClr val="D97C6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5A76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E5E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리더십 스토리텔링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8E5E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5E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41248" y="950976"/>
            <a:ext cx="128016" cy="4800600"/>
          </a:xfrm>
          <a:prstGeom prst="rect">
            <a:avLst/>
          </a:prstGeom>
          <a:solidFill>
            <a:srgbClr val="D97C60"/>
          </a:solidFill>
          <a:ln w="12700">
            <a:solidFill>
              <a:srgbClr val="D97C6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5296" y="10972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리더십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스토리텔링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61872" y="27889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DEAF0"/>
                </a:solidFill>
              </a:rPr>
              <a:t>사람의 마음을 움직여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DEAF0"/>
                </a:solidFill>
              </a:rPr>
              <a:t>변화와 실행을 이끄는 말하기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629400" y="1170432"/>
            <a:ext cx="4617720" cy="4389120"/>
          </a:xfrm>
          <a:prstGeom prst="roundRect">
            <a:avLst>
              <a:gd name="adj" fmla="val 1667"/>
            </a:avLst>
          </a:prstGeom>
          <a:solidFill>
            <a:srgbClr val="20485F"/>
          </a:solidFill>
          <a:ln w="12700">
            <a:solidFill>
              <a:srgbClr val="567A8D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48856" y="1335024"/>
            <a:ext cx="4178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3D7E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오늘의 약속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48856" y="1536192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말 잘하는 법이 아니라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경험을 설계하는 법을 다룬다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48856" y="2157984"/>
            <a:ext cx="417880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E4EEF4"/>
                </a:solidFill>
              </a:rPr>
              <a:t>리더의 말은 정보 전달로 끝나지 않는다.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E4EEF4"/>
                </a:solidFill>
              </a:rPr>
              <a:t>회의, 설명, 피드백, 변화 제안은 모두 조직에 하나의 경험을 남긴다.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E4EEF4"/>
                </a:solidFill>
              </a:rPr>
              <a:t>오늘 우리는 그 경험이 어떻게 믿음과 행동, 결과로 이어지는지 보고,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E4EEF4"/>
                </a:solidFill>
              </a:rPr>
              <a:t>각자의 조직 변화 장면에 쓸 리더 스토리 1개를 완성한다.</a:t>
            </a:r>
            <a:endParaRPr lang="en-US" sz="13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7D0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오프닝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0467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2C"/>
                </a:solidFill>
              </a:rPr>
              <a:t>오늘의 질문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59536" y="15910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강의의 관점을 화술 훈련에서 리더십 영향력으로 전환한다.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" y="210312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FBF8F2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60704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Question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60704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왜 전달력이 있어야 할까요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0704" y="3090672"/>
            <a:ext cx="28803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리더는 결국 원하는 결과를 만들기 위해 말한다. 전달력은 말의 기술이 아니라 결과를 여는 시작점이다.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16552" y="210312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E4EEF4"/>
          </a:solidFill>
          <a:ln w="12700">
            <a:solidFill>
              <a:srgbClr val="CADAE3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36008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Question 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36008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왜 스토리텔링이 필요할까요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36008" y="3090672"/>
            <a:ext cx="28803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설명만으로는 움직이지 않는 순간이 있다. 스토리텔링은 상대가 스스로 의미를 잡게 만드는 구조다.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991856" y="210312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F3E5DE"/>
          </a:solidFill>
          <a:ln w="12700">
            <a:solidFill>
              <a:srgbClr val="E4C6B8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11312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C6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Question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11312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여러분은 무엇을 얻기 위해 이 자리에 오셨나요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11312" y="3090672"/>
            <a:ext cx="28803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설득, 변화, 실행, 신뢰 회복. 오늘의 답은 각자의 현업 장면과 연결될 때 비로소 힘을 가진다.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59536" y="50292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12C"/>
                </a:solidFill>
              </a:rPr>
              <a:t>리더의 말은 정보 전달이 아니라 경험 설계다.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7D0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과정 관점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0467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2C"/>
                </a:solidFill>
              </a:rPr>
              <a:t>이 과정의 운영 원칙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59536" y="15910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위로 뒤에는 구조가, 구조 뒤에는 적용이 남아야 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" y="182880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BF8F2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78992" y="1993392"/>
            <a:ext cx="5047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C6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Do Not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78992" y="2194560"/>
            <a:ext cx="5047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이 과정은 말 잘하는 법을 가르치는 시간이 아니다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2816352"/>
            <a:ext cx="5047488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1A2731"/>
                </a:solidFill>
              </a:rPr>
              <a:t>리더의 말은 조직에 경험을 제공하는 행위다.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1A2731"/>
                </a:solidFill>
              </a:rPr>
              <a:t>자기 이야기를 꺼낼 때도 감정 소비가 아니라 해석과 메시지로 연결해야 한다.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720840" y="1874520"/>
            <a:ext cx="4526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12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공감 뒤에는 구조를 준다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12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질문 설계가 전달 스킬보다 먼저다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12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참여자가 내일 바로 쓸 장면으로 연결한다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12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발표 수준보다 메시지 구조 이해를 우선한다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7D0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하루 흐름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0467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2C"/>
                </a:solidFill>
              </a:rPr>
              <a:t>09:00-18:00 과정 흐름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59536" y="15910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질문, 해석, 구조, 적용의 리듬으로 하루를 설계한다.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1965960"/>
            <a:ext cx="2542032" cy="3383280"/>
          </a:xfrm>
          <a:prstGeom prst="roundRect">
            <a:avLst>
              <a:gd name="adj" fmla="val 2878"/>
            </a:avLst>
          </a:prstGeom>
          <a:solidFill>
            <a:srgbClr val="FBF8F2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88136" y="213055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09:00-12:30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88136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오전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88136" y="2953512"/>
            <a:ext cx="210312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리더는 어떤 경험을 제공하는가</a:t>
            </a:r>
            <a:endParaRPr lang="en-US" sz="1220" dirty="0"/>
          </a:p>
          <a:p>
            <a:pPr algn="l" indent="0" marL="0">
              <a:buNone/>
            </a:pP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RESULT PYRAMID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ETHOS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자기인지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3630168" y="1965960"/>
            <a:ext cx="2542032" cy="3383280"/>
          </a:xfrm>
          <a:prstGeom prst="roundRect">
            <a:avLst>
              <a:gd name="adj" fmla="val 2878"/>
            </a:avLst>
          </a:prstGeom>
          <a:solidFill>
            <a:srgbClr val="E4EEF4"/>
          </a:solidFill>
          <a:ln w="12700">
            <a:solidFill>
              <a:srgbClr val="C8DCE6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9624" y="213055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13:30-15:00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9624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오후 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49624" y="2953512"/>
            <a:ext cx="210312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나는 무엇을 말할 수 있는 사람인가</a:t>
            </a:r>
            <a:endParaRPr lang="en-US" sz="1220" dirty="0"/>
          </a:p>
          <a:p>
            <a:pPr algn="l" indent="0" marL="0">
              <a:buNone/>
            </a:pP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가치 도출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As-Is → To-Be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6391656" y="1965960"/>
            <a:ext cx="2542032" cy="3383280"/>
          </a:xfrm>
          <a:prstGeom prst="roundRect">
            <a:avLst>
              <a:gd name="adj" fmla="val 2878"/>
            </a:avLst>
          </a:prstGeom>
          <a:solidFill>
            <a:srgbClr val="E6EFEA"/>
          </a:solidFill>
          <a:ln w="12700">
            <a:solidFill>
              <a:srgbClr val="C8D7D0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11112" y="213055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15:10-16:40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11112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오후 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11112" y="2953512"/>
            <a:ext cx="210312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어떻게 구조화해야 마음이 움직이는가</a:t>
            </a:r>
            <a:endParaRPr lang="en-US" sz="1220" dirty="0"/>
          </a:p>
          <a:p>
            <a:pPr algn="l" indent="0" marL="0">
              <a:buNone/>
            </a:pP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Why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What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How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If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9153144" y="1965960"/>
            <a:ext cx="2542032" cy="3383280"/>
          </a:xfrm>
          <a:prstGeom prst="roundRect">
            <a:avLst>
              <a:gd name="adj" fmla="val 2878"/>
            </a:avLst>
          </a:prstGeom>
          <a:solidFill>
            <a:srgbClr val="F3E5DE"/>
          </a:solidFill>
          <a:ln w="12700">
            <a:solidFill>
              <a:srgbClr val="E5C9BE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372600" y="213055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C6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16:40-18:00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37260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마무리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72600" y="2953512"/>
            <a:ext cx="210312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내 리더 스토리를 완성할 수 있는가</a:t>
            </a:r>
            <a:endParaRPr lang="en-US" sz="1220" dirty="0"/>
          </a:p>
          <a:p>
            <a:pPr algn="l" indent="0" marL="0">
              <a:buNone/>
            </a:pP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작성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발표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피드백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현업 적용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7D0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RESULT PYRAMID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0467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2C"/>
                </a:solidFill>
              </a:rPr>
              <a:t>리더는 결국 어떤 경험을 제공하는 사람인가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59536" y="15910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결과는 행동에서, 행동은 믿음에서, 믿음은 경험에서 나온다.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" y="228600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FBF8F2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78992" y="245059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RESULT PYRAMID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78992" y="26517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경험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327355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회의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피드백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설명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스토리텔링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06624" y="2889504"/>
            <a:ext cx="164592" cy="512064"/>
          </a:xfrm>
          <a:prstGeom prst="chevron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44368" y="228600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E4EEF4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63824" y="26517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믿음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163824" y="327355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이 변화는 해볼 만하다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이 리더는 나를 존중한다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91456" y="2889504"/>
            <a:ext cx="164592" cy="512064"/>
          </a:xfrm>
          <a:prstGeom prst="chevron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228600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E6EFEA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48656" y="26517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행동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48656" y="327355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시도한다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협력한다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따라온다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76288" y="2889504"/>
            <a:ext cx="164592" cy="512064"/>
          </a:xfrm>
          <a:prstGeom prst="chevron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14032" y="228600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F3E5DE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33488" y="26517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결과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33488" y="327355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실행력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변화 정착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성과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68680" y="48463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말하기는 정보 전달이 아니라 경험 제공이다.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77840" y="48463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07A"/>
                </a:solidFill>
              </a:rPr>
              <a:t>좋은 리더의 말은 상대에게 ‘나는 중요한 사람으로 다뤄지고 있구나’를 느끼게 한다.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7D0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질문 전환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0467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2C"/>
                </a:solidFill>
              </a:rPr>
              <a:t>내가 최근 팀원에게 제공한 경험은 무엇이었는가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59536" y="15910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설명했는가, 연결했는가. 좁게 만들었는가, 열리게 만들었는가.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" y="210312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FBF8F2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60704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적어보기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60704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경험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0704" y="3090672"/>
            <a:ext cx="28803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731"/>
                </a:solidFill>
              </a:rPr>
              <a:t>내가 최근 팀원에게 제공한 경험은 무엇이었는가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16552" y="210312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E4EEF4"/>
          </a:solidFill>
          <a:ln w="12700">
            <a:solidFill>
              <a:srgbClr val="CADAE3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36008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이어지는 믿음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36008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믿음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36008" y="3090672"/>
            <a:ext cx="28803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731"/>
                </a:solidFill>
              </a:rPr>
              <a:t>그 경험은 어떤 믿음을 만들었는가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91856" y="210312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E6EFEA"/>
          </a:solidFill>
          <a:ln w="12700">
            <a:solidFill>
              <a:srgbClr val="C8D7D0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11312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행동과 결과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11312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행동 → 결과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11312" y="3090672"/>
            <a:ext cx="28803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731"/>
                </a:solidFill>
              </a:rPr>
              <a:t>그 믿음은 어떤 행동으로 이어졌고, 어떤 결과를 만들었는가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7D0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존중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0467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2C"/>
                </a:solidFill>
              </a:rPr>
              <a:t>좋은 말하기의 기준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59536" y="15910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상대에게 자신이 중요한 사람이라는 것을 느끼게 하는 경험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1920240"/>
            <a:ext cx="3794760" cy="3063240"/>
          </a:xfrm>
          <a:prstGeom prst="roundRect">
            <a:avLst>
              <a:gd name="adj" fmla="val 2388"/>
            </a:avLst>
          </a:prstGeom>
          <a:solidFill>
            <a:srgbClr val="F3E5DE"/>
          </a:solidFill>
          <a:ln w="12700">
            <a:solidFill>
              <a:srgbClr val="E5C9BE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88136" y="2084832"/>
            <a:ext cx="3355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C6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Definition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88136" y="2286000"/>
            <a:ext cx="3355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존중 = 상대 내면의 질문을 해결하려는 구조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88136" y="2907792"/>
            <a:ext cx="3355848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731"/>
                </a:solidFill>
              </a:rPr>
              <a:t>예의만 갖춘 말이 아니라,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731"/>
                </a:solidFill>
              </a:rPr>
              <a:t>상대가 지금 무엇을 두려워하고 무엇을 확인하고 싶은지를 읽고 답하는 설계다.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2029968"/>
            <a:ext cx="5577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7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내 말은 상대를 좁게 만들었는가, 열리게 만들었는가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7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나는 정보를 던졌는가, 의미를 연결했는가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7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상대의 질문보다 내 설명 욕구가 앞서지 않았는가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7D0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ETHOS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0467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2C"/>
                </a:solidFill>
              </a:rPr>
              <a:t>왜 에토스가 먼저인가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59536" y="15910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자기를 모르면 자기다운 말이 없고, 자기다운 말이 없으면 신뢰도 약해진다.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1901952"/>
            <a:ext cx="3291840" cy="3611880"/>
          </a:xfrm>
          <a:prstGeom prst="roundRect">
            <a:avLst>
              <a:gd name="adj" fmla="val 2222"/>
            </a:avLst>
          </a:prstGeom>
          <a:solidFill>
            <a:srgbClr val="E4EEF4"/>
          </a:solidFill>
          <a:ln w="12700">
            <a:solidFill>
              <a:srgbClr val="CBDCE6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88136" y="2066544"/>
            <a:ext cx="2852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세 축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88136" y="2267712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Logos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Pathos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Ethos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88136" y="2889504"/>
            <a:ext cx="2852928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731"/>
                </a:solidFill>
              </a:rPr>
              <a:t>논리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2731"/>
                </a:solidFill>
              </a:rPr>
              <a:t>감정 연결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2731"/>
                </a:solidFill>
              </a:rPr>
              <a:t>이 사람이 누구인가에 대한 신뢰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34840" y="1901952"/>
            <a:ext cx="3108960" cy="3611880"/>
          </a:xfrm>
          <a:prstGeom prst="roundRect">
            <a:avLst>
              <a:gd name="adj" fmla="val 2353"/>
            </a:avLst>
          </a:prstGeom>
          <a:solidFill>
            <a:srgbClr val="FBF8F2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54296" y="2066544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54296" y="2267712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리더십 스토리텔링의 출발점은 에토스다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54296" y="2889504"/>
            <a:ext cx="2670048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1A2731"/>
                </a:solidFill>
              </a:rPr>
              <a:t>스토리텔링은 과장된 고백이 아니라,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1A2731"/>
                </a:solidFill>
              </a:rPr>
              <a:t>무엇을 왜 어디까지 꺼낼지 아는 성숙함이다.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7818120" y="1901952"/>
            <a:ext cx="3456432" cy="3611880"/>
          </a:xfrm>
          <a:prstGeom prst="roundRect">
            <a:avLst>
              <a:gd name="adj" fmla="val 2116"/>
            </a:avLst>
          </a:prstGeom>
          <a:solidFill>
            <a:srgbClr val="E6EFEA"/>
          </a:solidFill>
          <a:ln w="12700">
            <a:solidFill>
              <a:srgbClr val="C8D7D0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037576" y="206654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자기인지 질문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037576" y="22677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나는 어떤 상황에서 말이 길어지거나 설명형이 되는가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37576" y="2889504"/>
            <a:ext cx="30175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나는 어떤 리더로 기억되고 싶은가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내가 자주 놓치는 부분은 무엇인가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내가 반복해서 드러내는 강점은 무엇인가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7D0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조하리의 창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0467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2C"/>
                </a:solidFill>
              </a:rPr>
              <a:t>나는 어떤 사람으로 말하고 있으며, 무엇을 말할 수 있는 사람인가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59536" y="15910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조하리의 창으로 자기 인식과 자기 개방의 기준을 점검한다.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560" y="1828800"/>
            <a:ext cx="4297680" cy="146304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71016" y="2194560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열린 창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71016" y="2724912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나도 알고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타인도 아는 영역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4297680" cy="1463040"/>
          </a:xfrm>
          <a:prstGeom prst="roundRect">
            <a:avLst>
              <a:gd name="adj" fmla="val 5000"/>
            </a:avLst>
          </a:prstGeom>
          <a:solidFill>
            <a:srgbClr val="E4EEF4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37376" y="2194560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숨긴 창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37376" y="2724912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나는 알지만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잘 드러내지 않는 영역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1051560" y="3749040"/>
            <a:ext cx="4297680" cy="1463040"/>
          </a:xfrm>
          <a:prstGeom prst="roundRect">
            <a:avLst>
              <a:gd name="adj" fmla="val 5000"/>
            </a:avLst>
          </a:prstGeom>
          <a:solidFill>
            <a:srgbClr val="E6EFEA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71016" y="4114800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보이지 않는 창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71016" y="4645152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타인은 보지만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나는 잘 모르는 영역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6217920" y="3749040"/>
            <a:ext cx="4297680" cy="1463040"/>
          </a:xfrm>
          <a:prstGeom prst="roundRect">
            <a:avLst>
              <a:gd name="adj" fmla="val 5000"/>
            </a:avLst>
          </a:prstGeom>
          <a:solidFill>
            <a:srgbClr val="F3E5DE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37376" y="4114800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미지의 창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37376" y="4645152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나도 모르고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타인도 모르는 영역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5760720" y="1783080"/>
            <a:ext cx="0" cy="3493008"/>
          </a:xfrm>
          <a:prstGeom prst="line">
            <a:avLst/>
          </a:prstGeom>
          <a:noFill/>
          <a:ln w="15875">
            <a:solidFill>
              <a:srgbClr val="D7D0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" y="3493008"/>
            <a:ext cx="9509760" cy="0"/>
          </a:xfrm>
          <a:prstGeom prst="line">
            <a:avLst/>
          </a:prstGeom>
          <a:noFill/>
          <a:ln w="15875">
            <a:solidFill>
              <a:srgbClr val="D7D0C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7D0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액티비티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0467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2C"/>
                </a:solidFill>
              </a:rPr>
              <a:t>심리테스트 기반 자기 해석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59536" y="15910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유형을 맞히는 것이 아니라, 자기 인식을 여는 것이 목적이다.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" y="210312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FBF8F2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60704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Check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60704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나는 사람을 볼 때 무엇을 먼저 보는 편인가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0704" y="3090672"/>
            <a:ext cx="28803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성향, 감정, 역량, 관계. 내가 먼저 보는 기준은 곧 내가 말할 때 놓치기 쉬운 지점과도 연결된다.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16552" y="210312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E4EEF4"/>
          </a:solidFill>
          <a:ln w="12700">
            <a:solidFill>
              <a:srgbClr val="CADAE3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36008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Check 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36008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갈등 상황에서 내가 가장 먼저 택하는 방식은 무엇인가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36008" y="3090672"/>
            <a:ext cx="28803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설명, 회피, 설득, 정리. 반복 습관은 전달력의 강점이 되기도 하고 병목이 되기도 한다.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991856" y="210312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F3E5DE"/>
          </a:solidFill>
          <a:ln w="12700">
            <a:solidFill>
              <a:srgbClr val="E5C9BE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11312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Check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11312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내가 말할 때 상대를 놓치게 만드는 습관은 무엇인가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11312" y="3090672"/>
            <a:ext cx="28803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정보를 너무 빨리 말하는가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질문을 확인하지 않는가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나의 기준만 강하게 밀어붙이는가</a:t>
            </a:r>
            <a:endParaRPr lang="en-US" sz="12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7D0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현재 수준 진단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0467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2C"/>
                </a:solidFill>
              </a:rPr>
              <a:t>지금 내 말하기는 어디에 치우쳐 있는가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59536" y="15910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현재 상태를 봐야 다음 질문과 구조가 보인다.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77824" y="1874520"/>
            <a:ext cx="4709160" cy="3474720"/>
          </a:xfrm>
          <a:prstGeom prst="roundRect">
            <a:avLst>
              <a:gd name="adj" fmla="val 2105"/>
            </a:avLst>
          </a:prstGeom>
          <a:solidFill>
            <a:srgbClr val="FBF8F2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2039112"/>
            <a:ext cx="4270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체크리스트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97280" y="2240280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1점부터 5점까지 스스로 체크해 보세요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862072"/>
            <a:ext cx="4270248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상대의 질문부터 떠올린다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남겨야 할 한 문장을 정리하고 말한다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사례를 설명이 아니라 설득의 재료로 쓴다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듣는 사람이 자기화할 질문을 남긴다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97880" y="18745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E6EFEA"/>
          </a:solidFill>
          <a:ln w="12700">
            <a:solidFill>
              <a:srgbClr val="C8D7D0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17336" y="2039112"/>
            <a:ext cx="4956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정리 질문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17336" y="2240280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체크 후 바로 적는다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17336" y="2862072"/>
            <a:ext cx="4956048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가장 높은 항목은 무엇인가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가장 낮은 항목은 무엇인가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지금 내 말하기가 WHAT-HOW에 치우쳐 있는 장면은 무엇인가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오늘 반드시 바꾸고 싶은 한 가지는 무엇인가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38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C60"/>
          </a:solidFill>
          <a:ln w="12700">
            <a:solidFill>
              <a:srgbClr val="D97C6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5A76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E5E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오후 시작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8E5E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5E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41248" y="1097280"/>
            <a:ext cx="128016" cy="4297680"/>
          </a:xfrm>
          <a:prstGeom prst="rect">
            <a:avLst/>
          </a:prstGeom>
          <a:solidFill>
            <a:srgbClr val="D97C60"/>
          </a:solidFill>
          <a:ln w="12700">
            <a:solidFill>
              <a:srgbClr val="D97C6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23444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가치와 경험으로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메시지의 뿌리를 찾는다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61872" y="23774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8E5EC"/>
                </a:solidFill>
              </a:rPr>
              <a:t>B2B 리더십 맥락에서 스토리텔링은 감동 서사가 아니라,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8E5EC"/>
                </a:solidFill>
              </a:rPr>
              <a:t>조직 현실을 움직일 수 있는 가치 기반 메시지를 세우는 일이다.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35240" y="1389888"/>
            <a:ext cx="3703320" cy="3383280"/>
          </a:xfrm>
          <a:prstGeom prst="roundRect">
            <a:avLst>
              <a:gd name="adj" fmla="val 2162"/>
            </a:avLst>
          </a:prstGeom>
          <a:solidFill>
            <a:srgbClr val="20485F"/>
          </a:solidFill>
          <a:ln w="12700">
            <a:solidFill>
              <a:srgbClr val="547B8F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54696" y="1554480"/>
            <a:ext cx="3264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9D2D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오후의 중심 질문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854696" y="1755648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나는 무엇을 말할 수 있는 사람인가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854696" y="2377440"/>
            <a:ext cx="3264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3EEF4"/>
                </a:solidFill>
              </a:rPr>
              <a:t>가치와 경험을 통해 리더 메시지의 뿌리를 찾고, 조직 변화 장면에 맞는 한 문장과 구조를 만든다.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7D0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가치 기반 메시지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0467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2C"/>
                </a:solidFill>
              </a:rPr>
              <a:t>나는 무엇을 말할 수 있는 사람인가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59536" y="15910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가치가 추상명사에서 멈추지 않게, 반드시 실제 장면과 연결한다.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" y="210312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FBF8F2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60704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Value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60704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내가 리더로서 그냥 넘기지 못하는 것은 무엇인가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0704" y="3090672"/>
            <a:ext cx="28803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반복해서 지키려는 기준과 중요하게 여기는 방식은 무엇인가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16552" y="210312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E4EEF4"/>
          </a:solidFill>
          <a:ln w="12700">
            <a:solidFill>
              <a:srgbClr val="CADAE3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36008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Reality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36008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내가 바꾸고 싶은 조직의 As-Is는 무엇인가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36008" y="3090672"/>
            <a:ext cx="28803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지금 조직은 어떤 장면에서 막히고 있는가. 사람들은 무엇 때문에 주저하고 있는가.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991856" y="210312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E6EFEA"/>
          </a:solidFill>
          <a:ln w="12700">
            <a:solidFill>
              <a:srgbClr val="C8D7D0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11312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Direction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11312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내가 제안하고 싶은 To-Be는 무엇인가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11312" y="3090672"/>
            <a:ext cx="28803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오늘 다룰 조직 변화 장면 1개를 정하고, 그 장면에 필요한 리더 메시지를 좁힌다.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7D0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말하기는 원래 어렵다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0467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2C"/>
                </a:solidFill>
              </a:rPr>
              <a:t>좋은 의도만으로는 전달되지 않는다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59536" y="15910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같은 메시지도 구조가 바뀌면 듣는 경험이 달라진다.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77824" y="1920240"/>
            <a:ext cx="4983480" cy="3383280"/>
          </a:xfrm>
          <a:prstGeom prst="roundRect">
            <a:avLst>
              <a:gd name="adj" fmla="val 2162"/>
            </a:avLst>
          </a:prstGeom>
          <a:solidFill>
            <a:srgbClr val="FBF8F2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2084832"/>
            <a:ext cx="4544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Version A | 화자 중심 설명형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97280" y="2286000"/>
            <a:ext cx="4544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“다음 달부터 CRM 입력 기준이 바뀝니다.”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907792"/>
            <a:ext cx="454456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1A2731"/>
                </a:solidFill>
              </a:rPr>
              <a:t>항목이 늘어나고 기준이 세분화됩니다.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1A2731"/>
                </a:solidFill>
              </a:rPr>
              <a:t>빠짐없이 입력해 주세요.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1A2731"/>
                </a:solidFill>
              </a:rPr>
              <a:t>보고 체계가 달라져서 반드시 지켜야 합니다.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291072" y="1920240"/>
            <a:ext cx="4983480" cy="3383280"/>
          </a:xfrm>
          <a:prstGeom prst="roundRect">
            <a:avLst>
              <a:gd name="adj" fmla="val 2162"/>
            </a:avLst>
          </a:prstGeom>
          <a:solidFill>
            <a:srgbClr val="E4EEF4"/>
          </a:solidFill>
          <a:ln w="12700">
            <a:solidFill>
              <a:srgbClr val="CADAE3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0528" y="2084832"/>
            <a:ext cx="4544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Version B | 청중 질문 해결형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10528" y="2286000"/>
            <a:ext cx="4544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“우리가 바꾸려는 건 입력 방식이 아니라 팀의 판단 속도입니다.”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10528" y="2907792"/>
            <a:ext cx="454456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731"/>
                </a:solidFill>
              </a:rPr>
              <a:t>지금 기준으로는 중요한 징후가 늦게 보입니다.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731"/>
                </a:solidFill>
              </a:rPr>
              <a:t>그래서 현장을 더 빨리 읽을 수 있는 방식으로 바꾸려 합니다.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731"/>
                </a:solidFill>
              </a:rPr>
              <a:t>이번 변화는 일이 늘어나기보다, 판단이 더 분명해지게 하려는 조정입니다.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7D0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청중 질문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0467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2C"/>
                </a:solidFill>
              </a:rPr>
              <a:t>왜 말하기가 어려운가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59536" y="15910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상대의 질문을 상상해야 하기 때문이다.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77824" y="1874520"/>
            <a:ext cx="10332720" cy="3611880"/>
          </a:xfrm>
          <a:prstGeom prst="roundRect">
            <a:avLst>
              <a:gd name="adj" fmla="val 2025"/>
            </a:avLst>
          </a:prstGeom>
          <a:solidFill>
            <a:srgbClr val="F3E5DE"/>
          </a:solidFill>
          <a:ln w="12700">
            <a:solidFill>
              <a:srgbClr val="E5C9BE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2039112"/>
            <a:ext cx="989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C6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Transition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97280" y="2240280"/>
            <a:ext cx="9893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212C"/>
                </a:solidFill>
              </a:rPr>
              <a:t>상대는 무엇을 질문하고 있었을까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2862072"/>
            <a:ext cx="9893808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731"/>
                </a:solidFill>
              </a:rPr>
              <a:t>나는 무엇을 너무 빨리 설명했을까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2731"/>
                </a:solidFill>
              </a:rPr>
              <a:t>상대는 지금 무엇이 두렵고 무엇을 확인하고 싶었을까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2731"/>
                </a:solidFill>
              </a:rPr>
              <a:t>다음에는 무엇부터 확인해야 할까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2731"/>
                </a:solidFill>
              </a:rPr>
              <a:t>좋은 의도는 중요하지만, 구조가 없으면 전달은 쉽게 무너진다.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7D0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Why-What-How-If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0467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2C"/>
                </a:solidFill>
              </a:rPr>
              <a:t>마음을 움직이는 구조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59536" y="15910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Why는 초청장, What은 한 문장, How는 입증, If는 자기화다.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212848"/>
            <a:ext cx="2542032" cy="2743200"/>
          </a:xfrm>
          <a:prstGeom prst="roundRect">
            <a:avLst>
              <a:gd name="adj" fmla="val 2878"/>
            </a:avLst>
          </a:prstGeom>
          <a:solidFill>
            <a:srgbClr val="E4EEF4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88136" y="25786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12C"/>
                </a:solidFill>
              </a:rPr>
              <a:t>Why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88136" y="3127248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왜 지금 이 이야기를 들어야 하는가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As-Is → To-Be를 여는 초청장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3630168" y="2212848"/>
            <a:ext cx="2542032" cy="2743200"/>
          </a:xfrm>
          <a:prstGeom prst="roundRect">
            <a:avLst>
              <a:gd name="adj" fmla="val 2878"/>
            </a:avLst>
          </a:prstGeom>
          <a:solidFill>
            <a:srgbClr val="FBF8F2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9624" y="25786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12C"/>
                </a:solidFill>
              </a:rPr>
              <a:t>What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849624" y="3127248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결국 남겨야 할 한 문장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리더가 끝까지 지켜야 할 메시지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391656" y="2212848"/>
            <a:ext cx="2542032" cy="2743200"/>
          </a:xfrm>
          <a:prstGeom prst="roundRect">
            <a:avLst>
              <a:gd name="adj" fmla="val 2878"/>
            </a:avLst>
          </a:prstGeom>
          <a:solidFill>
            <a:srgbClr val="E6EFEA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11112" y="25786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12C"/>
                </a:solidFill>
              </a:rPr>
              <a:t>How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611112" y="3127248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사례, 수치, 증거, 경험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설명이 아니라 입증의 재료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9153144" y="2212848"/>
            <a:ext cx="2542032" cy="2743200"/>
          </a:xfrm>
          <a:prstGeom prst="roundRect">
            <a:avLst>
              <a:gd name="adj" fmla="val 2878"/>
            </a:avLst>
          </a:prstGeom>
          <a:solidFill>
            <a:srgbClr val="F3E5DE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72600" y="25786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12C"/>
                </a:solidFill>
              </a:rPr>
              <a:t>If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372600" y="3127248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청중이 자기 일에 대입하게 하는 질문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성찰과 다음 행동</a:t>
            </a:r>
            <a:endParaRPr lang="en-US" sz="12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7D0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0467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2C"/>
                </a:solidFill>
              </a:rPr>
              <a:t>Why | 청중에게 보내는 초청장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59536" y="15910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왜 이 이야기를 들어야 하는지, 왜 지금 필요한지, 무엇이 달라질 수 있는지를 연다.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" y="210312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FBF8F2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60704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청중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60704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내 청중은 누구인가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0704" y="3090672"/>
            <a:ext cx="28803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직책이 아니라 지금 어떤 부담과 기대를 안고 있는 사람들인지까지 본다.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16552" y="210312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E4EEF4"/>
          </a:solidFill>
          <a:ln w="12700">
            <a:solidFill>
              <a:srgbClr val="CADAE3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36008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As-Is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36008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그들이 현재 느끼는 상태는 무엇인가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36008" y="3090672"/>
            <a:ext cx="28803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무엇이 불편하고, 무엇 때문에 저항하고, 무엇을 아직 믿지 못하는가.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991856" y="210312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E6EFEA"/>
          </a:solidFill>
          <a:ln w="12700">
            <a:solidFill>
              <a:srgbClr val="C8D7D0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11312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To-Be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11312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내가 제안하고 싶은 변화는 무엇인가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11312" y="3090672"/>
            <a:ext cx="28803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청중 입장에서 ‘들어볼 이유’가 생기게 열어 준다.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7D0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What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0467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2C"/>
                </a:solidFill>
              </a:rPr>
              <a:t>What | 결국 남겨야 할 한 문장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59536" y="15910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메시지가 길게 흩어지지 않도록, 끝까지 지켜야 할 문장을 먼저 세운다.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1938528"/>
            <a:ext cx="4709160" cy="3291840"/>
          </a:xfrm>
          <a:prstGeom prst="roundRect">
            <a:avLst>
              <a:gd name="adj" fmla="val 2222"/>
            </a:avLst>
          </a:prstGeom>
          <a:solidFill>
            <a:srgbClr val="FBF8F2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88136" y="2103120"/>
            <a:ext cx="4270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Formula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88136" y="2304288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한 문장으로 남지 않으면,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메시지는 쉽게 흩어진다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88136" y="2926080"/>
            <a:ext cx="427024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731"/>
                </a:solidFill>
              </a:rPr>
              <a:t>내가 끝까지 남기고 싶은 한 문장은 무엇인가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731"/>
                </a:solidFill>
              </a:rPr>
              <a:t>지금 이 변화의 핵심은 무엇인가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731"/>
                </a:solidFill>
              </a:rPr>
              <a:t>청중이 발표 뒤에 정확히 기억해야 할 문장은 무엇인가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97880" y="1938528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3E5DE"/>
          </a:solidFill>
          <a:ln w="12700">
            <a:solidFill>
              <a:srgbClr val="E5C9BE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17336" y="2103120"/>
            <a:ext cx="4956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C6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Example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17336" y="2304288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예시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17336" y="2926080"/>
            <a:ext cx="495604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1A2731"/>
                </a:solidFill>
              </a:rPr>
              <a:t>“이번 변화의 목적은 통제를 늘리기보다 판단의 기준을 하나로 맞추는 데 있습니다.”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1A2731"/>
                </a:solidFill>
              </a:rPr>
              <a:t>“우리가 지금 회복해야 하는 것은 속도가 아니라 협업의 신뢰입니다.”</a:t>
            </a:r>
            <a:endParaRPr lang="en-US" sz="13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7D0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How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0467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2C"/>
                </a:solidFill>
              </a:rPr>
              <a:t>How | 설명이 아니라 입증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59536" y="15910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Why와 What을 설득 가능하게 만드는 사례, 수치, 경험을 고른다.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1938528"/>
            <a:ext cx="3337560" cy="3429000"/>
          </a:xfrm>
          <a:prstGeom prst="roundRect">
            <a:avLst>
              <a:gd name="adj" fmla="val 2192"/>
            </a:avLst>
          </a:prstGeom>
          <a:solidFill>
            <a:srgbClr val="FBF8F2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88136" y="2103120"/>
            <a:ext cx="2898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Case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88136" y="2304288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경험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88136" y="2926080"/>
            <a:ext cx="289864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731"/>
                </a:solidFill>
              </a:rPr>
              <a:t>내가 직접 겪은 장면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731"/>
                </a:solidFill>
              </a:rPr>
              <a:t>팀이 실제로 막혔던 순간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731"/>
                </a:solidFill>
              </a:rPr>
              <a:t>변화가 필요해졌던 계기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34840" y="1938528"/>
            <a:ext cx="3337560" cy="3429000"/>
          </a:xfrm>
          <a:prstGeom prst="roundRect">
            <a:avLst>
              <a:gd name="adj" fmla="val 2192"/>
            </a:avLst>
          </a:prstGeom>
          <a:solidFill>
            <a:srgbClr val="E4EEF4"/>
          </a:solidFill>
          <a:ln w="12700">
            <a:solidFill>
              <a:srgbClr val="CADAE3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54296" y="2103120"/>
            <a:ext cx="2898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Evidence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54296" y="2304288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사실과 수치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54296" y="2926080"/>
            <a:ext cx="289864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731"/>
                </a:solidFill>
              </a:rPr>
              <a:t>지연, 품질, 이탈, 반복 오류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731"/>
                </a:solidFill>
              </a:rPr>
              <a:t>객관적 근거는 막연한 훈계를 줄이고 이해를 높인다.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01000" y="1938528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E6EFEA"/>
          </a:solidFill>
          <a:ln w="12700">
            <a:solidFill>
              <a:srgbClr val="C8D7D0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0456" y="2103120"/>
            <a:ext cx="2807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Meaning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0456" y="2304288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해석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0456" y="2926080"/>
            <a:ext cx="280720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731"/>
                </a:solidFill>
              </a:rPr>
              <a:t>그 장면이 왜 중요한지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731"/>
                </a:solidFill>
              </a:rPr>
              <a:t>우리가 여기서 무엇을 배워야 하는지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731"/>
                </a:solidFill>
              </a:rPr>
              <a:t>이 변화가 무엇을 지키기 위한 것인지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7D0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If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0467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2C"/>
                </a:solidFill>
              </a:rPr>
              <a:t>If | 듣는 사람이 자기 일에 대입하게 만드는 질문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59536" y="15910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결론을 던지고 끝내지 말고, 청중이 자기화할 문을 열어 준다.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1965960"/>
            <a:ext cx="10378440" cy="3474720"/>
          </a:xfrm>
          <a:prstGeom prst="roundRect">
            <a:avLst>
              <a:gd name="adj" fmla="val 2105"/>
            </a:avLst>
          </a:prstGeom>
          <a:solidFill>
            <a:srgbClr val="E4EEF4"/>
          </a:solidFill>
          <a:ln w="12700">
            <a:solidFill>
              <a:srgbClr val="CADAE3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88136" y="2130552"/>
            <a:ext cx="9939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If Question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88136" y="2331720"/>
            <a:ext cx="9939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내가 청중에게 던질 질문은 무엇인가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88136" y="2953512"/>
            <a:ext cx="9939528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731"/>
                </a:solidFill>
              </a:rPr>
              <a:t>여러분은 이 메시지를 어디에 적용할 수 있는가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2731"/>
                </a:solidFill>
              </a:rPr>
              <a:t>지금 팀 안에서 가장 먼저 바꿔봐야 할 장면은 무엇인가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2731"/>
                </a:solidFill>
              </a:rPr>
              <a:t>우리가 놓치고 있던 질문은 무엇인가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2731"/>
                </a:solidFill>
              </a:rPr>
              <a:t>내일 바로 어떤 행동으로 연결할 것인가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7D0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대표 오류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0467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2C"/>
                </a:solidFill>
              </a:rPr>
              <a:t>리더의 흔한 구조 오류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59536" y="15910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상대가 듣는 이유보다 내가 말하고 싶은 욕구가 앞서는 순간 구조가 무너진다.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" y="210312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FBF8F2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60704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Error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60704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Why 없이 How만 말한다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0704" y="3090672"/>
            <a:ext cx="28803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맥락 없는 정보는 청중의 방어를 높인다.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16552" y="210312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F3E5DE"/>
          </a:solidFill>
          <a:ln w="12700">
            <a:solidFill>
              <a:srgbClr val="E5C9BE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36008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Error 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36008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What 없이 정보만 나열한다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36008" y="3090672"/>
            <a:ext cx="28803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핵심 한 문장이 없으면 메시지는 흩어진다.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991856" y="210312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E6EFEA"/>
          </a:solidFill>
          <a:ln w="12700">
            <a:solidFill>
              <a:srgbClr val="C8D7D0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11312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Error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11312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If 없이 결론만 던지고 끝낸다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11312" y="3090672"/>
            <a:ext cx="28803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자기화가 없으면 발표는 듣는 순간으로만 남는다.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7D0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조직 적용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0467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2C"/>
                </a:solidFill>
              </a:rPr>
              <a:t>이 프레임을 어디에 쓸 수 있는가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59536" y="15910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현업 장면에 바로 연결될수록 스토리텔링은 기술이 아니라 도구가 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" y="210312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FBF8F2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60704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Scene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60704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변화 설명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0704" y="3090672"/>
            <a:ext cx="28803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새 기준, 새 제도, 새 방향을 설득해야 할 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16552" y="210312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E4EEF4"/>
          </a:solidFill>
          <a:ln w="12700">
            <a:solidFill>
              <a:srgbClr val="CADAE3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36008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Scene 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36008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협업 요청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36008" y="3090672"/>
            <a:ext cx="28803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다른 팀의 참여와 지원이 필요할 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991856" y="210312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F3E5DE"/>
          </a:solidFill>
          <a:ln w="12700">
            <a:solidFill>
              <a:srgbClr val="E5C9BE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11312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Scene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11312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저항 대응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11312" y="3090672"/>
            <a:ext cx="28803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1"/>
                </a:solidFill>
              </a:rPr>
              <a:t>불만, 피로감, 방어가 먼저 올라오는 순간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357616" y="4754880"/>
            <a:ext cx="2926080" cy="822960"/>
          </a:xfrm>
          <a:prstGeom prst="roundRect">
            <a:avLst>
              <a:gd name="adj" fmla="val 8889"/>
            </a:avLst>
          </a:prstGeom>
          <a:solidFill>
            <a:srgbClr val="E6EFEA"/>
          </a:solidFill>
          <a:ln w="12700">
            <a:solidFill>
              <a:srgbClr val="C8D7D0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577072" y="512064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212C"/>
                </a:solidFill>
              </a:rPr>
              <a:t>팀 동기 회복에도 그대로 적용된다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7D0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작성 워크시트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0467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2C"/>
                </a:solidFill>
              </a:rPr>
              <a:t>리더 스토리 초안 작성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59536" y="15910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워크북의 실행 필드를 그대로 따라가며 3분 분량의 구조를 만든다.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77824" y="182880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1993392"/>
            <a:ext cx="4590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Step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4590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청중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724912"/>
            <a:ext cx="4590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청중은 누구인가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그들이 지금 가장 크게 품고 있는 질문은 무엇인가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989320" y="182880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E4EEF4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08776" y="1993392"/>
            <a:ext cx="4590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Step 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08776" y="2194560"/>
            <a:ext cx="4590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변화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08776" y="2724912"/>
            <a:ext cx="4590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내가 제안할 변화는 무엇인가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이 변화가 필요한 이유는 무엇인가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877824" y="365760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3822192"/>
            <a:ext cx="4590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Step 3-4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4023360"/>
            <a:ext cx="4590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가치 + What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4553712"/>
            <a:ext cx="4590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이 메시지 뒤에 있는 핵심가치는 무엇인가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내가 끝까지 남기고 싶은 한 문장은 무엇인가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5989320" y="365760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E4EEF4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08776" y="3822192"/>
            <a:ext cx="4590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Step 5-6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08776" y="4023360"/>
            <a:ext cx="4590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How + If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08776" y="4553712"/>
            <a:ext cx="4590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어떤 경험과 증거로 입증할 것인가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내가 청중에게 던질 질문은 무엇인가</a:t>
            </a:r>
            <a:endParaRPr lang="en-US" sz="12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7D0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피드백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0467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2C"/>
                </a:solidFill>
              </a:rPr>
              <a:t>발표자를 평가하지 말고 메시지 구조를 다룬다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59536" y="15910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가장 큰 병목 1개와 유지해야 할 강점 1개를 반드시 함께 말한다.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" y="210312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FBF8F2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60704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60704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청중의 문제나 질문이 선명하게 느껴졌는가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0704" y="3090672"/>
            <a:ext cx="28803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왜 지금 이 이야기를 들어야 하는지 열어주었는가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416552" y="210312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E4EEF4"/>
          </a:solidFill>
          <a:ln w="12700">
            <a:solidFill>
              <a:srgbClr val="CADAE3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36008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What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36008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결국 남는 한 문장이 있었는가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36008" y="3090672"/>
            <a:ext cx="28803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A2731"/>
                </a:solidFill>
              </a:rPr>
              <a:t>메시지가 길게 흩어지지 않았는가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7991856" y="210312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E6EFEA"/>
          </a:solidFill>
          <a:ln w="12700">
            <a:solidFill>
              <a:srgbClr val="C8D7D0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11312" y="22677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How / If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11312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12C"/>
                </a:solidFill>
              </a:rPr>
              <a:t>사례는 입증이 되었는가, 청중은 자기화했는가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11312" y="3090672"/>
            <a:ext cx="28803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731"/>
                </a:solidFill>
              </a:rPr>
              <a:t>사례와 경험이 메시지를 입증했는가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2731"/>
                </a:solidFill>
              </a:rPr>
              <a:t>듣는 사람이 자기 일에 대입할 수 있게 만들었는가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7824" y="51206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07A"/>
                </a:solidFill>
              </a:rPr>
              <a:t>피드백 문장 예시: “이 부분은 이렇게 바꾸면 더 청중 중심이 되겠습니다.”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9934B"/>
          </a:solidFill>
          <a:ln w="12700">
            <a:solidFill>
              <a:srgbClr val="B993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D7D0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현업 적용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0467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12C"/>
                </a:solidFill>
              </a:rPr>
              <a:t>내일 바로 어디에 쓸 것인가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59536" y="15910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07A"/>
                </a:solidFill>
              </a:rPr>
              <a:t>배움은 다음 대화 장면을 구체적으로 떠올릴 때 비로소 실행이 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77824" y="1874520"/>
            <a:ext cx="10378440" cy="3611880"/>
          </a:xfrm>
          <a:prstGeom prst="roundRect">
            <a:avLst>
              <a:gd name="adj" fmla="val 2025"/>
            </a:avLst>
          </a:prstGeom>
          <a:solidFill>
            <a:srgbClr val="FBF8F2"/>
          </a:solidFill>
          <a:ln w="12700">
            <a:solidFill>
              <a:srgbClr val="D7D0C1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2039112"/>
            <a:ext cx="9939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Action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97280" y="2240280"/>
            <a:ext cx="9939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212C"/>
                </a:solidFill>
              </a:rPr>
              <a:t>마무리 질문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2862072"/>
            <a:ext cx="9939528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731"/>
                </a:solidFill>
              </a:rPr>
              <a:t>내가 내일 바로 사용할 장면은 무엇인가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2731"/>
                </a:solidFill>
              </a:rPr>
              <a:t>그 장면에서 먼저 점검할 청중의 질문은 무엇인가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2731"/>
                </a:solidFill>
              </a:rPr>
              <a:t>내가 준비할 What 한 문장은 무엇인가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2731"/>
                </a:solidFill>
              </a:rPr>
              <a:t>내가 남길 If 질문은 무엇인가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738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C60"/>
          </a:solidFill>
          <a:ln w="12700">
            <a:solidFill>
              <a:srgbClr val="D97C6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5A76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E5E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클로징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18520" y="256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8E5E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5E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Leadership Storytelling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마음을 움직이는 스토리텔링은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말을 잘하는 사람의 특권이 아니다.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24128" y="315468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9E6ED"/>
                </a:solidFill>
              </a:rPr>
              <a:t>자신을 더 잘 이해하고, 타인을 더 잘 이해하려고 애쓰는 사람이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9E6ED"/>
                </a:solidFill>
              </a:rPr>
              <a:t>조금 더 깊고, 조금 더 정확하게 할 수 있는 일이다.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0" y="1353312"/>
            <a:ext cx="3858768" cy="3520440"/>
          </a:xfrm>
          <a:prstGeom prst="roundRect">
            <a:avLst>
              <a:gd name="adj" fmla="val 2078"/>
            </a:avLst>
          </a:prstGeom>
          <a:solidFill>
            <a:srgbClr val="224A61"/>
          </a:solidFill>
          <a:ln w="12700">
            <a:solidFill>
              <a:srgbClr val="5B7D90"/>
            </a:solidFill>
            <a:prstDash val="solid"/>
          </a:ln>
          <a:effectLst>
            <a:outerShdw sx="100000" sy="100000" kx="0" ky="0" algn="bl" rotWithShape="0" blurRad="12700" dist="12700" dir="2700000">
              <a:srgbClr val="2130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34656" y="1517904"/>
            <a:ext cx="3419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D3D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마지막으로 가져갈 것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534656" y="1719072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나는 얼마나 나를 이해하려고 했는가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나는 얼마나 상대를 이해하려고 했는가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34656" y="2340864"/>
            <a:ext cx="3419856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E4EEF4"/>
                </a:solidFill>
              </a:rPr>
              <a:t>그 질문이 여러분의 말하기를 바꾼다.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E4EEF4"/>
                </a:solidFill>
              </a:rPr>
              <a:t>그리고 그 말하기가 팀의 경험을 바꾼다.</a:t>
            </a:r>
            <a:endParaRPr lang="en-US" sz="13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전종목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리더십 스토리텔링</dc:title>
  <dc:subject>리더십 스토리텔링 실전 강의 슬라이드</dc:subject>
  <dc:creator>OpenAI Codex</dc:creator>
  <cp:lastModifiedBy>OpenAI Codex</cp:lastModifiedBy>
  <cp:revision>1</cp:revision>
  <dcterms:created xsi:type="dcterms:W3CDTF">2026-03-17T15:31:34Z</dcterms:created>
  <dcterms:modified xsi:type="dcterms:W3CDTF">2026-03-17T15:31:34Z</dcterms:modified>
</cp:coreProperties>
</file>